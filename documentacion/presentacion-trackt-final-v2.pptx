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69" r:id="rId19"/>
    <p:sldId id="270" r:id="rId20"/>
    <p:sldId id="271" r:id="rId2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75" r:id="rId25"/>
    <p:sldId id="276" r:id="rId26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C22BBE9-236B-47B2-9936-DCF749294B30}">
  <a:tblStyle styleId="{7C22BBE9-236B-47B2-9936-DCF749294B30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" name="Google Shape;46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0" name="Google Shape;80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3" name="Google Shape;113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6" name="Google Shape;126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1" name="Google Shape;151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8" name="Google Shape;178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e70656821c_0_17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4" name="Google Shape;204;g3e70656821c_0_17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g3e70656821c_0_17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3e70656821c_0_8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7" name="Google Shape;247;g3e70656821c_0_8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g3e70656821c_0_8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3e70656821c_0_1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3" name="Google Shape;283;g3e70656821c_0_13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g3e70656821c_0_13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8" name="Google Shape;318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g3e70656821c_0_25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7" name="Google Shape;377;g3e70656821c_0_25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g3e70656821c_0_25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9" name="Google Shape;409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0" name="Google Shape;440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1" name="Google Shape;441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6" name="Google Shape;486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7" name="Google Shape;487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2" name="Google Shape;512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3" name="Google Shape;513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3" name="Google Shape;543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4" name="Google Shape;544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2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4" name="Google Shape;554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5" name="Google Shape;555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6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8" name="Google Shape;578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9" name="Google Shape;579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6" name="Google Shape;626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7" name="Google Shape;627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0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" name="Google Shape;661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2" name="Google Shape;662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3" name="Google Shape;663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2.png"/><Relationship Id="rId7" Type="http://schemas.openxmlformats.org/officeDocument/2006/relationships/image" Target="../media/image5.png"/><Relationship Id="rId8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0D10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-914400" y="-457200"/>
            <a:ext cx="4572000" cy="4572000"/>
          </a:xfrm>
          <a:prstGeom prst="ellipse">
            <a:avLst/>
          </a:prstGeom>
          <a:solidFill>
            <a:srgbClr val="6152E8">
              <a:alpha val="7843"/>
            </a:srgbClr>
          </a:solidFill>
          <a:ln cap="flat" cmpd="sng" w="12700">
            <a:solidFill>
              <a:srgbClr val="6152E8">
                <a:alpha val="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6400800" y="1828800"/>
            <a:ext cx="3657600" cy="3657600"/>
          </a:xfrm>
          <a:prstGeom prst="ellipse">
            <a:avLst/>
          </a:prstGeom>
          <a:solidFill>
            <a:srgbClr val="22D3EE">
              <a:alpha val="5882"/>
            </a:srgbClr>
          </a:solidFill>
          <a:ln cap="flat" cmpd="sng" w="12700">
            <a:solidFill>
              <a:srgbClr val="22D3EE">
                <a:alpha val="5882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3"/>
          <p:cNvSpPr/>
          <p:nvPr/>
        </p:nvSpPr>
        <p:spPr>
          <a:xfrm>
            <a:off x="548640" y="4572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3738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737388"/>
                </a:solidFill>
                <a:latin typeface="Calibri"/>
                <a:ea typeface="Calibri"/>
                <a:cs typeface="Calibri"/>
                <a:sym typeface="Calibri"/>
              </a:rPr>
              <a:t>DUOC UC  ·  Escuela de Informática y Telecomunicaciones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548640" y="960120"/>
            <a:ext cx="54864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0"/>
              <a:buFont typeface="Trebuchet MS"/>
              <a:buNone/>
            </a:pPr>
            <a:r>
              <a:rPr b="1" i="0" lang="en-US" sz="72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TRACKT</a:t>
            </a:r>
            <a:endParaRPr b="0" i="0" sz="7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548640" y="1874520"/>
            <a:ext cx="6400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B8FFF"/>
              </a:buClr>
              <a:buSzPts val="1600"/>
              <a:buFont typeface="Calibri"/>
              <a:buNone/>
            </a:pPr>
            <a:r>
              <a:rPr b="0" i="1" lang="en-US" sz="1600" u="none" cap="none" strike="noStrike">
                <a:solidFill>
                  <a:srgbClr val="9B8FFF"/>
                </a:solidFill>
                <a:latin typeface="Calibri"/>
                <a:ea typeface="Calibri"/>
                <a:cs typeface="Calibri"/>
                <a:sym typeface="Calibri"/>
              </a:rPr>
              <a:t>SaaS industrial de mantenimiento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548640" y="2304288"/>
            <a:ext cx="3657600" cy="27432"/>
          </a:xfrm>
          <a:prstGeom prst="rect">
            <a:avLst/>
          </a:prstGeom>
          <a:solidFill>
            <a:srgbClr val="6152E8"/>
          </a:solidFill>
          <a:ln cap="flat" cmpd="sng" w="12700">
            <a:solidFill>
              <a:srgbClr val="6152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3"/>
          <p:cNvSpPr/>
          <p:nvPr/>
        </p:nvSpPr>
        <p:spPr>
          <a:xfrm>
            <a:off x="548640" y="242316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C8D4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8C8D4"/>
                </a:solidFill>
                <a:latin typeface="Calibri"/>
                <a:ea typeface="Calibri"/>
                <a:cs typeface="Calibri"/>
                <a:sym typeface="Calibri"/>
              </a:rPr>
              <a:t>Entrega Final 2  ·  Estado de Avance 2  ·  TPY1101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3"/>
          <p:cNvSpPr/>
          <p:nvPr/>
        </p:nvSpPr>
        <p:spPr>
          <a:xfrm>
            <a:off x="548640" y="2697480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3738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737388"/>
                </a:solidFill>
                <a:latin typeface="Calibri"/>
                <a:ea typeface="Calibri"/>
                <a:cs typeface="Calibri"/>
                <a:sym typeface="Calibri"/>
              </a:rPr>
              <a:t>Grupo 10  ·  Sección 002V  ·  2026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3"/>
          <p:cNvSpPr/>
          <p:nvPr/>
        </p:nvSpPr>
        <p:spPr>
          <a:xfrm>
            <a:off x="548640" y="3200400"/>
            <a:ext cx="2651760" cy="822960"/>
          </a:xfrm>
          <a:prstGeom prst="rect">
            <a:avLst/>
          </a:prstGeom>
          <a:solidFill>
            <a:srgbClr val="16161C"/>
          </a:solidFill>
          <a:ln cap="flat" cmpd="sng" w="9525">
            <a:solidFill>
              <a:srgbClr val="3A3A4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3"/>
          <p:cNvSpPr/>
          <p:nvPr/>
        </p:nvSpPr>
        <p:spPr>
          <a:xfrm>
            <a:off x="548640" y="3200400"/>
            <a:ext cx="45720" cy="822960"/>
          </a:xfrm>
          <a:prstGeom prst="rect">
            <a:avLst/>
          </a:prstGeom>
          <a:solidFill>
            <a:srgbClr val="A78BFA"/>
          </a:solidFill>
          <a:ln cap="flat" cmpd="sng" w="12700">
            <a:solidFill>
              <a:srgbClr val="A78B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3"/>
          <p:cNvSpPr/>
          <p:nvPr/>
        </p:nvSpPr>
        <p:spPr>
          <a:xfrm>
            <a:off x="685800" y="3255264"/>
            <a:ext cx="24688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Rosio Ametller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3"/>
          <p:cNvSpPr/>
          <p:nvPr/>
        </p:nvSpPr>
        <p:spPr>
          <a:xfrm>
            <a:off x="685800" y="3511296"/>
            <a:ext cx="24688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78BFA"/>
              </a:buClr>
              <a:buSzPts val="850"/>
              <a:buFont typeface="Calibri"/>
              <a:buNone/>
            </a:pPr>
            <a:r>
              <a:rPr b="0" i="1" lang="en-US" sz="850" u="none" cap="none" strike="noStrike">
                <a:solidFill>
                  <a:srgbClr val="A78BFA"/>
                </a:solidFill>
                <a:latin typeface="Calibri"/>
                <a:ea typeface="Calibri"/>
                <a:cs typeface="Calibri"/>
                <a:sym typeface="Calibri"/>
              </a:rPr>
              <a:t>Frontend · Design System · UX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3"/>
          <p:cNvSpPr/>
          <p:nvPr/>
        </p:nvSpPr>
        <p:spPr>
          <a:xfrm>
            <a:off x="3383280" y="3200400"/>
            <a:ext cx="2651760" cy="822960"/>
          </a:xfrm>
          <a:prstGeom prst="rect">
            <a:avLst/>
          </a:prstGeom>
          <a:solidFill>
            <a:srgbClr val="16161C"/>
          </a:solidFill>
          <a:ln cap="flat" cmpd="sng" w="9525">
            <a:solidFill>
              <a:srgbClr val="3A3A4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3"/>
          <p:cNvSpPr/>
          <p:nvPr/>
        </p:nvSpPr>
        <p:spPr>
          <a:xfrm>
            <a:off x="3383280" y="3200400"/>
            <a:ext cx="45720" cy="822960"/>
          </a:xfrm>
          <a:prstGeom prst="rect">
            <a:avLst/>
          </a:prstGeom>
          <a:solidFill>
            <a:srgbClr val="34D399"/>
          </a:solidFill>
          <a:ln cap="flat" cmpd="sng" w="12700">
            <a:solidFill>
              <a:srgbClr val="34D3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3"/>
          <p:cNvSpPr/>
          <p:nvPr/>
        </p:nvSpPr>
        <p:spPr>
          <a:xfrm>
            <a:off x="3520440" y="3255264"/>
            <a:ext cx="24688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Jaime Osorio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3"/>
          <p:cNvSpPr/>
          <p:nvPr/>
        </p:nvSpPr>
        <p:spPr>
          <a:xfrm>
            <a:off x="3520440" y="3511296"/>
            <a:ext cx="24688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D399"/>
              </a:buClr>
              <a:buSzPts val="850"/>
              <a:buFont typeface="Calibri"/>
              <a:buNone/>
            </a:pPr>
            <a:r>
              <a:rPr b="0" i="1" lang="en-US" sz="850" u="none" cap="none" strike="noStrike">
                <a:solidFill>
                  <a:srgbClr val="34D399"/>
                </a:solidFill>
                <a:latin typeface="Calibri"/>
                <a:ea typeface="Calibri"/>
                <a:cs typeface="Calibri"/>
                <a:sym typeface="Calibri"/>
              </a:rPr>
              <a:t>Backend · OT · Tickets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3"/>
          <p:cNvSpPr/>
          <p:nvPr/>
        </p:nvSpPr>
        <p:spPr>
          <a:xfrm>
            <a:off x="6217920" y="3200400"/>
            <a:ext cx="2651760" cy="822960"/>
          </a:xfrm>
          <a:prstGeom prst="rect">
            <a:avLst/>
          </a:prstGeom>
          <a:solidFill>
            <a:srgbClr val="16161C"/>
          </a:solidFill>
          <a:ln cap="flat" cmpd="sng" w="9525">
            <a:solidFill>
              <a:srgbClr val="3A3A4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3"/>
          <p:cNvSpPr/>
          <p:nvPr/>
        </p:nvSpPr>
        <p:spPr>
          <a:xfrm>
            <a:off x="6217920" y="3200400"/>
            <a:ext cx="45720" cy="822960"/>
          </a:xfrm>
          <a:prstGeom prst="rect">
            <a:avLst/>
          </a:prstGeom>
          <a:solidFill>
            <a:srgbClr val="60A5FA"/>
          </a:solidFill>
          <a:ln cap="flat" cmpd="sng" w="12700">
            <a:solidFill>
              <a:srgbClr val="60A5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3"/>
          <p:cNvSpPr/>
          <p:nvPr/>
        </p:nvSpPr>
        <p:spPr>
          <a:xfrm>
            <a:off x="6355080" y="3255264"/>
            <a:ext cx="24688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Ramón Hernández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3"/>
          <p:cNvSpPr/>
          <p:nvPr/>
        </p:nvSpPr>
        <p:spPr>
          <a:xfrm>
            <a:off x="6355080" y="3511296"/>
            <a:ext cx="24688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A5FA"/>
              </a:buClr>
              <a:buSzPts val="850"/>
              <a:buFont typeface="Calibri"/>
              <a:buNone/>
            </a:pPr>
            <a:r>
              <a:rPr b="0" i="1" lang="en-US" sz="850" u="none" cap="none" strike="noStrike">
                <a:solidFill>
                  <a:srgbClr val="60A5FA"/>
                </a:solidFill>
                <a:latin typeface="Calibri"/>
                <a:ea typeface="Calibri"/>
                <a:cs typeface="Calibri"/>
                <a:sym typeface="Calibri"/>
              </a:rPr>
              <a:t>Arquitectura · Auth · DB · Deploy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3"/>
          <p:cNvSpPr/>
          <p:nvPr/>
        </p:nvSpPr>
        <p:spPr>
          <a:xfrm>
            <a:off x="548640" y="4206240"/>
            <a:ext cx="2011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152E8"/>
              </a:buClr>
              <a:buSzPts val="3200"/>
              <a:buFont typeface="Trebuchet MS"/>
              <a:buNone/>
            </a:pPr>
            <a:r>
              <a:rPr b="1" i="0" lang="en-US" sz="3200" u="none" cap="none" strike="noStrike">
                <a:solidFill>
                  <a:srgbClr val="6152E8"/>
                </a:solidFill>
                <a:latin typeface="Trebuchet MS"/>
                <a:ea typeface="Trebuchet MS"/>
                <a:cs typeface="Trebuchet MS"/>
                <a:sym typeface="Trebuchet MS"/>
              </a:rPr>
              <a:t>9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3"/>
          <p:cNvSpPr/>
          <p:nvPr/>
        </p:nvSpPr>
        <p:spPr>
          <a:xfrm>
            <a:off x="1188720" y="4251960"/>
            <a:ext cx="12801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37388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737388"/>
                </a:solidFill>
                <a:latin typeface="Calibri"/>
                <a:ea typeface="Calibri"/>
                <a:cs typeface="Calibri"/>
                <a:sym typeface="Calibri"/>
              </a:rPr>
              <a:t>Módulos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37388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737388"/>
                </a:solidFill>
                <a:latin typeface="Calibri"/>
                <a:ea typeface="Calibri"/>
                <a:cs typeface="Calibri"/>
                <a:sym typeface="Calibri"/>
              </a:rPr>
              <a:t>backend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3"/>
          <p:cNvSpPr/>
          <p:nvPr/>
        </p:nvSpPr>
        <p:spPr>
          <a:xfrm>
            <a:off x="2697480" y="4206240"/>
            <a:ext cx="2011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152E8"/>
              </a:buClr>
              <a:buSzPts val="3200"/>
              <a:buFont typeface="Trebuchet MS"/>
              <a:buNone/>
            </a:pPr>
            <a:r>
              <a:rPr b="1" i="0" lang="en-US" sz="3200" u="none" cap="none" strike="noStrike">
                <a:solidFill>
                  <a:srgbClr val="6152E8"/>
                </a:solidFill>
                <a:latin typeface="Trebuchet MS"/>
                <a:ea typeface="Trebuchet MS"/>
                <a:cs typeface="Trebuchet MS"/>
                <a:sym typeface="Trebuchet MS"/>
              </a:rPr>
              <a:t>127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3"/>
          <p:cNvSpPr/>
          <p:nvPr/>
        </p:nvSpPr>
        <p:spPr>
          <a:xfrm>
            <a:off x="3465960" y="4229110"/>
            <a:ext cx="12801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37388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737388"/>
                </a:solidFill>
                <a:latin typeface="Calibri"/>
                <a:ea typeface="Calibri"/>
                <a:cs typeface="Calibri"/>
                <a:sym typeface="Calibri"/>
              </a:rPr>
              <a:t>Tests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37388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737388"/>
                </a:solidFill>
                <a:latin typeface="Calibri"/>
                <a:ea typeface="Calibri"/>
                <a:cs typeface="Calibri"/>
                <a:sym typeface="Calibri"/>
              </a:rPr>
              <a:t>aprobados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3"/>
          <p:cNvSpPr/>
          <p:nvPr/>
        </p:nvSpPr>
        <p:spPr>
          <a:xfrm>
            <a:off x="4846320" y="4206240"/>
            <a:ext cx="2011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152E8"/>
              </a:buClr>
              <a:buSzPts val="3200"/>
              <a:buFont typeface="Trebuchet MS"/>
              <a:buNone/>
            </a:pPr>
            <a:r>
              <a:rPr b="1" i="0" lang="en-US" sz="3200" u="none" cap="none" strike="noStrike">
                <a:solidFill>
                  <a:srgbClr val="6152E8"/>
                </a:solidFill>
                <a:latin typeface="Trebuchet MS"/>
                <a:ea typeface="Trebuchet MS"/>
                <a:cs typeface="Trebuchet MS"/>
                <a:sym typeface="Trebuchet MS"/>
              </a:rPr>
              <a:t>12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3"/>
          <p:cNvSpPr/>
          <p:nvPr/>
        </p:nvSpPr>
        <p:spPr>
          <a:xfrm>
            <a:off x="5486400" y="4251960"/>
            <a:ext cx="12801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37388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737388"/>
                </a:solidFill>
                <a:latin typeface="Calibri"/>
                <a:ea typeface="Calibri"/>
                <a:cs typeface="Calibri"/>
                <a:sym typeface="Calibri"/>
              </a:rPr>
              <a:t>Entidades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37388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737388"/>
                </a:solidFill>
                <a:latin typeface="Calibri"/>
                <a:ea typeface="Calibri"/>
                <a:cs typeface="Calibri"/>
                <a:sym typeface="Calibri"/>
              </a:rPr>
              <a:t>BD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3"/>
          <p:cNvSpPr/>
          <p:nvPr/>
        </p:nvSpPr>
        <p:spPr>
          <a:xfrm>
            <a:off x="6995160" y="4206240"/>
            <a:ext cx="2011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152E8"/>
              </a:buClr>
              <a:buSzPts val="3200"/>
              <a:buFont typeface="Trebuchet MS"/>
              <a:buNone/>
            </a:pPr>
            <a:r>
              <a:rPr b="1" i="0" lang="en-US" sz="3200" u="none" cap="none" strike="noStrike">
                <a:solidFill>
                  <a:srgbClr val="6152E8"/>
                </a:solidFill>
                <a:latin typeface="Trebuchet MS"/>
                <a:ea typeface="Trebuchet MS"/>
                <a:cs typeface="Trebuchet MS"/>
                <a:sym typeface="Trebuchet MS"/>
              </a:rPr>
              <a:t>14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3"/>
          <p:cNvSpPr/>
          <p:nvPr/>
        </p:nvSpPr>
        <p:spPr>
          <a:xfrm>
            <a:off x="7635240" y="4251960"/>
            <a:ext cx="12801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37388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737388"/>
                </a:solidFill>
                <a:latin typeface="Calibri"/>
                <a:ea typeface="Calibri"/>
                <a:cs typeface="Calibri"/>
                <a:sym typeface="Calibri"/>
              </a:rPr>
              <a:t>Rutas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37388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737388"/>
                </a:solidFill>
                <a:latin typeface="Calibri"/>
                <a:ea typeface="Calibri"/>
                <a:cs typeface="Calibri"/>
                <a:sym typeface="Calibri"/>
              </a:rPr>
              <a:t>frontend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8FA"/>
        </a:solidFill>
      </p:bgPr>
    </p:bg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4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0D10"/>
              </a:buClr>
              <a:buSzPts val="3200"/>
              <a:buFont typeface="Trebuchet MS"/>
              <a:buNone/>
            </a:pPr>
            <a:r>
              <a:rPr b="1" i="0" lang="en-US" sz="3200" u="none" cap="none" strike="noStrike">
                <a:solidFill>
                  <a:srgbClr val="0D0D10"/>
                </a:solidFill>
                <a:latin typeface="Trebuchet MS"/>
                <a:ea typeface="Trebuchet MS"/>
                <a:cs typeface="Trebuchet MS"/>
                <a:sym typeface="Trebuchet MS"/>
              </a:rPr>
              <a:t>Agenda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4"/>
          <p:cNvSpPr/>
          <p:nvPr/>
        </p:nvSpPr>
        <p:spPr>
          <a:xfrm>
            <a:off x="457200" y="804672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37388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737388"/>
                </a:solidFill>
                <a:latin typeface="Calibri"/>
                <a:ea typeface="Calibri"/>
                <a:cs typeface="Calibri"/>
                <a:sym typeface="Calibri"/>
              </a:rPr>
              <a:t>Defensa de 30 minutos · 10 minutos por integrante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4"/>
          <p:cNvSpPr/>
          <p:nvPr/>
        </p:nvSpPr>
        <p:spPr>
          <a:xfrm>
            <a:off x="457200" y="1234440"/>
            <a:ext cx="45720" cy="566928"/>
          </a:xfrm>
          <a:prstGeom prst="rect">
            <a:avLst/>
          </a:prstGeom>
          <a:solidFill>
            <a:srgbClr val="6152E8"/>
          </a:solidFill>
          <a:ln cap="flat" cmpd="sng" w="12700">
            <a:solidFill>
              <a:srgbClr val="6152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4"/>
          <p:cNvSpPr/>
          <p:nvPr/>
        </p:nvSpPr>
        <p:spPr>
          <a:xfrm>
            <a:off x="594360" y="1234440"/>
            <a:ext cx="4572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152E8"/>
              </a:buClr>
              <a:buSzPts val="2200"/>
              <a:buFont typeface="Trebuchet MS"/>
              <a:buNone/>
            </a:pPr>
            <a:r>
              <a:rPr b="1" i="0" lang="en-US" sz="2200" u="none" cap="none" strike="noStrike">
                <a:solidFill>
                  <a:srgbClr val="6152E8"/>
                </a:solidFill>
                <a:latin typeface="Trebuchet MS"/>
                <a:ea typeface="Trebuchet MS"/>
                <a:cs typeface="Trebuchet MS"/>
                <a:sym typeface="Trebuchet MS"/>
              </a:rPr>
              <a:t>01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4"/>
          <p:cNvSpPr/>
          <p:nvPr/>
        </p:nvSpPr>
        <p:spPr>
          <a:xfrm>
            <a:off x="1097280" y="1252728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0D1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D0D10"/>
                </a:solidFill>
                <a:latin typeface="Calibri"/>
                <a:ea typeface="Calibri"/>
                <a:cs typeface="Calibri"/>
                <a:sym typeface="Calibri"/>
              </a:rPr>
              <a:t>Contexto y cambios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4"/>
          <p:cNvSpPr/>
          <p:nvPr/>
        </p:nvSpPr>
        <p:spPr>
          <a:xfrm>
            <a:off x="1097280" y="1508760"/>
            <a:ext cx="6858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37388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737388"/>
                </a:solidFill>
                <a:latin typeface="Calibri"/>
                <a:ea typeface="Calibri"/>
                <a:cs typeface="Calibri"/>
                <a:sym typeface="Calibri"/>
              </a:rPr>
              <a:t>Contexto del sistema · Qué cambió · Estado MVP · Roles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4"/>
          <p:cNvSpPr/>
          <p:nvPr/>
        </p:nvSpPr>
        <p:spPr>
          <a:xfrm>
            <a:off x="457200" y="1847088"/>
            <a:ext cx="8229600" cy="18288"/>
          </a:xfrm>
          <a:prstGeom prst="rect">
            <a:avLst/>
          </a:prstGeom>
          <a:solidFill>
            <a:srgbClr val="C8C8D4"/>
          </a:solidFill>
          <a:ln cap="flat" cmpd="sng" w="12700">
            <a:solidFill>
              <a:srgbClr val="C8C8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4"/>
          <p:cNvSpPr/>
          <p:nvPr/>
        </p:nvSpPr>
        <p:spPr>
          <a:xfrm>
            <a:off x="457200" y="1947672"/>
            <a:ext cx="45720" cy="566928"/>
          </a:xfrm>
          <a:prstGeom prst="rect">
            <a:avLst/>
          </a:prstGeom>
          <a:solidFill>
            <a:srgbClr val="A78BFA"/>
          </a:solidFill>
          <a:ln cap="flat" cmpd="sng" w="12700">
            <a:solidFill>
              <a:srgbClr val="A78B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4"/>
          <p:cNvSpPr/>
          <p:nvPr/>
        </p:nvSpPr>
        <p:spPr>
          <a:xfrm>
            <a:off x="594360" y="1947672"/>
            <a:ext cx="4572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78BFA"/>
              </a:buClr>
              <a:buSzPts val="2200"/>
              <a:buFont typeface="Trebuchet MS"/>
              <a:buNone/>
            </a:pPr>
            <a:r>
              <a:rPr b="1" i="0" lang="en-US" sz="2200" u="none" cap="none" strike="noStrike">
                <a:solidFill>
                  <a:srgbClr val="A78BFA"/>
                </a:solidFill>
                <a:latin typeface="Trebuchet MS"/>
                <a:ea typeface="Trebuchet MS"/>
                <a:cs typeface="Trebuchet MS"/>
                <a:sym typeface="Trebuchet MS"/>
              </a:rPr>
              <a:t>02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4"/>
          <p:cNvSpPr/>
          <p:nvPr/>
        </p:nvSpPr>
        <p:spPr>
          <a:xfrm>
            <a:off x="1097280" y="196596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0D1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D0D10"/>
                </a:solidFill>
                <a:latin typeface="Calibri"/>
                <a:ea typeface="Calibri"/>
                <a:cs typeface="Calibri"/>
                <a:sym typeface="Calibri"/>
              </a:rPr>
              <a:t>Ramón — Infraestructura &amp; Seguridad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4"/>
          <p:cNvSpPr/>
          <p:nvPr/>
        </p:nvSpPr>
        <p:spPr>
          <a:xfrm>
            <a:off x="1097280" y="2221992"/>
            <a:ext cx="6858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37388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737388"/>
                </a:solidFill>
                <a:latin typeface="Calibri"/>
                <a:ea typeface="Calibri"/>
                <a:cs typeface="Calibri"/>
                <a:sym typeface="Calibri"/>
              </a:rPr>
              <a:t>Arquitectura · Auth · Roles · Multi-tenant · Evidencias · RLS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4"/>
          <p:cNvSpPr/>
          <p:nvPr/>
        </p:nvSpPr>
        <p:spPr>
          <a:xfrm>
            <a:off x="457200" y="2560320"/>
            <a:ext cx="8229600" cy="18288"/>
          </a:xfrm>
          <a:prstGeom prst="rect">
            <a:avLst/>
          </a:prstGeom>
          <a:solidFill>
            <a:srgbClr val="C8C8D4"/>
          </a:solidFill>
          <a:ln cap="flat" cmpd="sng" w="12700">
            <a:solidFill>
              <a:srgbClr val="C8C8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4"/>
          <p:cNvSpPr/>
          <p:nvPr/>
        </p:nvSpPr>
        <p:spPr>
          <a:xfrm>
            <a:off x="457200" y="2660904"/>
            <a:ext cx="45720" cy="566928"/>
          </a:xfrm>
          <a:prstGeom prst="rect">
            <a:avLst/>
          </a:prstGeom>
          <a:solidFill>
            <a:srgbClr val="34D399"/>
          </a:solidFill>
          <a:ln cap="flat" cmpd="sng" w="12700">
            <a:solidFill>
              <a:srgbClr val="34D3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4"/>
          <p:cNvSpPr/>
          <p:nvPr/>
        </p:nvSpPr>
        <p:spPr>
          <a:xfrm>
            <a:off x="594360" y="2660904"/>
            <a:ext cx="4572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D399"/>
              </a:buClr>
              <a:buSzPts val="2200"/>
              <a:buFont typeface="Trebuchet MS"/>
              <a:buNone/>
            </a:pPr>
            <a:r>
              <a:rPr b="1" i="0" lang="en-US" sz="2200" u="none" cap="none" strike="noStrike">
                <a:solidFill>
                  <a:srgbClr val="34D399"/>
                </a:solidFill>
                <a:latin typeface="Trebuchet MS"/>
                <a:ea typeface="Trebuchet MS"/>
                <a:cs typeface="Trebuchet MS"/>
                <a:sym typeface="Trebuchet MS"/>
              </a:rPr>
              <a:t>03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4"/>
          <p:cNvSpPr/>
          <p:nvPr/>
        </p:nvSpPr>
        <p:spPr>
          <a:xfrm>
            <a:off x="1097280" y="2679192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0D1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D0D10"/>
                </a:solidFill>
                <a:latin typeface="Calibri"/>
                <a:ea typeface="Calibri"/>
                <a:cs typeface="Calibri"/>
                <a:sym typeface="Calibri"/>
              </a:rPr>
              <a:t>Jaime — Backend / API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4"/>
          <p:cNvSpPr/>
          <p:nvPr/>
        </p:nvSpPr>
        <p:spPr>
          <a:xfrm>
            <a:off x="1097280" y="2935224"/>
            <a:ext cx="6858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37388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737388"/>
                </a:solidFill>
                <a:latin typeface="Calibri"/>
                <a:ea typeface="Calibri"/>
                <a:cs typeface="Calibri"/>
                <a:sym typeface="Calibri"/>
              </a:rPr>
              <a:t>Módulos NestJS · OT y Tickets · Ciclo de vida · Inventario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4"/>
          <p:cNvSpPr/>
          <p:nvPr/>
        </p:nvSpPr>
        <p:spPr>
          <a:xfrm>
            <a:off x="457200" y="3273552"/>
            <a:ext cx="8229600" cy="18288"/>
          </a:xfrm>
          <a:prstGeom prst="rect">
            <a:avLst/>
          </a:prstGeom>
          <a:solidFill>
            <a:srgbClr val="C8C8D4"/>
          </a:solidFill>
          <a:ln cap="flat" cmpd="sng" w="12700">
            <a:solidFill>
              <a:srgbClr val="C8C8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4"/>
          <p:cNvSpPr/>
          <p:nvPr/>
        </p:nvSpPr>
        <p:spPr>
          <a:xfrm>
            <a:off x="457200" y="3374136"/>
            <a:ext cx="45720" cy="566928"/>
          </a:xfrm>
          <a:prstGeom prst="rect">
            <a:avLst/>
          </a:prstGeom>
          <a:solidFill>
            <a:srgbClr val="60A5FA"/>
          </a:solidFill>
          <a:ln cap="flat" cmpd="sng" w="12700">
            <a:solidFill>
              <a:srgbClr val="60A5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4"/>
          <p:cNvSpPr/>
          <p:nvPr/>
        </p:nvSpPr>
        <p:spPr>
          <a:xfrm>
            <a:off x="594360" y="3374136"/>
            <a:ext cx="4572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A5FA"/>
              </a:buClr>
              <a:buSzPts val="2200"/>
              <a:buFont typeface="Trebuchet MS"/>
              <a:buNone/>
            </a:pPr>
            <a:r>
              <a:rPr b="1" i="0" lang="en-US" sz="2200" u="none" cap="none" strike="noStrike">
                <a:solidFill>
                  <a:srgbClr val="60A5FA"/>
                </a:solidFill>
                <a:latin typeface="Trebuchet MS"/>
                <a:ea typeface="Trebuchet MS"/>
                <a:cs typeface="Trebuchet MS"/>
                <a:sym typeface="Trebuchet MS"/>
              </a:rPr>
              <a:t>04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4"/>
          <p:cNvSpPr/>
          <p:nvPr/>
        </p:nvSpPr>
        <p:spPr>
          <a:xfrm>
            <a:off x="1097280" y="3392424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0D1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D0D10"/>
                </a:solidFill>
                <a:latin typeface="Calibri"/>
                <a:ea typeface="Calibri"/>
                <a:cs typeface="Calibri"/>
                <a:sym typeface="Calibri"/>
              </a:rPr>
              <a:t>Rosio — Frontend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4"/>
          <p:cNvSpPr/>
          <p:nvPr/>
        </p:nvSpPr>
        <p:spPr>
          <a:xfrm>
            <a:off x="1097280" y="3648456"/>
            <a:ext cx="6858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37388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737388"/>
                </a:solidFill>
                <a:latin typeface="Calibri"/>
                <a:ea typeface="Calibri"/>
                <a:cs typeface="Calibri"/>
                <a:sym typeface="Calibri"/>
              </a:rPr>
              <a:t>Arquitectura Next.js · Auth/App · Nav por rol · Design System · Pantallas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4"/>
          <p:cNvSpPr/>
          <p:nvPr/>
        </p:nvSpPr>
        <p:spPr>
          <a:xfrm>
            <a:off x="457200" y="3986784"/>
            <a:ext cx="8229600" cy="18288"/>
          </a:xfrm>
          <a:prstGeom prst="rect">
            <a:avLst/>
          </a:prstGeom>
          <a:solidFill>
            <a:srgbClr val="C8C8D4"/>
          </a:solidFill>
          <a:ln cap="flat" cmpd="sng" w="12700">
            <a:solidFill>
              <a:srgbClr val="C8C8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4"/>
          <p:cNvSpPr/>
          <p:nvPr/>
        </p:nvSpPr>
        <p:spPr>
          <a:xfrm>
            <a:off x="457200" y="4087368"/>
            <a:ext cx="45720" cy="566928"/>
          </a:xfrm>
          <a:prstGeom prst="rect">
            <a:avLst/>
          </a:prstGeom>
          <a:solidFill>
            <a:srgbClr val="737388"/>
          </a:solidFill>
          <a:ln cap="flat" cmpd="sng" w="12700">
            <a:solidFill>
              <a:srgbClr val="7373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4"/>
          <p:cNvSpPr/>
          <p:nvPr/>
        </p:nvSpPr>
        <p:spPr>
          <a:xfrm>
            <a:off x="594360" y="4087368"/>
            <a:ext cx="4572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37388"/>
              </a:buClr>
              <a:buSzPts val="2200"/>
              <a:buFont typeface="Trebuchet MS"/>
              <a:buNone/>
            </a:pPr>
            <a:r>
              <a:rPr b="1" i="0" lang="en-US" sz="2200" u="none" cap="none" strike="noStrike">
                <a:solidFill>
                  <a:srgbClr val="737388"/>
                </a:solidFill>
                <a:latin typeface="Trebuchet MS"/>
                <a:ea typeface="Trebuchet MS"/>
                <a:cs typeface="Trebuchet MS"/>
                <a:sym typeface="Trebuchet MS"/>
              </a:rPr>
              <a:t>05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4"/>
          <p:cNvSpPr/>
          <p:nvPr/>
        </p:nvSpPr>
        <p:spPr>
          <a:xfrm>
            <a:off x="1097280" y="4105656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0D1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D0D10"/>
                </a:solidFill>
                <a:latin typeface="Calibri"/>
                <a:ea typeface="Calibri"/>
                <a:cs typeface="Calibri"/>
                <a:sym typeface="Calibri"/>
              </a:rPr>
              <a:t>Cierre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4"/>
          <p:cNvSpPr/>
          <p:nvPr/>
        </p:nvSpPr>
        <p:spPr>
          <a:xfrm>
            <a:off x="1097280" y="4361688"/>
            <a:ext cx="6858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37388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737388"/>
                </a:solidFill>
                <a:latin typeface="Calibri"/>
                <a:ea typeface="Calibri"/>
                <a:cs typeface="Calibri"/>
                <a:sym typeface="Calibri"/>
              </a:rPr>
              <a:t>Estado de cumplimiento · Pendientes · Conclusiones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4"/>
          <p:cNvSpPr/>
          <p:nvPr/>
        </p:nvSpPr>
        <p:spPr>
          <a:xfrm>
            <a:off x="457200" y="4700016"/>
            <a:ext cx="8229600" cy="18288"/>
          </a:xfrm>
          <a:prstGeom prst="rect">
            <a:avLst/>
          </a:prstGeom>
          <a:solidFill>
            <a:srgbClr val="C8C8D4"/>
          </a:solidFill>
          <a:ln cap="flat" cmpd="sng" w="12700">
            <a:solidFill>
              <a:srgbClr val="C8C8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4"/>
          <p:cNvSpPr/>
          <p:nvPr/>
        </p:nvSpPr>
        <p:spPr>
          <a:xfrm>
            <a:off x="365760" y="4892040"/>
            <a:ext cx="7772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37388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737388"/>
                </a:solidFill>
                <a:latin typeface="Calibri"/>
                <a:ea typeface="Calibri"/>
                <a:cs typeface="Calibri"/>
                <a:sym typeface="Calibri"/>
              </a:rPr>
              <a:t>Trackt — TPY1101 Taller Aplicado de Programación  |  DUOC UC  |  2026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4"/>
          <p:cNvSpPr/>
          <p:nvPr/>
        </p:nvSpPr>
        <p:spPr>
          <a:xfrm>
            <a:off x="8503920" y="4892040"/>
            <a:ext cx="5486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37388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737388"/>
                </a:solidFill>
                <a:latin typeface="Calibri"/>
                <a:ea typeface="Calibri"/>
                <a:cs typeface="Calibri"/>
                <a:sym typeface="Calibri"/>
              </a:rPr>
              <a:t>2 / 20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0D10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5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Trebuchet MS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¿Qué cambió respecto a la entrega anterior?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5"/>
          <p:cNvSpPr/>
          <p:nvPr/>
        </p:nvSpPr>
        <p:spPr>
          <a:xfrm>
            <a:off x="457200" y="749808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37388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737388"/>
                </a:solidFill>
                <a:latin typeface="Calibri"/>
                <a:ea typeface="Calibri"/>
                <a:cs typeface="Calibri"/>
                <a:sym typeface="Calibri"/>
              </a:rPr>
              <a:t>Esta presentación cubre los avances incorporados en la versión actualizada.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5"/>
          <p:cNvSpPr/>
          <p:nvPr/>
        </p:nvSpPr>
        <p:spPr>
          <a:xfrm>
            <a:off x="457200" y="1143000"/>
            <a:ext cx="2743200" cy="1188720"/>
          </a:xfrm>
          <a:prstGeom prst="rect">
            <a:avLst/>
          </a:prstGeom>
          <a:solidFill>
            <a:srgbClr val="16161C"/>
          </a:solidFill>
          <a:ln cap="flat" cmpd="sng" w="9525">
            <a:solidFill>
              <a:srgbClr val="3A3A4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5"/>
          <p:cNvSpPr/>
          <p:nvPr/>
        </p:nvSpPr>
        <p:spPr>
          <a:xfrm>
            <a:off x="457200" y="1143000"/>
            <a:ext cx="2743200" cy="45720"/>
          </a:xfrm>
          <a:prstGeom prst="rect">
            <a:avLst/>
          </a:prstGeom>
          <a:solidFill>
            <a:srgbClr val="6152E8"/>
          </a:solidFill>
          <a:ln cap="flat" cmpd="sng" w="12700">
            <a:solidFill>
              <a:srgbClr val="6152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5"/>
          <p:cNvSpPr/>
          <p:nvPr/>
        </p:nvSpPr>
        <p:spPr>
          <a:xfrm>
            <a:off x="594360" y="1252728"/>
            <a:ext cx="2468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📦  Inventario de repuestos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5"/>
          <p:cNvSpPr/>
          <p:nvPr/>
        </p:nvSpPr>
        <p:spPr>
          <a:xfrm>
            <a:off x="594360" y="1545336"/>
            <a:ext cx="246888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C8D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C8C8D4"/>
                </a:solidFill>
                <a:latin typeface="Calibri"/>
                <a:ea typeface="Calibri"/>
                <a:cs typeface="Calibri"/>
                <a:sym typeface="Calibri"/>
              </a:rPr>
              <a:t>Catálogo, stock, entradas, ajustes y baja lógica con control transaccional.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5"/>
          <p:cNvSpPr/>
          <p:nvPr/>
        </p:nvSpPr>
        <p:spPr>
          <a:xfrm>
            <a:off x="3383280" y="1143000"/>
            <a:ext cx="2743200" cy="1188720"/>
          </a:xfrm>
          <a:prstGeom prst="rect">
            <a:avLst/>
          </a:prstGeom>
          <a:solidFill>
            <a:srgbClr val="16161C"/>
          </a:solidFill>
          <a:ln cap="flat" cmpd="sng" w="9525">
            <a:solidFill>
              <a:srgbClr val="3A3A4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5"/>
          <p:cNvSpPr/>
          <p:nvPr/>
        </p:nvSpPr>
        <p:spPr>
          <a:xfrm>
            <a:off x="3383280" y="1143000"/>
            <a:ext cx="2743200" cy="45720"/>
          </a:xfrm>
          <a:prstGeom prst="rect">
            <a:avLst/>
          </a:prstGeom>
          <a:solidFill>
            <a:srgbClr val="6152E8"/>
          </a:solidFill>
          <a:ln cap="flat" cmpd="sng" w="12700">
            <a:solidFill>
              <a:srgbClr val="6152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5"/>
          <p:cNvSpPr/>
          <p:nvPr/>
        </p:nvSpPr>
        <p:spPr>
          <a:xfrm>
            <a:off x="3520440" y="1252728"/>
            <a:ext cx="2468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🔗  Reservas de repuestos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5"/>
          <p:cNvSpPr/>
          <p:nvPr/>
        </p:nvSpPr>
        <p:spPr>
          <a:xfrm>
            <a:off x="3520440" y="1545336"/>
            <a:ext cx="246888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C8D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C8C8D4"/>
                </a:solidFill>
                <a:latin typeface="Calibri"/>
                <a:ea typeface="Calibri"/>
                <a:cs typeface="Calibri"/>
                <a:sym typeface="Calibri"/>
              </a:rPr>
              <a:t>Flujo completo: SOLICITADA → RESERVADA → CONSUMIDA / LIBERADA por ticket.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5"/>
          <p:cNvSpPr/>
          <p:nvPr/>
        </p:nvSpPr>
        <p:spPr>
          <a:xfrm>
            <a:off x="6309360" y="1143000"/>
            <a:ext cx="2743200" cy="1188720"/>
          </a:xfrm>
          <a:prstGeom prst="rect">
            <a:avLst/>
          </a:prstGeom>
          <a:solidFill>
            <a:srgbClr val="16161C"/>
          </a:solidFill>
          <a:ln cap="flat" cmpd="sng" w="9525">
            <a:solidFill>
              <a:srgbClr val="3A3A4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5"/>
          <p:cNvSpPr/>
          <p:nvPr/>
        </p:nvSpPr>
        <p:spPr>
          <a:xfrm>
            <a:off x="6309360" y="1143000"/>
            <a:ext cx="2743200" cy="45720"/>
          </a:xfrm>
          <a:prstGeom prst="rect">
            <a:avLst/>
          </a:prstGeom>
          <a:solidFill>
            <a:srgbClr val="6152E8"/>
          </a:solidFill>
          <a:ln cap="flat" cmpd="sng" w="12700">
            <a:solidFill>
              <a:srgbClr val="6152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5"/>
          <p:cNvSpPr/>
          <p:nvPr/>
        </p:nvSpPr>
        <p:spPr>
          <a:xfrm>
            <a:off x="6446520" y="1252728"/>
            <a:ext cx="2468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👷  Rol jefe_taller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5"/>
          <p:cNvSpPr/>
          <p:nvPr/>
        </p:nvSpPr>
        <p:spPr>
          <a:xfrm>
            <a:off x="6446520" y="1545336"/>
            <a:ext cx="246888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C8D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C8C8D4"/>
                </a:solidFill>
                <a:latin typeface="Calibri"/>
                <a:ea typeface="Calibri"/>
                <a:cs typeface="Calibri"/>
                <a:sym typeface="Calibri"/>
              </a:rPr>
              <a:t>Tercer rol con permisos específicos y 7 políticas RLS propias en base de datos.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5"/>
          <p:cNvSpPr/>
          <p:nvPr/>
        </p:nvSpPr>
        <p:spPr>
          <a:xfrm>
            <a:off x="457200" y="2514600"/>
            <a:ext cx="2743200" cy="1188720"/>
          </a:xfrm>
          <a:prstGeom prst="rect">
            <a:avLst/>
          </a:prstGeom>
          <a:solidFill>
            <a:srgbClr val="16161C"/>
          </a:solidFill>
          <a:ln cap="flat" cmpd="sng" w="9525">
            <a:solidFill>
              <a:srgbClr val="3A3A4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5"/>
          <p:cNvSpPr/>
          <p:nvPr/>
        </p:nvSpPr>
        <p:spPr>
          <a:xfrm>
            <a:off x="457200" y="2514600"/>
            <a:ext cx="2743200" cy="45720"/>
          </a:xfrm>
          <a:prstGeom prst="rect">
            <a:avLst/>
          </a:prstGeom>
          <a:solidFill>
            <a:srgbClr val="6152E8"/>
          </a:solidFill>
          <a:ln cap="flat" cmpd="sng" w="12700">
            <a:solidFill>
              <a:srgbClr val="6152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5"/>
          <p:cNvSpPr/>
          <p:nvPr/>
        </p:nvSpPr>
        <p:spPr>
          <a:xfrm>
            <a:off x="594360" y="2624328"/>
            <a:ext cx="2468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📊  Carga de mecánicos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5"/>
          <p:cNvSpPr/>
          <p:nvPr/>
        </p:nvSpPr>
        <p:spPr>
          <a:xfrm>
            <a:off x="594360" y="2916936"/>
            <a:ext cx="246888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C8D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C8C8D4"/>
                </a:solidFill>
                <a:latin typeface="Calibri"/>
                <a:ea typeface="Calibri"/>
                <a:cs typeface="Calibri"/>
                <a:sym typeface="Calibri"/>
              </a:rPr>
              <a:t>Vista de distribución operativa para jefe_taller y admin.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5"/>
          <p:cNvSpPr/>
          <p:nvPr/>
        </p:nvSpPr>
        <p:spPr>
          <a:xfrm>
            <a:off x="3383280" y="2514600"/>
            <a:ext cx="2743200" cy="1188720"/>
          </a:xfrm>
          <a:prstGeom prst="rect">
            <a:avLst/>
          </a:prstGeom>
          <a:solidFill>
            <a:srgbClr val="16161C"/>
          </a:solidFill>
          <a:ln cap="flat" cmpd="sng" w="9525">
            <a:solidFill>
              <a:srgbClr val="3A3A4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5"/>
          <p:cNvSpPr/>
          <p:nvPr/>
        </p:nvSpPr>
        <p:spPr>
          <a:xfrm>
            <a:off x="3383280" y="2514600"/>
            <a:ext cx="2743200" cy="45720"/>
          </a:xfrm>
          <a:prstGeom prst="rect">
            <a:avLst/>
          </a:prstGeom>
          <a:solidFill>
            <a:srgbClr val="6152E8"/>
          </a:solidFill>
          <a:ln cap="flat" cmpd="sng" w="12700">
            <a:solidFill>
              <a:srgbClr val="6152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5"/>
          <p:cNvSpPr/>
          <p:nvPr/>
        </p:nvSpPr>
        <p:spPr>
          <a:xfrm>
            <a:off x="3520440" y="2624328"/>
            <a:ext cx="2468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⚡  Transiciones completas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5"/>
          <p:cNvSpPr/>
          <p:nvPr/>
        </p:nvSpPr>
        <p:spPr>
          <a:xfrm>
            <a:off x="3520440" y="2916936"/>
            <a:ext cx="246888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C8D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C8C8D4"/>
                </a:solidFill>
                <a:latin typeface="Calibri"/>
                <a:ea typeface="Calibri"/>
                <a:cs typeface="Calibri"/>
                <a:sym typeface="Calibri"/>
              </a:rPr>
              <a:t>asignar · reasignar · iniciar · finalizar · validar · cerrar — con guard por rol.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5"/>
          <p:cNvSpPr/>
          <p:nvPr/>
        </p:nvSpPr>
        <p:spPr>
          <a:xfrm>
            <a:off x="6309360" y="2514600"/>
            <a:ext cx="2743200" cy="1188720"/>
          </a:xfrm>
          <a:prstGeom prst="rect">
            <a:avLst/>
          </a:prstGeom>
          <a:solidFill>
            <a:srgbClr val="16161C"/>
          </a:solidFill>
          <a:ln cap="flat" cmpd="sng" w="9525">
            <a:solidFill>
              <a:srgbClr val="3A3A4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5"/>
          <p:cNvSpPr/>
          <p:nvPr/>
        </p:nvSpPr>
        <p:spPr>
          <a:xfrm>
            <a:off x="6309360" y="2514600"/>
            <a:ext cx="2743200" cy="45720"/>
          </a:xfrm>
          <a:prstGeom prst="rect">
            <a:avLst/>
          </a:prstGeom>
          <a:solidFill>
            <a:srgbClr val="6152E8"/>
          </a:solidFill>
          <a:ln cap="flat" cmpd="sng" w="12700">
            <a:solidFill>
              <a:srgbClr val="6152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5"/>
          <p:cNvSpPr/>
          <p:nvPr/>
        </p:nvSpPr>
        <p:spPr>
          <a:xfrm>
            <a:off x="6446520" y="2624328"/>
            <a:ext cx="2468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🗄️  9 migraciones SQL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5"/>
          <p:cNvSpPr/>
          <p:nvPr/>
        </p:nvSpPr>
        <p:spPr>
          <a:xfrm>
            <a:off x="6446520" y="2916936"/>
            <a:ext cx="246888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C8D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C8C8D4"/>
                </a:solidFill>
                <a:latin typeface="Calibri"/>
                <a:ea typeface="Calibri"/>
                <a:cs typeface="Calibri"/>
                <a:sym typeface="Calibri"/>
              </a:rPr>
              <a:t>12 entidades en producción. Inventario con RLS por rol y tenant.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5"/>
          <p:cNvSpPr/>
          <p:nvPr/>
        </p:nvSpPr>
        <p:spPr>
          <a:xfrm>
            <a:off x="365760" y="4892040"/>
            <a:ext cx="7772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37388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737388"/>
                </a:solidFill>
                <a:latin typeface="Calibri"/>
                <a:ea typeface="Calibri"/>
                <a:cs typeface="Calibri"/>
                <a:sym typeface="Calibri"/>
              </a:rPr>
              <a:t>Trackt — TPY1101 Taller Aplicado de Programación  |  DUOC UC  |  2026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5"/>
          <p:cNvSpPr/>
          <p:nvPr/>
        </p:nvSpPr>
        <p:spPr>
          <a:xfrm>
            <a:off x="8503920" y="4892040"/>
            <a:ext cx="5486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37388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737388"/>
                </a:solidFill>
                <a:latin typeface="Calibri"/>
                <a:ea typeface="Calibri"/>
                <a:cs typeface="Calibri"/>
                <a:sym typeface="Calibri"/>
              </a:rPr>
              <a:t>3 / 20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8FA"/>
        </a:solid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6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0D10"/>
              </a:buClr>
              <a:buSzPts val="2800"/>
              <a:buFont typeface="Trebuchet MS"/>
              <a:buNone/>
            </a:pPr>
            <a:r>
              <a:rPr b="1" i="0" lang="en-US" sz="2800" u="none" cap="none" strike="noStrike">
                <a:solidFill>
                  <a:srgbClr val="0D0D10"/>
                </a:solidFill>
                <a:latin typeface="Trebuchet MS"/>
                <a:ea typeface="Trebuchet MS"/>
                <a:cs typeface="Trebuchet MS"/>
                <a:sym typeface="Trebuchet MS"/>
              </a:rPr>
              <a:t>Estado actual del MVP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6"/>
          <p:cNvSpPr/>
          <p:nvPr/>
        </p:nvSpPr>
        <p:spPr>
          <a:xfrm>
            <a:off x="457200" y="749808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37388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737388"/>
                </a:solidFill>
                <a:latin typeface="Calibri"/>
                <a:ea typeface="Calibri"/>
                <a:cs typeface="Calibri"/>
                <a:sym typeface="Calibri"/>
              </a:rPr>
              <a:t>14 módulos completados ·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6"/>
          <p:cNvSpPr/>
          <p:nvPr/>
        </p:nvSpPr>
        <p:spPr>
          <a:xfrm>
            <a:off x="457200" y="1097280"/>
            <a:ext cx="5029200" cy="3474720"/>
          </a:xfrm>
          <a:prstGeom prst="rect">
            <a:avLst/>
          </a:prstGeom>
          <a:solidFill>
            <a:srgbClr val="16161C"/>
          </a:solidFill>
          <a:ln cap="flat" cmpd="sng" w="9525">
            <a:solidFill>
              <a:srgbClr val="3A3A4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6"/>
          <p:cNvSpPr/>
          <p:nvPr/>
        </p:nvSpPr>
        <p:spPr>
          <a:xfrm>
            <a:off x="457200" y="1097280"/>
            <a:ext cx="5029200" cy="45720"/>
          </a:xfrm>
          <a:prstGeom prst="rect">
            <a:avLst/>
          </a:prstGeom>
          <a:solidFill>
            <a:srgbClr val="4ADE80"/>
          </a:solidFill>
          <a:ln cap="flat" cmpd="sng" w="12700">
            <a:solidFill>
              <a:srgbClr val="4ADE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6"/>
          <p:cNvSpPr/>
          <p:nvPr/>
        </p:nvSpPr>
        <p:spPr>
          <a:xfrm>
            <a:off x="594360" y="1170432"/>
            <a:ext cx="4754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DE8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4ADE80"/>
                </a:solidFill>
                <a:latin typeface="Calibri"/>
                <a:ea typeface="Calibri"/>
                <a:cs typeface="Calibri"/>
                <a:sym typeface="Calibri"/>
              </a:rPr>
              <a:t>✅  Implementado — 14 ítems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6"/>
          <p:cNvSpPr/>
          <p:nvPr/>
        </p:nvSpPr>
        <p:spPr>
          <a:xfrm>
            <a:off x="594360" y="1508760"/>
            <a:ext cx="4754880" cy="2926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0F0F4"/>
              </a:buClr>
              <a:buSzPts val="850"/>
              <a:buFont typeface="Calibri"/>
              <a:buChar char="•"/>
            </a:pPr>
            <a:r>
              <a:rPr b="0" i="0" lang="en-US" sz="850" u="none" cap="none" strike="noStrike">
                <a:solidFill>
                  <a:srgbClr val="F0F0F4"/>
                </a:solidFill>
                <a:latin typeface="Calibri"/>
                <a:ea typeface="Calibri"/>
                <a:cs typeface="Calibri"/>
                <a:sym typeface="Calibri"/>
              </a:rPr>
              <a:t>Autenticación por rol (admin / jefe_taller / mechanic)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200"/>
              </a:spcBef>
              <a:spcAft>
                <a:spcPts val="0"/>
              </a:spcAft>
              <a:buClr>
                <a:srgbClr val="F0F0F4"/>
              </a:buClr>
              <a:buSzPts val="850"/>
              <a:buFont typeface="Calibri"/>
              <a:buChar char="•"/>
            </a:pPr>
            <a:r>
              <a:rPr b="0" i="0" lang="en-US" sz="850" u="none" cap="none" strike="noStrike">
                <a:solidFill>
                  <a:srgbClr val="F0F0F4"/>
                </a:solidFill>
                <a:latin typeface="Calibri"/>
                <a:ea typeface="Calibri"/>
                <a:cs typeface="Calibri"/>
                <a:sym typeface="Calibri"/>
              </a:rPr>
              <a:t>Órdenes de trabajo — CRUD + estados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200"/>
              </a:spcBef>
              <a:spcAft>
                <a:spcPts val="0"/>
              </a:spcAft>
              <a:buClr>
                <a:srgbClr val="F0F0F4"/>
              </a:buClr>
              <a:buSzPts val="850"/>
              <a:buFont typeface="Calibri"/>
              <a:buChar char="•"/>
            </a:pPr>
            <a:r>
              <a:rPr b="0" i="0" lang="en-US" sz="850" u="none" cap="none" strike="noStrike">
                <a:solidFill>
                  <a:srgbClr val="F0F0F4"/>
                </a:solidFill>
                <a:latin typeface="Calibri"/>
                <a:ea typeface="Calibri"/>
                <a:cs typeface="Calibri"/>
                <a:sym typeface="Calibri"/>
              </a:rPr>
              <a:t>Tickets — transiciones completas por rol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200"/>
              </a:spcBef>
              <a:spcAft>
                <a:spcPts val="0"/>
              </a:spcAft>
              <a:buClr>
                <a:srgbClr val="F0F0F4"/>
              </a:buClr>
              <a:buSzPts val="850"/>
              <a:buFont typeface="Calibri"/>
              <a:buChar char="•"/>
            </a:pPr>
            <a:r>
              <a:rPr b="0" i="0" lang="en-US" sz="850" u="none" cap="none" strike="noStrike">
                <a:solidFill>
                  <a:srgbClr val="F0F0F4"/>
                </a:solidFill>
                <a:latin typeface="Calibri"/>
                <a:ea typeface="Calibri"/>
                <a:cs typeface="Calibri"/>
                <a:sym typeface="Calibri"/>
              </a:rPr>
              <a:t>Evidencias fotográficas (Supabase Storage + URL firmada)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200"/>
              </a:spcBef>
              <a:spcAft>
                <a:spcPts val="0"/>
              </a:spcAft>
              <a:buClr>
                <a:srgbClr val="F0F0F4"/>
              </a:buClr>
              <a:buSzPts val="850"/>
              <a:buFont typeface="Calibri"/>
              <a:buChar char="•"/>
            </a:pPr>
            <a:r>
              <a:rPr b="0" i="0" lang="en-US" sz="850" u="none" cap="none" strike="noStrike">
                <a:solidFill>
                  <a:srgbClr val="F0F0F4"/>
                </a:solidFill>
                <a:latin typeface="Calibri"/>
                <a:ea typeface="Calibri"/>
                <a:cs typeface="Calibri"/>
                <a:sym typeface="Calibri"/>
              </a:rPr>
              <a:t>Notificaciones in-app (Supabase Realtime)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200"/>
              </a:spcBef>
              <a:spcAft>
                <a:spcPts val="0"/>
              </a:spcAft>
              <a:buClr>
                <a:srgbClr val="F0F0F4"/>
              </a:buClr>
              <a:buSzPts val="850"/>
              <a:buFont typeface="Calibri"/>
              <a:buChar char="•"/>
            </a:pPr>
            <a:r>
              <a:rPr b="0" i="0" lang="en-US" sz="850" u="none" cap="none" strike="noStrike">
                <a:solidFill>
                  <a:srgbClr val="F0F0F4"/>
                </a:solidFill>
                <a:latin typeface="Calibri"/>
                <a:ea typeface="Calibri"/>
                <a:cs typeface="Calibri"/>
                <a:sym typeface="Calibri"/>
              </a:rPr>
              <a:t>Vista mecánico — Mis Tickets + detalle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200"/>
              </a:spcBef>
              <a:spcAft>
                <a:spcPts val="0"/>
              </a:spcAft>
              <a:buClr>
                <a:srgbClr val="F0F0F4"/>
              </a:buClr>
              <a:buSzPts val="850"/>
              <a:buFont typeface="Calibri"/>
              <a:buChar char="•"/>
            </a:pPr>
            <a:r>
              <a:rPr b="0" i="0" lang="en-US" sz="850" u="none" cap="none" strike="noStrike">
                <a:solidFill>
                  <a:srgbClr val="F0F0F4"/>
                </a:solidFill>
                <a:latin typeface="Calibri"/>
                <a:ea typeface="Calibri"/>
                <a:cs typeface="Calibri"/>
                <a:sym typeface="Calibri"/>
              </a:rPr>
              <a:t>Gestión de equipos con baja lógica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200"/>
              </a:spcBef>
              <a:spcAft>
                <a:spcPts val="0"/>
              </a:spcAft>
              <a:buClr>
                <a:srgbClr val="F0F0F4"/>
              </a:buClr>
              <a:buSzPts val="850"/>
              <a:buFont typeface="Calibri"/>
              <a:buChar char="•"/>
            </a:pPr>
            <a:r>
              <a:rPr b="0" i="0" lang="en-US" sz="850" u="none" cap="none" strike="noStrike">
                <a:solidFill>
                  <a:srgbClr val="F0F0F4"/>
                </a:solidFill>
                <a:latin typeface="Calibri"/>
                <a:ea typeface="Calibri"/>
                <a:cs typeface="Calibri"/>
                <a:sym typeface="Calibri"/>
              </a:rPr>
              <a:t>Gestión de usuarios con invitación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200"/>
              </a:spcBef>
              <a:spcAft>
                <a:spcPts val="0"/>
              </a:spcAft>
              <a:buClr>
                <a:srgbClr val="F0F0F4"/>
              </a:buClr>
              <a:buSzPts val="850"/>
              <a:buFont typeface="Calibri"/>
              <a:buChar char="•"/>
            </a:pPr>
            <a:r>
              <a:rPr b="0" i="0" lang="en-US" sz="850" u="none" cap="none" strike="noStrike">
                <a:solidFill>
                  <a:srgbClr val="F0F0F4"/>
                </a:solidFill>
                <a:latin typeface="Calibri"/>
                <a:ea typeface="Calibri"/>
                <a:cs typeface="Calibri"/>
                <a:sym typeface="Calibri"/>
              </a:rPr>
              <a:t>Inventario: catálogo de repuestos + stock ⭐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200"/>
              </a:spcBef>
              <a:spcAft>
                <a:spcPts val="0"/>
              </a:spcAft>
              <a:buClr>
                <a:srgbClr val="F0F0F4"/>
              </a:buClr>
              <a:buSzPts val="850"/>
              <a:buFont typeface="Calibri"/>
              <a:buChar char="•"/>
            </a:pPr>
            <a:r>
              <a:rPr b="0" i="0" lang="en-US" sz="850" u="none" cap="none" strike="noStrike">
                <a:solidFill>
                  <a:srgbClr val="F0F0F4"/>
                </a:solidFill>
                <a:latin typeface="Calibri"/>
                <a:ea typeface="Calibri"/>
                <a:cs typeface="Calibri"/>
                <a:sym typeface="Calibri"/>
              </a:rPr>
              <a:t>Reservas de repuestos (solicitar/aprobar/consumir) ⭐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200"/>
              </a:spcBef>
              <a:spcAft>
                <a:spcPts val="0"/>
              </a:spcAft>
              <a:buClr>
                <a:srgbClr val="F0F0F4"/>
              </a:buClr>
              <a:buSzPts val="850"/>
              <a:buFont typeface="Calibri"/>
              <a:buChar char="•"/>
            </a:pPr>
            <a:r>
              <a:rPr b="0" i="0" lang="en-US" sz="850" u="none" cap="none" strike="noStrike">
                <a:solidFill>
                  <a:srgbClr val="F0F0F4"/>
                </a:solidFill>
                <a:latin typeface="Calibri"/>
                <a:ea typeface="Calibri"/>
                <a:cs typeface="Calibri"/>
                <a:sym typeface="Calibri"/>
              </a:rPr>
              <a:t>Movimientos de inventario — historial inmutable ⭐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200"/>
              </a:spcBef>
              <a:spcAft>
                <a:spcPts val="0"/>
              </a:spcAft>
              <a:buClr>
                <a:srgbClr val="F0F0F4"/>
              </a:buClr>
              <a:buSzPts val="850"/>
              <a:buFont typeface="Calibri"/>
              <a:buChar char="•"/>
            </a:pPr>
            <a:r>
              <a:rPr b="0" i="0" lang="en-US" sz="850" u="none" cap="none" strike="noStrike">
                <a:solidFill>
                  <a:srgbClr val="F0F0F4"/>
                </a:solidFill>
                <a:latin typeface="Calibri"/>
                <a:ea typeface="Calibri"/>
                <a:cs typeface="Calibri"/>
                <a:sym typeface="Calibri"/>
              </a:rPr>
              <a:t>Carga operativa de mecánicos ⭐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200"/>
              </a:spcBef>
              <a:spcAft>
                <a:spcPts val="0"/>
              </a:spcAft>
              <a:buClr>
                <a:srgbClr val="F0F0F4"/>
              </a:buClr>
              <a:buSzPts val="850"/>
              <a:buFont typeface="Calibri"/>
              <a:buChar char="•"/>
            </a:pPr>
            <a:r>
              <a:rPr b="0" i="0" lang="en-US" sz="850" u="none" cap="none" strike="noStrike">
                <a:solidFill>
                  <a:srgbClr val="F0F0F4"/>
                </a:solidFill>
                <a:latin typeface="Calibri"/>
                <a:ea typeface="Calibri"/>
                <a:cs typeface="Calibri"/>
                <a:sym typeface="Calibri"/>
              </a:rPr>
              <a:t>Dashboard con métricas y gráfico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200"/>
              </a:spcBef>
              <a:spcAft>
                <a:spcPts val="0"/>
              </a:spcAft>
              <a:buClr>
                <a:srgbClr val="F0F0F4"/>
              </a:buClr>
              <a:buSzPts val="850"/>
              <a:buFont typeface="Calibri"/>
              <a:buChar char="•"/>
            </a:pPr>
            <a:r>
              <a:rPr b="0" i="0" lang="en-US" sz="850" u="none" cap="none" strike="noStrike">
                <a:solidFill>
                  <a:srgbClr val="F0F0F4"/>
                </a:solidFill>
                <a:latin typeface="Calibri"/>
                <a:ea typeface="Calibri"/>
                <a:cs typeface="Calibri"/>
                <a:sym typeface="Calibri"/>
              </a:rPr>
              <a:t>14 rutas frontend con diseño responsivo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6"/>
          <p:cNvSpPr/>
          <p:nvPr/>
        </p:nvSpPr>
        <p:spPr>
          <a:xfrm>
            <a:off x="365760" y="4892040"/>
            <a:ext cx="7772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37388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737388"/>
                </a:solidFill>
                <a:latin typeface="Calibri"/>
                <a:ea typeface="Calibri"/>
                <a:cs typeface="Calibri"/>
                <a:sym typeface="Calibri"/>
              </a:rPr>
              <a:t>Trackt — TPY1101 Taller Aplicado de Programación  |  DUOC UC  |  2026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6"/>
          <p:cNvSpPr/>
          <p:nvPr/>
        </p:nvSpPr>
        <p:spPr>
          <a:xfrm>
            <a:off x="8503920" y="4892040"/>
            <a:ext cx="5486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37388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737388"/>
                </a:solidFill>
                <a:latin typeface="Calibri"/>
                <a:ea typeface="Calibri"/>
                <a:cs typeface="Calibri"/>
                <a:sym typeface="Calibri"/>
              </a:rPr>
              <a:t>4 / 20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0D10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7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Trebuchet MS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Tres roles del sistema — permisos por capa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7"/>
          <p:cNvSpPr/>
          <p:nvPr/>
        </p:nvSpPr>
        <p:spPr>
          <a:xfrm>
            <a:off x="457200" y="749808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37388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737388"/>
                </a:solidFill>
                <a:latin typeface="Calibri"/>
                <a:ea typeface="Calibri"/>
                <a:cs typeface="Calibri"/>
                <a:sym typeface="Calibri"/>
              </a:rPr>
              <a:t>Rol jefe_taller es nuevo en esta versión. Guards en backend + políticas RLS en base de datos.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7"/>
          <p:cNvSpPr/>
          <p:nvPr/>
        </p:nvSpPr>
        <p:spPr>
          <a:xfrm>
            <a:off x="457200" y="1097280"/>
            <a:ext cx="2697480" cy="3566160"/>
          </a:xfrm>
          <a:prstGeom prst="rect">
            <a:avLst/>
          </a:prstGeom>
          <a:solidFill>
            <a:srgbClr val="16161C"/>
          </a:solidFill>
          <a:ln cap="flat" cmpd="sng" w="9525">
            <a:solidFill>
              <a:srgbClr val="3A3A4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7"/>
          <p:cNvSpPr/>
          <p:nvPr/>
        </p:nvSpPr>
        <p:spPr>
          <a:xfrm>
            <a:off x="457200" y="1097280"/>
            <a:ext cx="2697480" cy="64008"/>
          </a:xfrm>
          <a:prstGeom prst="rect">
            <a:avLst/>
          </a:prstGeom>
          <a:solidFill>
            <a:srgbClr val="6152E8"/>
          </a:solidFill>
          <a:ln cap="flat" cmpd="sng" w="12700">
            <a:solidFill>
              <a:srgbClr val="6152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7"/>
          <p:cNvSpPr/>
          <p:nvPr/>
        </p:nvSpPr>
        <p:spPr>
          <a:xfrm>
            <a:off x="594360" y="1207008"/>
            <a:ext cx="2423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152E8"/>
              </a:buClr>
              <a:buSzPts val="1500"/>
              <a:buFont typeface="Consolas"/>
              <a:buNone/>
            </a:pPr>
            <a:r>
              <a:rPr b="1" i="0" lang="en-US" sz="1500" u="none" cap="none" strike="noStrike">
                <a:solidFill>
                  <a:srgbClr val="6152E8"/>
                </a:solidFill>
                <a:latin typeface="Consolas"/>
                <a:ea typeface="Consolas"/>
                <a:cs typeface="Consolas"/>
                <a:sym typeface="Consolas"/>
              </a:rPr>
              <a:t>admin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7"/>
          <p:cNvSpPr/>
          <p:nvPr/>
        </p:nvSpPr>
        <p:spPr>
          <a:xfrm>
            <a:off x="594360" y="1536192"/>
            <a:ext cx="24231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37388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737388"/>
                </a:solidFill>
                <a:latin typeface="Calibri"/>
                <a:ea typeface="Calibri"/>
                <a:cs typeface="Calibri"/>
                <a:sym typeface="Calibri"/>
              </a:rPr>
              <a:t>Acceso total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7"/>
          <p:cNvSpPr/>
          <p:nvPr/>
        </p:nvSpPr>
        <p:spPr>
          <a:xfrm>
            <a:off x="594360" y="1828800"/>
            <a:ext cx="2423160" cy="2651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0F0F4"/>
              </a:buClr>
              <a:buSzPts val="900"/>
              <a:buFont typeface="Calibri"/>
              <a:buChar char="•"/>
            </a:pPr>
            <a:r>
              <a:rPr b="0" i="0" lang="en-US" sz="900" u="none" cap="none" strike="noStrike">
                <a:solidFill>
                  <a:srgbClr val="F0F0F4"/>
                </a:solidFill>
                <a:latin typeface="Calibri"/>
                <a:ea typeface="Calibri"/>
                <a:cs typeface="Calibri"/>
                <a:sym typeface="Calibri"/>
              </a:rPr>
              <a:t>Crear / cerrar OT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F0F0F4"/>
              </a:buClr>
              <a:buSzPts val="900"/>
              <a:buFont typeface="Calibri"/>
              <a:buChar char="•"/>
            </a:pPr>
            <a:r>
              <a:rPr b="0" i="0" lang="en-US" sz="900" u="none" cap="none" strike="noStrike">
                <a:solidFill>
                  <a:srgbClr val="F0F0F4"/>
                </a:solidFill>
                <a:latin typeface="Calibri"/>
                <a:ea typeface="Calibri"/>
                <a:cs typeface="Calibri"/>
                <a:sym typeface="Calibri"/>
              </a:rPr>
              <a:t>Validar y cerrar tickets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F0F0F4"/>
              </a:buClr>
              <a:buSzPts val="900"/>
              <a:buFont typeface="Calibri"/>
              <a:buChar char="•"/>
            </a:pPr>
            <a:r>
              <a:rPr b="0" i="0" lang="en-US" sz="900" u="none" cap="none" strike="noStrike">
                <a:solidFill>
                  <a:srgbClr val="F0F0F4"/>
                </a:solidFill>
                <a:latin typeface="Calibri"/>
                <a:ea typeface="Calibri"/>
                <a:cs typeface="Calibri"/>
                <a:sym typeface="Calibri"/>
              </a:rPr>
              <a:t>Gestionar usuarios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F0F0F4"/>
              </a:buClr>
              <a:buSzPts val="900"/>
              <a:buFont typeface="Calibri"/>
              <a:buChar char="•"/>
            </a:pPr>
            <a:r>
              <a:rPr b="0" i="0" lang="en-US" sz="900" u="none" cap="none" strike="noStrike">
                <a:solidFill>
                  <a:srgbClr val="F0F0F4"/>
                </a:solidFill>
                <a:latin typeface="Calibri"/>
                <a:ea typeface="Calibri"/>
                <a:cs typeface="Calibri"/>
                <a:sym typeface="Calibri"/>
              </a:rPr>
              <a:t>Catálogo de repuestos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F0F0F4"/>
              </a:buClr>
              <a:buSzPts val="900"/>
              <a:buFont typeface="Calibri"/>
              <a:buChar char="•"/>
            </a:pPr>
            <a:r>
              <a:rPr b="0" i="0" lang="en-US" sz="900" u="none" cap="none" strike="noStrike">
                <a:solidFill>
                  <a:srgbClr val="F0F0F4"/>
                </a:solidFill>
                <a:latin typeface="Calibri"/>
                <a:ea typeface="Calibri"/>
                <a:cs typeface="Calibri"/>
                <a:sym typeface="Calibri"/>
              </a:rPr>
              <a:t>Entrada y ajuste de stock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F0F0F4"/>
              </a:buClr>
              <a:buSzPts val="900"/>
              <a:buFont typeface="Calibri"/>
              <a:buChar char="•"/>
            </a:pPr>
            <a:r>
              <a:rPr b="0" i="0" lang="en-US" sz="900" u="none" cap="none" strike="noStrike">
                <a:solidFill>
                  <a:srgbClr val="F0F0F4"/>
                </a:solidFill>
                <a:latin typeface="Calibri"/>
                <a:ea typeface="Calibri"/>
                <a:cs typeface="Calibri"/>
                <a:sym typeface="Calibri"/>
              </a:rPr>
              <a:t>Aprobar reservas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F0F0F4"/>
              </a:buClr>
              <a:buSzPts val="900"/>
              <a:buFont typeface="Calibri"/>
              <a:buChar char="•"/>
            </a:pPr>
            <a:r>
              <a:rPr b="0" i="0" lang="en-US" sz="900" u="none" cap="none" strike="noStrike">
                <a:solidFill>
                  <a:srgbClr val="F0F0F4"/>
                </a:solidFill>
                <a:latin typeface="Calibri"/>
                <a:ea typeface="Calibri"/>
                <a:cs typeface="Calibri"/>
                <a:sym typeface="Calibri"/>
              </a:rPr>
              <a:t>Ver movimientos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7"/>
          <p:cNvSpPr/>
          <p:nvPr/>
        </p:nvSpPr>
        <p:spPr>
          <a:xfrm>
            <a:off x="3337560" y="1097280"/>
            <a:ext cx="2697480" cy="3566160"/>
          </a:xfrm>
          <a:prstGeom prst="rect">
            <a:avLst/>
          </a:prstGeom>
          <a:solidFill>
            <a:srgbClr val="16161C"/>
          </a:solidFill>
          <a:ln cap="flat" cmpd="sng" w="9525">
            <a:solidFill>
              <a:srgbClr val="3A3A4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7"/>
          <p:cNvSpPr/>
          <p:nvPr/>
        </p:nvSpPr>
        <p:spPr>
          <a:xfrm>
            <a:off x="3337560" y="1097280"/>
            <a:ext cx="2697480" cy="64008"/>
          </a:xfrm>
          <a:prstGeom prst="rect">
            <a:avLst/>
          </a:prstGeom>
          <a:solidFill>
            <a:srgbClr val="FBBF24"/>
          </a:solidFill>
          <a:ln cap="flat" cmpd="sng" w="12700">
            <a:solidFill>
              <a:srgbClr val="FBBF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7"/>
          <p:cNvSpPr/>
          <p:nvPr/>
        </p:nvSpPr>
        <p:spPr>
          <a:xfrm>
            <a:off x="3474720" y="1207008"/>
            <a:ext cx="2423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BBF24"/>
              </a:buClr>
              <a:buSzPts val="1500"/>
              <a:buFont typeface="Consolas"/>
              <a:buNone/>
            </a:pPr>
            <a:r>
              <a:rPr b="1" i="0" lang="en-US" sz="1500" u="none" cap="none" strike="noStrike">
                <a:solidFill>
                  <a:srgbClr val="FBBF24"/>
                </a:solidFill>
                <a:latin typeface="Consolas"/>
                <a:ea typeface="Consolas"/>
                <a:cs typeface="Consolas"/>
                <a:sym typeface="Consolas"/>
              </a:rPr>
              <a:t>jefe_taller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7"/>
          <p:cNvSpPr/>
          <p:nvPr/>
        </p:nvSpPr>
        <p:spPr>
          <a:xfrm>
            <a:off x="3474720" y="1536192"/>
            <a:ext cx="24231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37388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737388"/>
                </a:solidFill>
                <a:latin typeface="Calibri"/>
                <a:ea typeface="Calibri"/>
                <a:cs typeface="Calibri"/>
                <a:sym typeface="Calibri"/>
              </a:rPr>
              <a:t>Nuevo en v2 ⭐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7"/>
          <p:cNvSpPr/>
          <p:nvPr/>
        </p:nvSpPr>
        <p:spPr>
          <a:xfrm>
            <a:off x="3474720" y="1828800"/>
            <a:ext cx="2423160" cy="2651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0F0F4"/>
              </a:buClr>
              <a:buSzPts val="900"/>
              <a:buFont typeface="Calibri"/>
              <a:buChar char="•"/>
            </a:pPr>
            <a:r>
              <a:rPr b="0" i="0" lang="en-US" sz="900" u="none" cap="none" strike="noStrike">
                <a:solidFill>
                  <a:srgbClr val="F0F0F4"/>
                </a:solidFill>
                <a:latin typeface="Calibri"/>
                <a:ea typeface="Calibri"/>
                <a:cs typeface="Calibri"/>
                <a:sym typeface="Calibri"/>
              </a:rPr>
              <a:t>Ver OT y tickets del tenant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F0F0F4"/>
              </a:buClr>
              <a:buSzPts val="900"/>
              <a:buFont typeface="Calibri"/>
              <a:buChar char="•"/>
            </a:pPr>
            <a:r>
              <a:rPr b="0" i="0" lang="en-US" sz="900" u="none" cap="none" strike="noStrike">
                <a:solidFill>
                  <a:srgbClr val="F0F0F4"/>
                </a:solidFill>
                <a:latin typeface="Calibri"/>
                <a:ea typeface="Calibri"/>
                <a:cs typeface="Calibri"/>
                <a:sym typeface="Calibri"/>
              </a:rPr>
              <a:t>Asignar / reasignar tickets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F0F0F4"/>
              </a:buClr>
              <a:buSzPts val="900"/>
              <a:buFont typeface="Calibri"/>
              <a:buChar char="•"/>
            </a:pPr>
            <a:r>
              <a:rPr b="0" i="0" lang="en-US" sz="900" u="none" cap="none" strike="noStrike">
                <a:solidFill>
                  <a:srgbClr val="F0F0F4"/>
                </a:solidFill>
                <a:latin typeface="Calibri"/>
                <a:ea typeface="Calibri"/>
                <a:cs typeface="Calibri"/>
                <a:sym typeface="Calibri"/>
              </a:rPr>
              <a:t>Ver catálogo y stock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F0F0F4"/>
              </a:buClr>
              <a:buSzPts val="900"/>
              <a:buFont typeface="Calibri"/>
              <a:buChar char="•"/>
            </a:pPr>
            <a:r>
              <a:rPr b="0" i="0" lang="en-US" sz="900" u="none" cap="none" strike="noStrike">
                <a:solidFill>
                  <a:srgbClr val="F0F0F4"/>
                </a:solidFill>
                <a:latin typeface="Calibri"/>
                <a:ea typeface="Calibri"/>
                <a:cs typeface="Calibri"/>
                <a:sym typeface="Calibri"/>
              </a:rPr>
              <a:t>Aprobar reservas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F0F0F4"/>
              </a:buClr>
              <a:buSzPts val="900"/>
              <a:buFont typeface="Calibri"/>
              <a:buChar char="•"/>
            </a:pPr>
            <a:r>
              <a:rPr b="0" i="0" lang="en-US" sz="900" u="none" cap="none" strike="noStrike">
                <a:solidFill>
                  <a:srgbClr val="F0F0F4"/>
                </a:solidFill>
                <a:latin typeface="Calibri"/>
                <a:ea typeface="Calibri"/>
                <a:cs typeface="Calibri"/>
                <a:sym typeface="Calibri"/>
              </a:rPr>
              <a:t>Ver movimientos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F0F0F4"/>
              </a:buClr>
              <a:buSzPts val="900"/>
              <a:buFont typeface="Calibri"/>
              <a:buChar char="•"/>
            </a:pPr>
            <a:r>
              <a:rPr b="0" i="0" lang="en-US" sz="900" u="none" cap="none" strike="noStrike">
                <a:solidFill>
                  <a:srgbClr val="F0F0F4"/>
                </a:solidFill>
                <a:latin typeface="Calibri"/>
                <a:ea typeface="Calibri"/>
                <a:cs typeface="Calibri"/>
                <a:sym typeface="Calibri"/>
              </a:rPr>
              <a:t>Vista carga de mecánicos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F0F0F4"/>
              </a:buClr>
              <a:buSzPts val="900"/>
              <a:buFont typeface="Calibri"/>
              <a:buChar char="•"/>
            </a:pPr>
            <a:r>
              <a:rPr b="0" i="0" lang="en-US" sz="900" u="none" cap="none" strike="noStrike">
                <a:solidFill>
                  <a:srgbClr val="F0F0F4"/>
                </a:solidFill>
                <a:latin typeface="Calibri"/>
                <a:ea typeface="Calibri"/>
                <a:cs typeface="Calibri"/>
                <a:sym typeface="Calibri"/>
              </a:rPr>
              <a:t>Ver solicitudes pendientes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7"/>
          <p:cNvSpPr/>
          <p:nvPr/>
        </p:nvSpPr>
        <p:spPr>
          <a:xfrm>
            <a:off x="6217920" y="1097280"/>
            <a:ext cx="2697480" cy="3566160"/>
          </a:xfrm>
          <a:prstGeom prst="rect">
            <a:avLst/>
          </a:prstGeom>
          <a:solidFill>
            <a:srgbClr val="16161C"/>
          </a:solidFill>
          <a:ln cap="flat" cmpd="sng" w="9525">
            <a:solidFill>
              <a:srgbClr val="3A3A4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7"/>
          <p:cNvSpPr/>
          <p:nvPr/>
        </p:nvSpPr>
        <p:spPr>
          <a:xfrm>
            <a:off x="6217920" y="1097280"/>
            <a:ext cx="2697480" cy="64008"/>
          </a:xfrm>
          <a:prstGeom prst="rect">
            <a:avLst/>
          </a:prstGeom>
          <a:solidFill>
            <a:srgbClr val="4ADE80"/>
          </a:solidFill>
          <a:ln cap="flat" cmpd="sng" w="12700">
            <a:solidFill>
              <a:srgbClr val="4ADE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7"/>
          <p:cNvSpPr/>
          <p:nvPr/>
        </p:nvSpPr>
        <p:spPr>
          <a:xfrm>
            <a:off x="6355080" y="1207008"/>
            <a:ext cx="2423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DE80"/>
              </a:buClr>
              <a:buSzPts val="1500"/>
              <a:buFont typeface="Consolas"/>
              <a:buNone/>
            </a:pPr>
            <a:r>
              <a:rPr b="1" i="0" lang="en-US" sz="1500" u="none" cap="none" strike="noStrike">
                <a:solidFill>
                  <a:srgbClr val="4ADE80"/>
                </a:solidFill>
                <a:latin typeface="Consolas"/>
                <a:ea typeface="Consolas"/>
                <a:cs typeface="Consolas"/>
                <a:sym typeface="Consolas"/>
              </a:rPr>
              <a:t>mechanic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7"/>
          <p:cNvSpPr/>
          <p:nvPr/>
        </p:nvSpPr>
        <p:spPr>
          <a:xfrm>
            <a:off x="6355080" y="1536192"/>
            <a:ext cx="24231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37388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737388"/>
                </a:solidFill>
                <a:latin typeface="Calibri"/>
                <a:ea typeface="Calibri"/>
                <a:cs typeface="Calibri"/>
                <a:sym typeface="Calibri"/>
              </a:rPr>
              <a:t>Solo lo suyo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7"/>
          <p:cNvSpPr/>
          <p:nvPr/>
        </p:nvSpPr>
        <p:spPr>
          <a:xfrm>
            <a:off x="6355080" y="1828800"/>
            <a:ext cx="2423160" cy="2651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0F0F4"/>
              </a:buClr>
              <a:buSzPts val="900"/>
              <a:buFont typeface="Calibri"/>
              <a:buChar char="•"/>
            </a:pPr>
            <a:r>
              <a:rPr b="0" i="0" lang="en-US" sz="900" u="none" cap="none" strike="noStrike">
                <a:solidFill>
                  <a:srgbClr val="F0F0F4"/>
                </a:solidFill>
                <a:latin typeface="Calibri"/>
                <a:ea typeface="Calibri"/>
                <a:cs typeface="Calibri"/>
                <a:sym typeface="Calibri"/>
              </a:rPr>
              <a:t>Ver solo sus tickets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F0F0F4"/>
              </a:buClr>
              <a:buSzPts val="900"/>
              <a:buFont typeface="Calibri"/>
              <a:buChar char="•"/>
            </a:pPr>
            <a:r>
              <a:rPr b="0" i="0" lang="en-US" sz="900" u="none" cap="none" strike="noStrike">
                <a:solidFill>
                  <a:srgbClr val="F0F0F4"/>
                </a:solidFill>
                <a:latin typeface="Calibri"/>
                <a:ea typeface="Calibri"/>
                <a:cs typeface="Calibri"/>
                <a:sym typeface="Calibri"/>
              </a:rPr>
              <a:t>Iniciar ticket asignado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F0F0F4"/>
              </a:buClr>
              <a:buSzPts val="900"/>
              <a:buFont typeface="Calibri"/>
              <a:buChar char="•"/>
            </a:pPr>
            <a:r>
              <a:rPr b="0" i="0" lang="en-US" sz="900" u="none" cap="none" strike="noStrike">
                <a:solidFill>
                  <a:srgbClr val="F0F0F4"/>
                </a:solidFill>
                <a:latin typeface="Calibri"/>
                <a:ea typeface="Calibri"/>
                <a:cs typeface="Calibri"/>
                <a:sym typeface="Calibri"/>
              </a:rPr>
              <a:t>Finalizar ticket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F0F0F4"/>
              </a:buClr>
              <a:buSzPts val="900"/>
              <a:buFont typeface="Calibri"/>
              <a:buChar char="•"/>
            </a:pPr>
            <a:r>
              <a:rPr b="0" i="0" lang="en-US" sz="900" u="none" cap="none" strike="noStrike">
                <a:solidFill>
                  <a:srgbClr val="F0F0F4"/>
                </a:solidFill>
                <a:latin typeface="Calibri"/>
                <a:ea typeface="Calibri"/>
                <a:cs typeface="Calibri"/>
                <a:sym typeface="Calibri"/>
              </a:rPr>
              <a:t>Subir evidencias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F0F0F4"/>
              </a:buClr>
              <a:buSzPts val="900"/>
              <a:buFont typeface="Calibri"/>
              <a:buChar char="•"/>
            </a:pPr>
            <a:r>
              <a:rPr b="0" i="0" lang="en-US" sz="900" u="none" cap="none" strike="noStrike">
                <a:solidFill>
                  <a:srgbClr val="F0F0F4"/>
                </a:solidFill>
                <a:latin typeface="Calibri"/>
                <a:ea typeface="Calibri"/>
                <a:cs typeface="Calibri"/>
                <a:sym typeface="Calibri"/>
              </a:rPr>
              <a:t>Solicitar repuestos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F0F0F4"/>
              </a:buClr>
              <a:buSzPts val="900"/>
              <a:buFont typeface="Calibri"/>
              <a:buChar char="•"/>
            </a:pPr>
            <a:r>
              <a:rPr b="0" i="0" lang="en-US" sz="900" u="none" cap="none" strike="noStrike">
                <a:solidFill>
                  <a:srgbClr val="F0F0F4"/>
                </a:solidFill>
                <a:latin typeface="Calibri"/>
                <a:ea typeface="Calibri"/>
                <a:cs typeface="Calibri"/>
                <a:sym typeface="Calibri"/>
              </a:rPr>
              <a:t>Consumir / liberar reserva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F0F0F4"/>
              </a:buClr>
              <a:buSzPts val="900"/>
              <a:buFont typeface="Calibri"/>
              <a:buChar char="•"/>
            </a:pPr>
            <a:r>
              <a:rPr b="0" i="0" lang="en-US" sz="900" u="none" cap="none" strike="noStrike">
                <a:solidFill>
                  <a:srgbClr val="F0F0F4"/>
                </a:solidFill>
                <a:latin typeface="Calibri"/>
                <a:ea typeface="Calibri"/>
                <a:cs typeface="Calibri"/>
                <a:sym typeface="Calibri"/>
              </a:rPr>
              <a:t>Ver catálogo (lectura)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7"/>
          <p:cNvSpPr/>
          <p:nvPr/>
        </p:nvSpPr>
        <p:spPr>
          <a:xfrm>
            <a:off x="426975" y="4702005"/>
            <a:ext cx="82296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37388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737388"/>
                </a:solidFill>
                <a:latin typeface="Calibri"/>
                <a:ea typeface="Calibri"/>
                <a:cs typeface="Calibri"/>
                <a:sym typeface="Calibri"/>
              </a:rPr>
              <a:t>RolesGuard en backend (NestJS)  +  7 políticas RLS específicas para jefe_taller en Supabase PostgreSQL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7"/>
          <p:cNvSpPr/>
          <p:nvPr/>
        </p:nvSpPr>
        <p:spPr>
          <a:xfrm>
            <a:off x="365760" y="4892040"/>
            <a:ext cx="7772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37388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737388"/>
                </a:solidFill>
                <a:latin typeface="Calibri"/>
                <a:ea typeface="Calibri"/>
                <a:cs typeface="Calibri"/>
                <a:sym typeface="Calibri"/>
              </a:rPr>
              <a:t>Trackt — TPY1101 Taller Aplicado de Programación  |  DUOC UC  |  2026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7"/>
          <p:cNvSpPr/>
          <p:nvPr/>
        </p:nvSpPr>
        <p:spPr>
          <a:xfrm>
            <a:off x="8503920" y="4892040"/>
            <a:ext cx="5486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37388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737388"/>
                </a:solidFill>
                <a:latin typeface="Calibri"/>
                <a:ea typeface="Calibri"/>
                <a:cs typeface="Calibri"/>
                <a:sym typeface="Calibri"/>
              </a:rPr>
              <a:t>5 / 20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8FA"/>
        </a:solidFill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8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0D10"/>
              </a:buClr>
              <a:buSzPts val="2600"/>
              <a:buFont typeface="Trebuchet MS"/>
              <a:buNone/>
            </a:pPr>
            <a:r>
              <a:rPr b="1" i="0" lang="en-US" sz="2600" u="none" cap="none" strike="noStrike">
                <a:solidFill>
                  <a:srgbClr val="0D0D10"/>
                </a:solidFill>
                <a:latin typeface="Trebuchet MS"/>
                <a:ea typeface="Trebuchet MS"/>
                <a:cs typeface="Trebuchet MS"/>
                <a:sym typeface="Trebuchet MS"/>
              </a:rPr>
              <a:t>Arquitectura de la solución — 3 capas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8"/>
          <p:cNvSpPr/>
          <p:nvPr/>
        </p:nvSpPr>
        <p:spPr>
          <a:xfrm>
            <a:off x="457200" y="749808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37388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737388"/>
                </a:solidFill>
                <a:latin typeface="Calibri"/>
                <a:ea typeface="Calibri"/>
                <a:cs typeface="Calibri"/>
                <a:sym typeface="Calibri"/>
              </a:rPr>
              <a:t>Separación clara entre presentación, lógica de negocio y persistencia.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8"/>
          <p:cNvSpPr/>
          <p:nvPr/>
        </p:nvSpPr>
        <p:spPr>
          <a:xfrm>
            <a:off x="457200" y="1143000"/>
            <a:ext cx="8229600" cy="1078992"/>
          </a:xfrm>
          <a:prstGeom prst="rect">
            <a:avLst/>
          </a:prstGeom>
          <a:solidFill>
            <a:srgbClr val="16161C"/>
          </a:solidFill>
          <a:ln cap="flat" cmpd="sng" w="9525">
            <a:solidFill>
              <a:srgbClr val="3A3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8"/>
          <p:cNvSpPr/>
          <p:nvPr/>
        </p:nvSpPr>
        <p:spPr>
          <a:xfrm>
            <a:off x="457200" y="1143000"/>
            <a:ext cx="73152" cy="1078992"/>
          </a:xfrm>
          <a:prstGeom prst="rect">
            <a:avLst/>
          </a:prstGeom>
          <a:solidFill>
            <a:srgbClr val="A78BFA"/>
          </a:solidFill>
          <a:ln cap="flat" cmpd="sng" w="12700">
            <a:solidFill>
              <a:srgbClr val="A78B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8"/>
          <p:cNvSpPr/>
          <p:nvPr/>
        </p:nvSpPr>
        <p:spPr>
          <a:xfrm>
            <a:off x="640080" y="123444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78BFA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A78BFA"/>
                </a:solidFill>
                <a:latin typeface="Consolas"/>
                <a:ea typeface="Consolas"/>
                <a:cs typeface="Consolas"/>
                <a:sym typeface="Consolas"/>
              </a:rPr>
              <a:t>PRESENTACIÓN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8"/>
          <p:cNvSpPr/>
          <p:nvPr/>
        </p:nvSpPr>
        <p:spPr>
          <a:xfrm>
            <a:off x="640080" y="1527048"/>
            <a:ext cx="2286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37388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737388"/>
                </a:solidFill>
                <a:latin typeface="Calibri"/>
                <a:ea typeface="Calibri"/>
                <a:cs typeface="Calibri"/>
                <a:sym typeface="Calibri"/>
              </a:rPr>
              <a:t>Next.js + React + Tailwind + shadcn/ui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8"/>
          <p:cNvSpPr/>
          <p:nvPr/>
        </p:nvSpPr>
        <p:spPr>
          <a:xfrm>
            <a:off x="3108960" y="1216152"/>
            <a:ext cx="5486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0F0F4"/>
              </a:buClr>
              <a:buSzPts val="950"/>
              <a:buFont typeface="Calibri"/>
              <a:buChar char="•"/>
            </a:pPr>
            <a:r>
              <a:rPr b="0" i="0" lang="en-US" sz="950" u="none" cap="none" strike="noStrike">
                <a:solidFill>
                  <a:srgbClr val="F0F0F4"/>
                </a:solidFill>
                <a:latin typeface="Calibri"/>
                <a:ea typeface="Calibri"/>
                <a:cs typeface="Calibri"/>
                <a:sym typeface="Calibri"/>
              </a:rPr>
              <a:t>14 rutas App Router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0F0F4"/>
              </a:buClr>
              <a:buSzPts val="950"/>
              <a:buFont typeface="Calibri"/>
              <a:buChar char="•"/>
            </a:pPr>
            <a:r>
              <a:rPr b="0" i="0" lang="en-US" sz="950" u="none" cap="none" strike="noStrike">
                <a:solidFill>
                  <a:srgbClr val="F0F0F4"/>
                </a:solidFill>
                <a:latin typeface="Calibri"/>
                <a:ea typeface="Calibri"/>
                <a:cs typeface="Calibri"/>
                <a:sym typeface="Calibri"/>
              </a:rPr>
              <a:t>TanStack Query (estado servidor)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0F0F4"/>
              </a:buClr>
              <a:buSzPts val="950"/>
              <a:buFont typeface="Calibri"/>
              <a:buChar char="•"/>
            </a:pPr>
            <a:r>
              <a:rPr b="0" i="0" lang="en-US" sz="950" u="none" cap="none" strike="noStrike">
                <a:solidFill>
                  <a:srgbClr val="F0F0F4"/>
                </a:solidFill>
                <a:latin typeface="Calibri"/>
                <a:ea typeface="Calibri"/>
                <a:cs typeface="Calibri"/>
                <a:sym typeface="Calibri"/>
              </a:rPr>
              <a:t>Middleware Supabase protegido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0F0F4"/>
              </a:buClr>
              <a:buSzPts val="950"/>
              <a:buFont typeface="Calibri"/>
              <a:buChar char="•"/>
            </a:pPr>
            <a:r>
              <a:rPr b="0" i="0" lang="en-US" sz="950" u="none" cap="none" strike="noStrike">
                <a:solidFill>
                  <a:srgbClr val="F0F0F4"/>
                </a:solidFill>
                <a:latin typeface="Calibri"/>
                <a:ea typeface="Calibri"/>
                <a:cs typeface="Calibri"/>
                <a:sym typeface="Calibri"/>
              </a:rPr>
              <a:t>Diseño responsivo desktop + mobile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8"/>
          <p:cNvSpPr/>
          <p:nvPr/>
        </p:nvSpPr>
        <p:spPr>
          <a:xfrm>
            <a:off x="4206240" y="2221992"/>
            <a:ext cx="731520" cy="91440"/>
          </a:xfrm>
          <a:prstGeom prst="rect">
            <a:avLst/>
          </a:prstGeom>
          <a:solidFill>
            <a:srgbClr val="737388"/>
          </a:solidFill>
          <a:ln cap="flat" cmpd="sng" w="12700">
            <a:solidFill>
              <a:srgbClr val="7373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8"/>
          <p:cNvSpPr/>
          <p:nvPr/>
        </p:nvSpPr>
        <p:spPr>
          <a:xfrm>
            <a:off x="457200" y="2313432"/>
            <a:ext cx="8229600" cy="1078992"/>
          </a:xfrm>
          <a:prstGeom prst="rect">
            <a:avLst/>
          </a:prstGeom>
          <a:solidFill>
            <a:srgbClr val="16161C"/>
          </a:solidFill>
          <a:ln cap="flat" cmpd="sng" w="9525">
            <a:solidFill>
              <a:srgbClr val="3A3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8"/>
          <p:cNvSpPr/>
          <p:nvPr/>
        </p:nvSpPr>
        <p:spPr>
          <a:xfrm>
            <a:off x="457200" y="2313432"/>
            <a:ext cx="73152" cy="1078992"/>
          </a:xfrm>
          <a:prstGeom prst="rect">
            <a:avLst/>
          </a:prstGeom>
          <a:solidFill>
            <a:srgbClr val="34D399"/>
          </a:solidFill>
          <a:ln cap="flat" cmpd="sng" w="12700">
            <a:solidFill>
              <a:srgbClr val="34D3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8"/>
          <p:cNvSpPr/>
          <p:nvPr/>
        </p:nvSpPr>
        <p:spPr>
          <a:xfrm>
            <a:off x="640080" y="2404872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D399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34D399"/>
                </a:solidFill>
                <a:latin typeface="Consolas"/>
                <a:ea typeface="Consolas"/>
                <a:cs typeface="Consolas"/>
                <a:sym typeface="Consolas"/>
              </a:rPr>
              <a:t>LÓGICA NEGOCIO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8"/>
          <p:cNvSpPr/>
          <p:nvPr/>
        </p:nvSpPr>
        <p:spPr>
          <a:xfrm>
            <a:off x="640080" y="2697480"/>
            <a:ext cx="2286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37388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737388"/>
                </a:solidFill>
                <a:latin typeface="Calibri"/>
                <a:ea typeface="Calibri"/>
                <a:cs typeface="Calibri"/>
                <a:sym typeface="Calibri"/>
              </a:rPr>
              <a:t>NestJS + Prisma ORM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8"/>
          <p:cNvSpPr/>
          <p:nvPr/>
        </p:nvSpPr>
        <p:spPr>
          <a:xfrm>
            <a:off x="3108960" y="2386584"/>
            <a:ext cx="5486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0F0F4"/>
              </a:buClr>
              <a:buSzPts val="950"/>
              <a:buFont typeface="Calibri"/>
              <a:buChar char="•"/>
            </a:pPr>
            <a:r>
              <a:rPr b="0" i="0" lang="en-US" sz="950" u="none" cap="none" strike="noStrike">
                <a:solidFill>
                  <a:srgbClr val="F0F0F4"/>
                </a:solidFill>
                <a:latin typeface="Calibri"/>
                <a:ea typeface="Calibri"/>
                <a:cs typeface="Calibri"/>
                <a:sym typeface="Calibri"/>
              </a:rPr>
              <a:t>9 módulos (Auth, Equipos, Usuarios, Órdenes,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0F0F4"/>
              </a:buClr>
              <a:buSzPts val="950"/>
              <a:buFont typeface="Calibri"/>
              <a:buChar char="•"/>
            </a:pPr>
            <a:r>
              <a:rPr b="0" i="0" lang="en-US" sz="950" u="none" cap="none" strike="noStrike">
                <a:solidFill>
                  <a:srgbClr val="F0F0F4"/>
                </a:solidFill>
                <a:latin typeface="Calibri"/>
                <a:ea typeface="Calibri"/>
                <a:cs typeface="Calibri"/>
                <a:sym typeface="Calibri"/>
              </a:rPr>
              <a:t>Tickets, Evidencias, Notif., Inventario, Reservas)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0F0F4"/>
              </a:buClr>
              <a:buSzPts val="950"/>
              <a:buFont typeface="Calibri"/>
              <a:buChar char="•"/>
            </a:pPr>
            <a:r>
              <a:rPr b="0" i="0" lang="en-US" sz="950" u="none" cap="none" strike="noStrike">
                <a:solidFill>
                  <a:srgbClr val="F0F0F4"/>
                </a:solidFill>
                <a:latin typeface="Calibri"/>
                <a:ea typeface="Calibri"/>
                <a:cs typeface="Calibri"/>
                <a:sym typeface="Calibri"/>
              </a:rPr>
              <a:t>AuthGuard + RolesGuard por endpoint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0F0F4"/>
              </a:buClr>
              <a:buSzPts val="950"/>
              <a:buFont typeface="Calibri"/>
              <a:buChar char="•"/>
            </a:pPr>
            <a:r>
              <a:rPr b="0" i="0" lang="en-US" sz="950" u="none" cap="none" strike="noStrike">
                <a:solidFill>
                  <a:srgbClr val="F0F0F4"/>
                </a:solidFill>
                <a:latin typeface="Calibri"/>
                <a:ea typeface="Calibri"/>
                <a:cs typeface="Calibri"/>
                <a:sym typeface="Calibri"/>
              </a:rPr>
              <a:t>Validaciones con DTOs + class-validator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8"/>
          <p:cNvSpPr/>
          <p:nvPr/>
        </p:nvSpPr>
        <p:spPr>
          <a:xfrm>
            <a:off x="4206240" y="3392424"/>
            <a:ext cx="731520" cy="91440"/>
          </a:xfrm>
          <a:prstGeom prst="rect">
            <a:avLst/>
          </a:prstGeom>
          <a:solidFill>
            <a:srgbClr val="737388"/>
          </a:solidFill>
          <a:ln cap="flat" cmpd="sng" w="12700">
            <a:solidFill>
              <a:srgbClr val="7373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8"/>
          <p:cNvSpPr/>
          <p:nvPr/>
        </p:nvSpPr>
        <p:spPr>
          <a:xfrm>
            <a:off x="457200" y="3483864"/>
            <a:ext cx="8229600" cy="1078992"/>
          </a:xfrm>
          <a:prstGeom prst="rect">
            <a:avLst/>
          </a:prstGeom>
          <a:solidFill>
            <a:srgbClr val="16161C"/>
          </a:solidFill>
          <a:ln cap="flat" cmpd="sng" w="9525">
            <a:solidFill>
              <a:srgbClr val="3A3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8"/>
          <p:cNvSpPr/>
          <p:nvPr/>
        </p:nvSpPr>
        <p:spPr>
          <a:xfrm>
            <a:off x="457200" y="3483864"/>
            <a:ext cx="73152" cy="1078992"/>
          </a:xfrm>
          <a:prstGeom prst="rect">
            <a:avLst/>
          </a:prstGeom>
          <a:solidFill>
            <a:srgbClr val="60A5FA"/>
          </a:solidFill>
          <a:ln cap="flat" cmpd="sng" w="12700">
            <a:solidFill>
              <a:srgbClr val="60A5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8"/>
          <p:cNvSpPr/>
          <p:nvPr/>
        </p:nvSpPr>
        <p:spPr>
          <a:xfrm>
            <a:off x="640080" y="3575304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A5FA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60A5FA"/>
                </a:solidFill>
                <a:latin typeface="Consolas"/>
                <a:ea typeface="Consolas"/>
                <a:cs typeface="Consolas"/>
                <a:sym typeface="Consolas"/>
              </a:rPr>
              <a:t>PERSISTENCIA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8"/>
          <p:cNvSpPr/>
          <p:nvPr/>
        </p:nvSpPr>
        <p:spPr>
          <a:xfrm>
            <a:off x="640080" y="3867912"/>
            <a:ext cx="2286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37388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737388"/>
                </a:solidFill>
                <a:latin typeface="Calibri"/>
                <a:ea typeface="Calibri"/>
                <a:cs typeface="Calibri"/>
                <a:sym typeface="Calibri"/>
              </a:rPr>
              <a:t>Supabase / PostgreSQL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8"/>
          <p:cNvSpPr/>
          <p:nvPr/>
        </p:nvSpPr>
        <p:spPr>
          <a:xfrm>
            <a:off x="3108960" y="3557016"/>
            <a:ext cx="5486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0F0F4"/>
              </a:buClr>
              <a:buSzPts val="950"/>
              <a:buFont typeface="Calibri"/>
              <a:buChar char="•"/>
            </a:pPr>
            <a:r>
              <a:rPr b="0" i="0" lang="en-US" sz="950" u="none" cap="none" strike="noStrike">
                <a:solidFill>
                  <a:srgbClr val="F0F0F4"/>
                </a:solidFill>
                <a:latin typeface="Calibri"/>
                <a:ea typeface="Calibri"/>
                <a:cs typeface="Calibri"/>
                <a:sym typeface="Calibri"/>
              </a:rPr>
              <a:t>12 entidades · 9 migraciones SQL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0F0F4"/>
              </a:buClr>
              <a:buSzPts val="950"/>
              <a:buFont typeface="Calibri"/>
              <a:buChar char="•"/>
            </a:pPr>
            <a:r>
              <a:rPr b="0" i="0" lang="en-US" sz="950" u="none" cap="none" strike="noStrike">
                <a:solidFill>
                  <a:srgbClr val="F0F0F4"/>
                </a:solidFill>
                <a:latin typeface="Calibri"/>
                <a:ea typeface="Calibri"/>
                <a:cs typeface="Calibri"/>
                <a:sym typeface="Calibri"/>
              </a:rPr>
              <a:t>RLS por rol y tenant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0F0F4"/>
              </a:buClr>
              <a:buSzPts val="950"/>
              <a:buFont typeface="Calibri"/>
              <a:buChar char="•"/>
            </a:pPr>
            <a:r>
              <a:rPr b="0" i="0" lang="en-US" sz="950" u="none" cap="none" strike="noStrike">
                <a:solidFill>
                  <a:srgbClr val="F0F0F4"/>
                </a:solidFill>
                <a:latin typeface="Calibri"/>
                <a:ea typeface="Calibri"/>
                <a:cs typeface="Calibri"/>
                <a:sym typeface="Calibri"/>
              </a:rPr>
              <a:t>Storage (evidencias) + Realtime (notif.)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0F0F4"/>
              </a:buClr>
              <a:buSzPts val="950"/>
              <a:buFont typeface="Calibri"/>
              <a:buChar char="•"/>
            </a:pPr>
            <a:r>
              <a:rPr b="0" i="0" lang="en-US" sz="950" u="none" cap="none" strike="noStrike">
                <a:solidFill>
                  <a:srgbClr val="F0F0F4"/>
                </a:solidFill>
                <a:latin typeface="Calibri"/>
                <a:ea typeface="Calibri"/>
                <a:cs typeface="Calibri"/>
                <a:sym typeface="Calibri"/>
              </a:rPr>
              <a:t>$transaction para operaciones de stock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8"/>
          <p:cNvSpPr/>
          <p:nvPr/>
        </p:nvSpPr>
        <p:spPr>
          <a:xfrm>
            <a:off x="365750" y="4654310"/>
            <a:ext cx="82296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37388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737388"/>
                </a:solidFill>
                <a:latin typeface="Calibri"/>
                <a:ea typeface="Calibri"/>
                <a:cs typeface="Calibri"/>
                <a:sym typeface="Calibri"/>
              </a:rPr>
              <a:t>Transversales: Supabase Auth  ·  Supabase Storage  ·  Supabase Realtime  ·  GitHub  ·  Vercel + Railway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8"/>
          <p:cNvSpPr/>
          <p:nvPr/>
        </p:nvSpPr>
        <p:spPr>
          <a:xfrm>
            <a:off x="365760" y="4892040"/>
            <a:ext cx="7772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37388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737388"/>
                </a:solidFill>
                <a:latin typeface="Calibri"/>
                <a:ea typeface="Calibri"/>
                <a:cs typeface="Calibri"/>
                <a:sym typeface="Calibri"/>
              </a:rPr>
              <a:t>Trackt — TPY1101 Taller Aplicado de Programación  |  DUOC UC  |  2026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8"/>
          <p:cNvSpPr/>
          <p:nvPr/>
        </p:nvSpPr>
        <p:spPr>
          <a:xfrm>
            <a:off x="8503920" y="4892040"/>
            <a:ext cx="5486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37388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737388"/>
                </a:solidFill>
                <a:latin typeface="Calibri"/>
                <a:ea typeface="Calibri"/>
                <a:cs typeface="Calibri"/>
                <a:sym typeface="Calibri"/>
              </a:rPr>
              <a:t>6 / 20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0D10"/>
        </a:solidFill>
      </p:bgPr>
    </p:bg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9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A78BFA">
              <a:alpha val="80000"/>
            </a:srgbClr>
          </a:solidFill>
          <a:ln cap="flat" cmpd="sng" w="12700">
            <a:solidFill>
              <a:srgbClr val="A78BFA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9"/>
          <p:cNvSpPr/>
          <p:nvPr/>
        </p:nvSpPr>
        <p:spPr>
          <a:xfrm>
            <a:off x="457200" y="50292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Trebuchet MS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Arquitectura frontend — Next.js App Router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9"/>
          <p:cNvSpPr/>
          <p:nvPr/>
        </p:nvSpPr>
        <p:spPr>
          <a:xfrm>
            <a:off x="457200" y="960120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37388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737388"/>
                </a:solidFill>
                <a:latin typeface="Calibri"/>
                <a:ea typeface="Calibri"/>
                <a:cs typeface="Calibri"/>
                <a:sym typeface="Calibri"/>
              </a:rPr>
              <a:t>Estructura de rutas separada por grupos de autenticación y app protegida.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9"/>
          <p:cNvSpPr/>
          <p:nvPr/>
        </p:nvSpPr>
        <p:spPr>
          <a:xfrm>
            <a:off x="457200" y="1298448"/>
            <a:ext cx="4114800" cy="3337560"/>
          </a:xfrm>
          <a:prstGeom prst="rect">
            <a:avLst/>
          </a:prstGeom>
          <a:solidFill>
            <a:srgbClr val="16161C"/>
          </a:solidFill>
          <a:ln cap="flat" cmpd="sng" w="9525">
            <a:solidFill>
              <a:srgbClr val="3A3A4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9"/>
          <p:cNvSpPr/>
          <p:nvPr/>
        </p:nvSpPr>
        <p:spPr>
          <a:xfrm>
            <a:off x="457200" y="1298448"/>
            <a:ext cx="4114800" cy="45720"/>
          </a:xfrm>
          <a:prstGeom prst="rect">
            <a:avLst/>
          </a:prstGeom>
          <a:solidFill>
            <a:srgbClr val="A78BFA"/>
          </a:solidFill>
          <a:ln cap="flat" cmpd="sng" w="12700">
            <a:solidFill>
              <a:srgbClr val="A78B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9"/>
          <p:cNvSpPr/>
          <p:nvPr/>
        </p:nvSpPr>
        <p:spPr>
          <a:xfrm>
            <a:off x="594360" y="1389888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78BF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A78BFA"/>
                </a:solidFill>
                <a:latin typeface="Calibri"/>
                <a:ea typeface="Calibri"/>
                <a:cs typeface="Calibri"/>
                <a:sym typeface="Calibri"/>
              </a:rPr>
              <a:t>Estructura de rutas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9"/>
          <p:cNvSpPr/>
          <p:nvPr/>
        </p:nvSpPr>
        <p:spPr>
          <a:xfrm>
            <a:off x="640080" y="1719072"/>
            <a:ext cx="37490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C8D4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C8C8D4"/>
                </a:solidFill>
                <a:latin typeface="Consolas"/>
                <a:ea typeface="Consolas"/>
                <a:cs typeface="Consolas"/>
                <a:sym typeface="Consolas"/>
              </a:rPr>
              <a:t>src/app/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9"/>
          <p:cNvSpPr/>
          <p:nvPr/>
        </p:nvSpPr>
        <p:spPr>
          <a:xfrm>
            <a:off x="640080" y="1929384"/>
            <a:ext cx="37490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BBF24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FBBF24"/>
                </a:solidFill>
                <a:latin typeface="Consolas"/>
                <a:ea typeface="Consolas"/>
                <a:cs typeface="Consolas"/>
                <a:sym typeface="Consolas"/>
              </a:rPr>
              <a:t>  (auth)/            ← rutas públicas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9"/>
          <p:cNvSpPr/>
          <p:nvPr/>
        </p:nvSpPr>
        <p:spPr>
          <a:xfrm>
            <a:off x="640080" y="2139696"/>
            <a:ext cx="37490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37388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737388"/>
                </a:solidFill>
                <a:latin typeface="Consolas"/>
                <a:ea typeface="Consolas"/>
                <a:cs typeface="Consolas"/>
                <a:sym typeface="Consolas"/>
              </a:rPr>
              <a:t>    login</a:t>
            </a:r>
            <a:r>
              <a:rPr lang="en-US" sz="850">
                <a:solidFill>
                  <a:srgbClr val="737388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9"/>
          <p:cNvSpPr/>
          <p:nvPr/>
        </p:nvSpPr>
        <p:spPr>
          <a:xfrm>
            <a:off x="640080" y="2350008"/>
            <a:ext cx="37490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37388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737388"/>
                </a:solidFill>
                <a:latin typeface="Consolas"/>
                <a:ea typeface="Consolas"/>
                <a:cs typeface="Consolas"/>
                <a:sym typeface="Consolas"/>
              </a:rPr>
              <a:t>    forgot-password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9"/>
          <p:cNvSpPr/>
          <p:nvPr/>
        </p:nvSpPr>
        <p:spPr>
          <a:xfrm>
            <a:off x="685805" y="2560320"/>
            <a:ext cx="37491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37388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737388"/>
                </a:solidFill>
                <a:latin typeface="Consolas"/>
                <a:ea typeface="Consolas"/>
                <a:cs typeface="Consolas"/>
                <a:sym typeface="Consolas"/>
              </a:rPr>
              <a:t>    reset-password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9"/>
          <p:cNvSpPr/>
          <p:nvPr/>
        </p:nvSpPr>
        <p:spPr>
          <a:xfrm>
            <a:off x="640080" y="2770632"/>
            <a:ext cx="37490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22D3EE"/>
                </a:solidFill>
                <a:latin typeface="Consolas"/>
                <a:ea typeface="Consolas"/>
                <a:cs typeface="Consolas"/>
                <a:sym typeface="Consolas"/>
              </a:rPr>
              <a:t>  (app)/             ← rutas protegidas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9"/>
          <p:cNvSpPr/>
          <p:nvPr/>
        </p:nvSpPr>
        <p:spPr>
          <a:xfrm>
            <a:off x="640080" y="2980944"/>
            <a:ext cx="37490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37388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737388"/>
                </a:solidFill>
                <a:latin typeface="Consolas"/>
                <a:ea typeface="Consolas"/>
                <a:cs typeface="Consolas"/>
                <a:sym typeface="Consolas"/>
              </a:rPr>
              <a:t>    dashboard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9"/>
          <p:cNvSpPr/>
          <p:nvPr/>
        </p:nvSpPr>
        <p:spPr>
          <a:xfrm>
            <a:off x="640080" y="3191256"/>
            <a:ext cx="37490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37388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737388"/>
                </a:solidFill>
                <a:latin typeface="Consolas"/>
                <a:ea typeface="Consolas"/>
                <a:cs typeface="Consolas"/>
                <a:sym typeface="Consolas"/>
              </a:rPr>
              <a:t>    ordenes  ·  ordenes/:id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9"/>
          <p:cNvSpPr/>
          <p:nvPr/>
        </p:nvSpPr>
        <p:spPr>
          <a:xfrm>
            <a:off x="640080" y="3401568"/>
            <a:ext cx="37490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37388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737388"/>
                </a:solidFill>
                <a:latin typeface="Consolas"/>
                <a:ea typeface="Consolas"/>
                <a:cs typeface="Consolas"/>
                <a:sym typeface="Consolas"/>
              </a:rPr>
              <a:t>    tickets  ·  tickets/:id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9"/>
          <p:cNvSpPr/>
          <p:nvPr/>
        </p:nvSpPr>
        <p:spPr>
          <a:xfrm>
            <a:off x="640080" y="3611880"/>
            <a:ext cx="37490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37388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737388"/>
                </a:solidFill>
                <a:latin typeface="Consolas"/>
                <a:ea typeface="Consolas"/>
                <a:cs typeface="Consolas"/>
                <a:sym typeface="Consolas"/>
              </a:rPr>
              <a:t>    mis-tickets  ·  mis-tickets/:id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9"/>
          <p:cNvSpPr/>
          <p:nvPr/>
        </p:nvSpPr>
        <p:spPr>
          <a:xfrm>
            <a:off x="640080" y="3822192"/>
            <a:ext cx="37490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37388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737388"/>
                </a:solidFill>
                <a:latin typeface="Consolas"/>
                <a:ea typeface="Consolas"/>
                <a:cs typeface="Consolas"/>
                <a:sym typeface="Consolas"/>
              </a:rPr>
              <a:t>    equipos  ·  usuarios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9"/>
          <p:cNvSpPr/>
          <p:nvPr/>
        </p:nvSpPr>
        <p:spPr>
          <a:xfrm>
            <a:off x="640080" y="4032504"/>
            <a:ext cx="37490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37388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737388"/>
                </a:solidFill>
                <a:latin typeface="Consolas"/>
                <a:ea typeface="Consolas"/>
                <a:cs typeface="Consolas"/>
                <a:sym typeface="Consolas"/>
              </a:rPr>
              <a:t>    inventario  (repuestos + reservas)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9"/>
          <p:cNvSpPr/>
          <p:nvPr/>
        </p:nvSpPr>
        <p:spPr>
          <a:xfrm>
            <a:off x="640080" y="4242816"/>
            <a:ext cx="37490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37388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737388"/>
                </a:solidFill>
                <a:latin typeface="Consolas"/>
                <a:ea typeface="Consolas"/>
                <a:cs typeface="Consolas"/>
                <a:sym typeface="Consolas"/>
              </a:rPr>
              <a:t>    taller/carga  ·  configuracion/perfil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9"/>
          <p:cNvSpPr/>
          <p:nvPr/>
        </p:nvSpPr>
        <p:spPr>
          <a:xfrm>
            <a:off x="365760" y="4892040"/>
            <a:ext cx="7772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37388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737388"/>
                </a:solidFill>
                <a:latin typeface="Calibri"/>
                <a:ea typeface="Calibri"/>
                <a:cs typeface="Calibri"/>
                <a:sym typeface="Calibri"/>
              </a:rPr>
              <a:t>Trackt — TPY1101 Taller Aplicado de Programación  |  DUOC UC  |  2026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9"/>
          <p:cNvSpPr/>
          <p:nvPr/>
        </p:nvSpPr>
        <p:spPr>
          <a:xfrm>
            <a:off x="8503920" y="4892040"/>
            <a:ext cx="5486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37388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737388"/>
                </a:solidFill>
                <a:latin typeface="Calibri"/>
                <a:ea typeface="Calibri"/>
                <a:cs typeface="Calibri"/>
                <a:sym typeface="Calibri"/>
              </a:rPr>
              <a:t>7 / 20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117"/>
        </a:solidFill>
      </p:bgPr>
    </p:bg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0"/>
          <p:cNvSpPr/>
          <p:nvPr/>
        </p:nvSpPr>
        <p:spPr>
          <a:xfrm>
            <a:off x="411480" y="201168"/>
            <a:ext cx="54900" cy="40230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10"/>
          <p:cNvSpPr/>
          <p:nvPr/>
        </p:nvSpPr>
        <p:spPr>
          <a:xfrm>
            <a:off x="548640" y="201168"/>
            <a:ext cx="82296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Flujo de Acceso al Sistema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0"/>
          <p:cNvSpPr/>
          <p:nvPr/>
        </p:nvSpPr>
        <p:spPr>
          <a:xfrm>
            <a:off x="548640" y="658368"/>
            <a:ext cx="8229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Login · Recuperación · Reset · Validaciones · Feedback visual </a:t>
            </a:r>
            <a:r>
              <a:rPr lang="en-US" sz="850">
                <a:solidFill>
                  <a:srgbClr val="FBBF24"/>
                </a:solidFill>
                <a:latin typeface="Consolas"/>
                <a:ea typeface="Consolas"/>
                <a:cs typeface="Consolas"/>
                <a:sym typeface="Consolas"/>
              </a:rPr>
              <a:t>  (auth)/            ← rutas públicas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Calibri"/>
              <a:buNone/>
            </a:pPr>
            <a:r>
              <a:t/>
            </a:r>
            <a:endParaRPr sz="1200">
              <a:solidFill>
                <a:srgbClr val="94A3B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0"/>
          <p:cNvSpPr/>
          <p:nvPr/>
        </p:nvSpPr>
        <p:spPr>
          <a:xfrm>
            <a:off x="365785" y="1051560"/>
            <a:ext cx="2697600" cy="3474600"/>
          </a:xfrm>
          <a:prstGeom prst="rect">
            <a:avLst/>
          </a:prstGeom>
          <a:solidFill>
            <a:srgbClr val="1E2235"/>
          </a:solidFill>
          <a:ln cap="flat" cmpd="sng" w="9525">
            <a:solidFill>
              <a:srgbClr val="2E33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10"/>
          <p:cNvSpPr/>
          <p:nvPr/>
        </p:nvSpPr>
        <p:spPr>
          <a:xfrm>
            <a:off x="365760" y="1051560"/>
            <a:ext cx="2697600" cy="411600"/>
          </a:xfrm>
          <a:prstGeom prst="rect">
            <a:avLst/>
          </a:prstGeom>
          <a:solidFill>
            <a:srgbClr val="6C63FF"/>
          </a:solidFill>
          <a:ln cap="flat" cmpd="sng" w="12700">
            <a:solidFill>
              <a:srgbClr val="6C63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10"/>
          <p:cNvSpPr/>
          <p:nvPr/>
        </p:nvSpPr>
        <p:spPr>
          <a:xfrm>
            <a:off x="365760" y="1051560"/>
            <a:ext cx="2697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117"/>
              </a:buClr>
              <a:buSzPts val="1300"/>
              <a:buFont typeface="Consolas"/>
              <a:buNone/>
            </a:pPr>
            <a:r>
              <a:rPr b="1" i="0" lang="en-US" sz="1300" u="none" cap="none" strike="noStrike">
                <a:solidFill>
                  <a:srgbClr val="0F1117"/>
                </a:solidFill>
                <a:latin typeface="Consolas"/>
                <a:ea typeface="Consolas"/>
                <a:cs typeface="Consolas"/>
                <a:sym typeface="Consolas"/>
              </a:rPr>
              <a:t>/login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0"/>
          <p:cNvSpPr/>
          <p:nvPr/>
        </p:nvSpPr>
        <p:spPr>
          <a:xfrm>
            <a:off x="438912" y="1600200"/>
            <a:ext cx="54900" cy="23760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10"/>
          <p:cNvSpPr/>
          <p:nvPr/>
        </p:nvSpPr>
        <p:spPr>
          <a:xfrm>
            <a:off x="566928" y="1572768"/>
            <a:ext cx="2377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Validación de campos en tiempo real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0"/>
          <p:cNvSpPr/>
          <p:nvPr/>
        </p:nvSpPr>
        <p:spPr>
          <a:xfrm>
            <a:off x="438912" y="2167128"/>
            <a:ext cx="54900" cy="23760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10"/>
          <p:cNvSpPr/>
          <p:nvPr/>
        </p:nvSpPr>
        <p:spPr>
          <a:xfrm>
            <a:off x="566928" y="2139696"/>
            <a:ext cx="2377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Mensajes de error explícitos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0"/>
          <p:cNvSpPr/>
          <p:nvPr/>
        </p:nvSpPr>
        <p:spPr>
          <a:xfrm>
            <a:off x="438912" y="2734056"/>
            <a:ext cx="54900" cy="23760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10"/>
          <p:cNvSpPr/>
          <p:nvPr/>
        </p:nvSpPr>
        <p:spPr>
          <a:xfrm>
            <a:off x="566928" y="2706624"/>
            <a:ext cx="2377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Feedback visual por estado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0"/>
          <p:cNvSpPr/>
          <p:nvPr/>
        </p:nvSpPr>
        <p:spPr>
          <a:xfrm>
            <a:off x="438912" y="3300984"/>
            <a:ext cx="54900" cy="23760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10"/>
          <p:cNvSpPr/>
          <p:nvPr/>
        </p:nvSpPr>
        <p:spPr>
          <a:xfrm>
            <a:off x="566928" y="3281105"/>
            <a:ext cx="2377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Redirección a /dashboard si hay sesión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0"/>
          <p:cNvSpPr/>
          <p:nvPr/>
        </p:nvSpPr>
        <p:spPr>
          <a:xfrm>
            <a:off x="3291840" y="1051560"/>
            <a:ext cx="2697600" cy="3474600"/>
          </a:xfrm>
          <a:prstGeom prst="rect">
            <a:avLst/>
          </a:prstGeom>
          <a:solidFill>
            <a:srgbClr val="1E2235"/>
          </a:solidFill>
          <a:ln cap="flat" cmpd="sng" w="9525">
            <a:solidFill>
              <a:srgbClr val="2E33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10"/>
          <p:cNvSpPr/>
          <p:nvPr/>
        </p:nvSpPr>
        <p:spPr>
          <a:xfrm>
            <a:off x="3291840" y="1051560"/>
            <a:ext cx="2697600" cy="411600"/>
          </a:xfrm>
          <a:prstGeom prst="rect">
            <a:avLst/>
          </a:prstGeom>
          <a:solidFill>
            <a:srgbClr val="38BDF8"/>
          </a:solidFill>
          <a:ln cap="flat" cmpd="sng" w="12700">
            <a:solidFill>
              <a:srgbClr val="38BD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10"/>
          <p:cNvSpPr/>
          <p:nvPr/>
        </p:nvSpPr>
        <p:spPr>
          <a:xfrm>
            <a:off x="3291840" y="1051560"/>
            <a:ext cx="2697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117"/>
              </a:buClr>
              <a:buSzPts val="1300"/>
              <a:buFont typeface="Consolas"/>
              <a:buNone/>
            </a:pPr>
            <a:r>
              <a:rPr b="1" i="0" lang="en-US" sz="1300" u="none" cap="none" strike="noStrike">
                <a:solidFill>
                  <a:srgbClr val="0F1117"/>
                </a:solidFill>
                <a:latin typeface="Consolas"/>
                <a:ea typeface="Consolas"/>
                <a:cs typeface="Consolas"/>
                <a:sym typeface="Consolas"/>
              </a:rPr>
              <a:t>/</a:t>
            </a:r>
            <a:r>
              <a:rPr b="1" i="0" lang="en-US" sz="1300" u="none" cap="none" strike="noStrike">
                <a:solidFill>
                  <a:srgbClr val="0F1117"/>
                </a:solidFill>
                <a:latin typeface="Consolas"/>
                <a:ea typeface="Consolas"/>
                <a:cs typeface="Consolas"/>
                <a:sym typeface="Consolas"/>
              </a:rPr>
              <a:t>forgot-password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0"/>
          <p:cNvSpPr/>
          <p:nvPr/>
        </p:nvSpPr>
        <p:spPr>
          <a:xfrm>
            <a:off x="3364992" y="1600200"/>
            <a:ext cx="54900" cy="2376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10"/>
          <p:cNvSpPr/>
          <p:nvPr/>
        </p:nvSpPr>
        <p:spPr>
          <a:xfrm>
            <a:off x="3493008" y="1572768"/>
            <a:ext cx="2377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Ingreso de email registrado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0"/>
          <p:cNvSpPr/>
          <p:nvPr/>
        </p:nvSpPr>
        <p:spPr>
          <a:xfrm>
            <a:off x="3364992" y="2167128"/>
            <a:ext cx="54900" cy="2376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10"/>
          <p:cNvSpPr/>
          <p:nvPr/>
        </p:nvSpPr>
        <p:spPr>
          <a:xfrm>
            <a:off x="3493008" y="2139696"/>
            <a:ext cx="2377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Envío de correo de recuperación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0"/>
          <p:cNvSpPr/>
          <p:nvPr/>
        </p:nvSpPr>
        <p:spPr>
          <a:xfrm>
            <a:off x="3364992" y="2734056"/>
            <a:ext cx="54900" cy="2376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10"/>
          <p:cNvSpPr/>
          <p:nvPr/>
        </p:nvSpPr>
        <p:spPr>
          <a:xfrm>
            <a:off x="3493008" y="2706624"/>
            <a:ext cx="2377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Confirmación visual de envío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0"/>
          <p:cNvSpPr/>
          <p:nvPr/>
        </p:nvSpPr>
        <p:spPr>
          <a:xfrm>
            <a:off x="3364992" y="3300984"/>
            <a:ext cx="54900" cy="2376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10"/>
          <p:cNvSpPr/>
          <p:nvPr/>
        </p:nvSpPr>
        <p:spPr>
          <a:xfrm>
            <a:off x="3493008" y="3273552"/>
            <a:ext cx="2377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Manejo de errores por correo no encontrado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0"/>
          <p:cNvSpPr/>
          <p:nvPr/>
        </p:nvSpPr>
        <p:spPr>
          <a:xfrm>
            <a:off x="6217920" y="1051560"/>
            <a:ext cx="2697600" cy="3474600"/>
          </a:xfrm>
          <a:prstGeom prst="rect">
            <a:avLst/>
          </a:prstGeom>
          <a:solidFill>
            <a:srgbClr val="1E2235"/>
          </a:solidFill>
          <a:ln cap="flat" cmpd="sng" w="9525">
            <a:solidFill>
              <a:srgbClr val="2E33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10"/>
          <p:cNvSpPr/>
          <p:nvPr/>
        </p:nvSpPr>
        <p:spPr>
          <a:xfrm>
            <a:off x="6217920" y="1051560"/>
            <a:ext cx="2697600" cy="411600"/>
          </a:xfrm>
          <a:prstGeom prst="rect">
            <a:avLst/>
          </a:prstGeom>
          <a:solidFill>
            <a:srgbClr val="22D3A5"/>
          </a:solidFill>
          <a:ln cap="flat" cmpd="sng" w="12700">
            <a:solidFill>
              <a:srgbClr val="22D3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10"/>
          <p:cNvSpPr/>
          <p:nvPr/>
        </p:nvSpPr>
        <p:spPr>
          <a:xfrm>
            <a:off x="6217920" y="1051560"/>
            <a:ext cx="2697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117"/>
              </a:buClr>
              <a:buSzPts val="1300"/>
              <a:buFont typeface="Consolas"/>
              <a:buNone/>
            </a:pPr>
            <a:r>
              <a:rPr b="1" i="0" lang="en-US" sz="1300" u="none" cap="none" strike="noStrike">
                <a:solidFill>
                  <a:srgbClr val="0F1117"/>
                </a:solidFill>
                <a:latin typeface="Consolas"/>
                <a:ea typeface="Consolas"/>
                <a:cs typeface="Consolas"/>
                <a:sym typeface="Consolas"/>
              </a:rPr>
              <a:t>/reset-password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0"/>
          <p:cNvSpPr/>
          <p:nvPr/>
        </p:nvSpPr>
        <p:spPr>
          <a:xfrm>
            <a:off x="6291072" y="1600200"/>
            <a:ext cx="54900" cy="237600"/>
          </a:xfrm>
          <a:prstGeom prst="rect">
            <a:avLst/>
          </a:prstGeom>
          <a:solidFill>
            <a:srgbClr val="22D3A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10"/>
          <p:cNvSpPr/>
          <p:nvPr/>
        </p:nvSpPr>
        <p:spPr>
          <a:xfrm>
            <a:off x="6419088" y="1572768"/>
            <a:ext cx="2377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Token desde URL (auth/callback)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0"/>
          <p:cNvSpPr/>
          <p:nvPr/>
        </p:nvSpPr>
        <p:spPr>
          <a:xfrm>
            <a:off x="6291072" y="2167128"/>
            <a:ext cx="54900" cy="237600"/>
          </a:xfrm>
          <a:prstGeom prst="rect">
            <a:avLst/>
          </a:prstGeom>
          <a:solidFill>
            <a:srgbClr val="22D3A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10"/>
          <p:cNvSpPr/>
          <p:nvPr/>
        </p:nvSpPr>
        <p:spPr>
          <a:xfrm>
            <a:off x="6419088" y="2139696"/>
            <a:ext cx="2377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Ingreso de nueva contraseña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0"/>
          <p:cNvSpPr/>
          <p:nvPr/>
        </p:nvSpPr>
        <p:spPr>
          <a:xfrm>
            <a:off x="6291072" y="2734056"/>
            <a:ext cx="54900" cy="237600"/>
          </a:xfrm>
          <a:prstGeom prst="rect">
            <a:avLst/>
          </a:prstGeom>
          <a:solidFill>
            <a:srgbClr val="22D3A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10"/>
          <p:cNvSpPr/>
          <p:nvPr/>
        </p:nvSpPr>
        <p:spPr>
          <a:xfrm>
            <a:off x="6419088" y="2706624"/>
            <a:ext cx="2377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Confirmación de coincidencia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0"/>
          <p:cNvSpPr/>
          <p:nvPr/>
        </p:nvSpPr>
        <p:spPr>
          <a:xfrm>
            <a:off x="6291072" y="3300984"/>
            <a:ext cx="54900" cy="237600"/>
          </a:xfrm>
          <a:prstGeom prst="rect">
            <a:avLst/>
          </a:prstGeom>
          <a:solidFill>
            <a:srgbClr val="22D3A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10"/>
          <p:cNvSpPr/>
          <p:nvPr/>
        </p:nvSpPr>
        <p:spPr>
          <a:xfrm>
            <a:off x="6419088" y="3273552"/>
            <a:ext cx="2377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Redirección post-reset a /login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10"/>
          <p:cNvSpPr/>
          <p:nvPr/>
        </p:nvSpPr>
        <p:spPr>
          <a:xfrm>
            <a:off x="365760" y="4754880"/>
            <a:ext cx="84126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El flujo completo: acceso inicial → recuperación de contraseña → restablecimiento → ingreso al sistema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0"/>
          <p:cNvSpPr/>
          <p:nvPr/>
        </p:nvSpPr>
        <p:spPr>
          <a:xfrm>
            <a:off x="466375" y="3855575"/>
            <a:ext cx="2436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117"/>
        </a:solidFill>
      </p:bgPr>
    </p:bg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1"/>
          <p:cNvSpPr/>
          <p:nvPr/>
        </p:nvSpPr>
        <p:spPr>
          <a:xfrm>
            <a:off x="411480" y="201168"/>
            <a:ext cx="54900" cy="40230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11"/>
          <p:cNvSpPr/>
          <p:nvPr/>
        </p:nvSpPr>
        <p:spPr>
          <a:xfrm>
            <a:off x="548640" y="201168"/>
            <a:ext cx="82296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Protección de Rutas y Autenticación Visual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1"/>
          <p:cNvSpPr/>
          <p:nvPr/>
        </p:nvSpPr>
        <p:spPr>
          <a:xfrm>
            <a:off x="548640" y="658368"/>
            <a:ext cx="8229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Middleware · requireSession() · Redirección por estado de sesión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1"/>
          <p:cNvSpPr/>
          <p:nvPr/>
        </p:nvSpPr>
        <p:spPr>
          <a:xfrm>
            <a:off x="365760" y="1554480"/>
            <a:ext cx="1371600" cy="914400"/>
          </a:xfrm>
          <a:prstGeom prst="rect">
            <a:avLst/>
          </a:prstGeom>
          <a:solidFill>
            <a:srgbClr val="1E2235"/>
          </a:solidFill>
          <a:ln cap="flat" cmpd="sng" w="19050">
            <a:solidFill>
              <a:srgbClr val="2E33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11"/>
          <p:cNvSpPr/>
          <p:nvPr/>
        </p:nvSpPr>
        <p:spPr>
          <a:xfrm>
            <a:off x="365760" y="1554480"/>
            <a:ext cx="1371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Usuario entra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a ruta privada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5" name="Google Shape;255;p11"/>
          <p:cNvCxnSpPr/>
          <p:nvPr/>
        </p:nvCxnSpPr>
        <p:spPr>
          <a:xfrm>
            <a:off x="1737360" y="2011680"/>
            <a:ext cx="255900" cy="0"/>
          </a:xfrm>
          <a:prstGeom prst="straightConnector1">
            <a:avLst/>
          </a:prstGeom>
          <a:noFill/>
          <a:ln cap="flat" cmpd="sng" w="19050">
            <a:solidFill>
              <a:srgbClr val="94A3B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6" name="Google Shape;256;p11"/>
          <p:cNvSpPr/>
          <p:nvPr/>
        </p:nvSpPr>
        <p:spPr>
          <a:xfrm>
            <a:off x="1810512" y="1901952"/>
            <a:ext cx="1830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▶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1"/>
          <p:cNvSpPr/>
          <p:nvPr/>
        </p:nvSpPr>
        <p:spPr>
          <a:xfrm>
            <a:off x="1993392" y="1554480"/>
            <a:ext cx="1371600" cy="914400"/>
          </a:xfrm>
          <a:prstGeom prst="rect">
            <a:avLst/>
          </a:prstGeom>
          <a:solidFill>
            <a:srgbClr val="1E2235"/>
          </a:solidFill>
          <a:ln cap="flat" cmpd="sng" w="19050">
            <a:solidFill>
              <a:srgbClr val="38BD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11"/>
          <p:cNvSpPr/>
          <p:nvPr/>
        </p:nvSpPr>
        <p:spPr>
          <a:xfrm>
            <a:off x="1993392" y="1554480"/>
            <a:ext cx="1371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Middleware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revisa sesión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(Supabase)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9" name="Google Shape;259;p11"/>
          <p:cNvCxnSpPr/>
          <p:nvPr/>
        </p:nvCxnSpPr>
        <p:spPr>
          <a:xfrm>
            <a:off x="3364992" y="2011680"/>
            <a:ext cx="255900" cy="0"/>
          </a:xfrm>
          <a:prstGeom prst="straightConnector1">
            <a:avLst/>
          </a:prstGeom>
          <a:noFill/>
          <a:ln cap="flat" cmpd="sng" w="19050">
            <a:solidFill>
              <a:srgbClr val="94A3B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0" name="Google Shape;260;p11"/>
          <p:cNvSpPr/>
          <p:nvPr/>
        </p:nvSpPr>
        <p:spPr>
          <a:xfrm>
            <a:off x="3438144" y="1901952"/>
            <a:ext cx="1830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▶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1"/>
          <p:cNvSpPr/>
          <p:nvPr/>
        </p:nvSpPr>
        <p:spPr>
          <a:xfrm>
            <a:off x="3621024" y="1554480"/>
            <a:ext cx="1371600" cy="914400"/>
          </a:xfrm>
          <a:prstGeom prst="rect">
            <a:avLst/>
          </a:prstGeom>
          <a:solidFill>
            <a:srgbClr val="2D1B1B"/>
          </a:solidFill>
          <a:ln cap="flat" cmpd="sng" w="19050">
            <a:solidFill>
              <a:srgbClr val="F8717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11"/>
          <p:cNvSpPr/>
          <p:nvPr/>
        </p:nvSpPr>
        <p:spPr>
          <a:xfrm>
            <a:off x="3621024" y="1554480"/>
            <a:ext cx="1371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Sin sesión →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redirige 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/login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63" name="Google Shape;263;p11"/>
          <p:cNvCxnSpPr/>
          <p:nvPr/>
        </p:nvCxnSpPr>
        <p:spPr>
          <a:xfrm>
            <a:off x="4992624" y="2011680"/>
            <a:ext cx="255900" cy="0"/>
          </a:xfrm>
          <a:prstGeom prst="straightConnector1">
            <a:avLst/>
          </a:prstGeom>
          <a:noFill/>
          <a:ln cap="flat" cmpd="sng" w="19050">
            <a:solidFill>
              <a:srgbClr val="94A3B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4" name="Google Shape;264;p11"/>
          <p:cNvSpPr/>
          <p:nvPr/>
        </p:nvSpPr>
        <p:spPr>
          <a:xfrm>
            <a:off x="5065776" y="1901952"/>
            <a:ext cx="1830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▶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1"/>
          <p:cNvSpPr/>
          <p:nvPr/>
        </p:nvSpPr>
        <p:spPr>
          <a:xfrm>
            <a:off x="5248656" y="1554480"/>
            <a:ext cx="1371600" cy="914400"/>
          </a:xfrm>
          <a:prstGeom prst="rect">
            <a:avLst/>
          </a:prstGeom>
          <a:solidFill>
            <a:srgbClr val="1B2D1E"/>
          </a:solidFill>
          <a:ln cap="flat" cmpd="sng" w="19050">
            <a:solidFill>
              <a:srgbClr val="22D3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11"/>
          <p:cNvSpPr/>
          <p:nvPr/>
        </p:nvSpPr>
        <p:spPr>
          <a:xfrm>
            <a:off x="5248656" y="1554480"/>
            <a:ext cx="1371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Con sesión →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Layout carga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perfil + rol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67" name="Google Shape;267;p11"/>
          <p:cNvCxnSpPr/>
          <p:nvPr/>
        </p:nvCxnSpPr>
        <p:spPr>
          <a:xfrm>
            <a:off x="6620256" y="2011680"/>
            <a:ext cx="255900" cy="0"/>
          </a:xfrm>
          <a:prstGeom prst="straightConnector1">
            <a:avLst/>
          </a:prstGeom>
          <a:noFill/>
          <a:ln cap="flat" cmpd="sng" w="19050">
            <a:solidFill>
              <a:srgbClr val="94A3B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8" name="Google Shape;268;p11"/>
          <p:cNvSpPr/>
          <p:nvPr/>
        </p:nvSpPr>
        <p:spPr>
          <a:xfrm>
            <a:off x="6693408" y="1901952"/>
            <a:ext cx="1830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▶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11"/>
          <p:cNvSpPr/>
          <p:nvPr/>
        </p:nvSpPr>
        <p:spPr>
          <a:xfrm>
            <a:off x="6876288" y="1554480"/>
            <a:ext cx="1371600" cy="914400"/>
          </a:xfrm>
          <a:prstGeom prst="rect">
            <a:avLst/>
          </a:prstGeom>
          <a:solidFill>
            <a:srgbClr val="1E1B2D"/>
          </a:solidFill>
          <a:ln cap="flat" cmpd="sng" w="19050">
            <a:solidFill>
              <a:srgbClr val="6C63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11"/>
          <p:cNvSpPr/>
          <p:nvPr/>
        </p:nvSpPr>
        <p:spPr>
          <a:xfrm>
            <a:off x="6876288" y="1554480"/>
            <a:ext cx="1371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filterByRole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adapta menú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navegación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1"/>
          <p:cNvSpPr/>
          <p:nvPr/>
        </p:nvSpPr>
        <p:spPr>
          <a:xfrm>
            <a:off x="365760" y="2834640"/>
            <a:ext cx="4114800" cy="1737300"/>
          </a:xfrm>
          <a:prstGeom prst="rect">
            <a:avLst/>
          </a:prstGeom>
          <a:solidFill>
            <a:srgbClr val="1E2235"/>
          </a:solidFill>
          <a:ln cap="flat" cmpd="sng" w="9525">
            <a:solidFill>
              <a:srgbClr val="2E33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11"/>
          <p:cNvSpPr/>
          <p:nvPr/>
        </p:nvSpPr>
        <p:spPr>
          <a:xfrm>
            <a:off x="548640" y="2926080"/>
            <a:ext cx="3657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38BDF8"/>
                </a:solidFill>
                <a:latin typeface="Calibri"/>
                <a:ea typeface="Calibri"/>
                <a:cs typeface="Calibri"/>
                <a:sym typeface="Calibri"/>
              </a:rPr>
              <a:t>Rutas Públicas (auth)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1"/>
          <p:cNvSpPr/>
          <p:nvPr/>
        </p:nvSpPr>
        <p:spPr>
          <a:xfrm>
            <a:off x="731520" y="3291840"/>
            <a:ext cx="34746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onsolas"/>
                <a:ea typeface="Consolas"/>
                <a:cs typeface="Consolas"/>
                <a:sym typeface="Consolas"/>
              </a:rPr>
              <a:t>/login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11"/>
          <p:cNvSpPr/>
          <p:nvPr/>
        </p:nvSpPr>
        <p:spPr>
          <a:xfrm>
            <a:off x="731520" y="3566160"/>
            <a:ext cx="34746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onsolas"/>
                <a:ea typeface="Consolas"/>
                <a:cs typeface="Consolas"/>
                <a:sym typeface="Consolas"/>
              </a:rPr>
              <a:t>/forgot-password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1"/>
          <p:cNvSpPr/>
          <p:nvPr/>
        </p:nvSpPr>
        <p:spPr>
          <a:xfrm>
            <a:off x="731520" y="3840480"/>
            <a:ext cx="34746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onsolas"/>
                <a:ea typeface="Consolas"/>
                <a:cs typeface="Consolas"/>
                <a:sym typeface="Consolas"/>
              </a:rPr>
              <a:t>/reset-password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1"/>
          <p:cNvSpPr/>
          <p:nvPr/>
        </p:nvSpPr>
        <p:spPr>
          <a:xfrm>
            <a:off x="4754880" y="2834640"/>
            <a:ext cx="4114800" cy="1737300"/>
          </a:xfrm>
          <a:prstGeom prst="rect">
            <a:avLst/>
          </a:prstGeom>
          <a:solidFill>
            <a:srgbClr val="1E2235"/>
          </a:solidFill>
          <a:ln cap="flat" cmpd="sng" w="9525">
            <a:solidFill>
              <a:srgbClr val="2E33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11"/>
          <p:cNvSpPr/>
          <p:nvPr/>
        </p:nvSpPr>
        <p:spPr>
          <a:xfrm>
            <a:off x="4937760" y="2926080"/>
            <a:ext cx="3657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A5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22D3A5"/>
                </a:solidFill>
                <a:latin typeface="Calibri"/>
                <a:ea typeface="Calibri"/>
                <a:cs typeface="Calibri"/>
                <a:sym typeface="Calibri"/>
              </a:rPr>
              <a:t>Rutas Privadas (app)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11"/>
          <p:cNvSpPr/>
          <p:nvPr/>
        </p:nvSpPr>
        <p:spPr>
          <a:xfrm>
            <a:off x="4937760" y="3291840"/>
            <a:ext cx="36576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Requieren sesión activa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1"/>
          <p:cNvSpPr/>
          <p:nvPr/>
        </p:nvSpPr>
        <p:spPr>
          <a:xfrm>
            <a:off x="4937760" y="3566160"/>
            <a:ext cx="36576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Layout privado ejecuta requireSession()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1"/>
          <p:cNvSpPr/>
          <p:nvPr/>
        </p:nvSpPr>
        <p:spPr>
          <a:xfrm>
            <a:off x="4937760" y="3840450"/>
            <a:ext cx="36576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7171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87171"/>
                </a:solidFill>
                <a:latin typeface="Calibri"/>
                <a:ea typeface="Calibri"/>
                <a:cs typeface="Calibri"/>
                <a:sym typeface="Calibri"/>
              </a:rPr>
              <a:t>Sin sesión → redirige a /login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117"/>
        </a:solidFill>
      </p:bgPr>
    </p:bg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12"/>
          <p:cNvSpPr/>
          <p:nvPr/>
        </p:nvSpPr>
        <p:spPr>
          <a:xfrm>
            <a:off x="411480" y="201168"/>
            <a:ext cx="54900" cy="40230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12"/>
          <p:cNvSpPr/>
          <p:nvPr/>
        </p:nvSpPr>
        <p:spPr>
          <a:xfrm>
            <a:off x="548640" y="201168"/>
            <a:ext cx="82296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Layout 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2"/>
          <p:cNvSpPr/>
          <p:nvPr/>
        </p:nvSpPr>
        <p:spPr>
          <a:xfrm>
            <a:off x="548640" y="658368"/>
            <a:ext cx="8229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sidebar-data.ts · app-sidebar.tsx · filterByRole()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12"/>
          <p:cNvSpPr/>
          <p:nvPr/>
        </p:nvSpPr>
        <p:spPr>
          <a:xfrm>
            <a:off x="365760" y="1005840"/>
            <a:ext cx="5303400" cy="3474600"/>
          </a:xfrm>
          <a:prstGeom prst="rect">
            <a:avLst/>
          </a:prstGeom>
          <a:solidFill>
            <a:srgbClr val="1E2235"/>
          </a:solidFill>
          <a:ln cap="flat" cmpd="sng" w="12700">
            <a:solidFill>
              <a:srgbClr val="2E33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12"/>
          <p:cNvSpPr/>
          <p:nvPr/>
        </p:nvSpPr>
        <p:spPr>
          <a:xfrm>
            <a:off x="365760" y="1005840"/>
            <a:ext cx="1097400" cy="3474600"/>
          </a:xfrm>
          <a:prstGeom prst="rect">
            <a:avLst/>
          </a:prstGeom>
          <a:solidFill>
            <a:srgbClr val="161824"/>
          </a:solidFill>
          <a:ln cap="flat" cmpd="sng" w="9525">
            <a:solidFill>
              <a:srgbClr val="2E33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12"/>
          <p:cNvSpPr/>
          <p:nvPr/>
        </p:nvSpPr>
        <p:spPr>
          <a:xfrm>
            <a:off x="365760" y="2103120"/>
            <a:ext cx="1097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C63FF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C63FF"/>
                </a:solidFill>
                <a:latin typeface="Calibri"/>
                <a:ea typeface="Calibri"/>
                <a:cs typeface="Calibri"/>
                <a:sym typeface="Calibri"/>
              </a:rPr>
              <a:t>SIDEBAR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2"/>
          <p:cNvSpPr/>
          <p:nvPr/>
        </p:nvSpPr>
        <p:spPr>
          <a:xfrm>
            <a:off x="457200" y="1417320"/>
            <a:ext cx="914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Dashboard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2"/>
          <p:cNvSpPr/>
          <p:nvPr/>
        </p:nvSpPr>
        <p:spPr>
          <a:xfrm>
            <a:off x="457200" y="1819656"/>
            <a:ext cx="914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Equipos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12"/>
          <p:cNvSpPr/>
          <p:nvPr/>
        </p:nvSpPr>
        <p:spPr>
          <a:xfrm>
            <a:off x="457200" y="2221992"/>
            <a:ext cx="914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Órdenes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12"/>
          <p:cNvSpPr/>
          <p:nvPr/>
        </p:nvSpPr>
        <p:spPr>
          <a:xfrm>
            <a:off x="457200" y="2624328"/>
            <a:ext cx="914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Tickets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2"/>
          <p:cNvSpPr/>
          <p:nvPr/>
        </p:nvSpPr>
        <p:spPr>
          <a:xfrm>
            <a:off x="457200" y="3026664"/>
            <a:ext cx="914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Inventario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12"/>
          <p:cNvSpPr/>
          <p:nvPr/>
        </p:nvSpPr>
        <p:spPr>
          <a:xfrm>
            <a:off x="1463040" y="1005840"/>
            <a:ext cx="4206300" cy="411600"/>
          </a:xfrm>
          <a:prstGeom prst="rect">
            <a:avLst/>
          </a:prstGeom>
          <a:solidFill>
            <a:srgbClr val="1B1E2E"/>
          </a:solidFill>
          <a:ln cap="flat" cmpd="sng" w="9525">
            <a:solidFill>
              <a:srgbClr val="2E33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12"/>
          <p:cNvSpPr/>
          <p:nvPr/>
        </p:nvSpPr>
        <p:spPr>
          <a:xfrm>
            <a:off x="1463040" y="1005840"/>
            <a:ext cx="42063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38BDF8"/>
                </a:solidFill>
                <a:latin typeface="Calibri"/>
                <a:ea typeface="Calibri"/>
                <a:cs typeface="Calibri"/>
                <a:sym typeface="Calibri"/>
              </a:rPr>
              <a:t>HEADER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12"/>
          <p:cNvSpPr/>
          <p:nvPr/>
        </p:nvSpPr>
        <p:spPr>
          <a:xfrm>
            <a:off x="1463040" y="1417320"/>
            <a:ext cx="4206300" cy="2651700"/>
          </a:xfrm>
          <a:prstGeom prst="rect">
            <a:avLst/>
          </a:prstGeom>
          <a:solidFill>
            <a:srgbClr val="1E2235"/>
          </a:solidFill>
          <a:ln cap="flat" cmpd="sng" w="9525">
            <a:solidFill>
              <a:srgbClr val="2E33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12"/>
          <p:cNvSpPr/>
          <p:nvPr/>
        </p:nvSpPr>
        <p:spPr>
          <a:xfrm>
            <a:off x="1463040" y="2560320"/>
            <a:ext cx="42063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Área de Contenido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2"/>
          <p:cNvSpPr/>
          <p:nvPr/>
        </p:nvSpPr>
        <p:spPr>
          <a:xfrm>
            <a:off x="1463040" y="4069080"/>
            <a:ext cx="4206300" cy="411600"/>
          </a:xfrm>
          <a:prstGeom prst="rect">
            <a:avLst/>
          </a:prstGeom>
          <a:solidFill>
            <a:srgbClr val="1B1E2E"/>
          </a:solidFill>
          <a:ln cap="flat" cmpd="sng" w="9525">
            <a:solidFill>
              <a:srgbClr val="2E33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12"/>
          <p:cNvSpPr/>
          <p:nvPr/>
        </p:nvSpPr>
        <p:spPr>
          <a:xfrm>
            <a:off x="1463040" y="4069080"/>
            <a:ext cx="42063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FOOTER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12"/>
          <p:cNvSpPr/>
          <p:nvPr/>
        </p:nvSpPr>
        <p:spPr>
          <a:xfrm>
            <a:off x="5943600" y="1005840"/>
            <a:ext cx="2834700" cy="3474600"/>
          </a:xfrm>
          <a:prstGeom prst="rect">
            <a:avLst/>
          </a:prstGeom>
          <a:solidFill>
            <a:srgbClr val="1E2235"/>
          </a:solidFill>
          <a:ln cap="flat" cmpd="sng" w="9525">
            <a:solidFill>
              <a:srgbClr val="2E33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12"/>
          <p:cNvSpPr/>
          <p:nvPr/>
        </p:nvSpPr>
        <p:spPr>
          <a:xfrm>
            <a:off x="6126480" y="1097280"/>
            <a:ext cx="2560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Roles y Visibil</a:t>
            </a:r>
            <a:r>
              <a:rPr b="1" i="0" lang="en-US" sz="12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b="1" i="0" lang="en-US" sz="12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dad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12"/>
          <p:cNvSpPr/>
          <p:nvPr/>
        </p:nvSpPr>
        <p:spPr>
          <a:xfrm>
            <a:off x="6126480" y="1508760"/>
            <a:ext cx="25602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63FF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6C63FF"/>
                </a:solidFill>
                <a:latin typeface="Consolas"/>
                <a:ea typeface="Consolas"/>
                <a:cs typeface="Consolas"/>
                <a:sym typeface="Consolas"/>
              </a:rPr>
              <a:t>admin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2"/>
          <p:cNvSpPr/>
          <p:nvPr/>
        </p:nvSpPr>
        <p:spPr>
          <a:xfrm>
            <a:off x="6126480" y="1764792"/>
            <a:ext cx="25602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Dashboard · Equipos · Órdenes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12"/>
          <p:cNvSpPr/>
          <p:nvPr/>
        </p:nvSpPr>
        <p:spPr>
          <a:xfrm>
            <a:off x="6126480" y="1984248"/>
            <a:ext cx="25602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Tickets · Inventario · Usu</a:t>
            </a: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rio</a:t>
            </a: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2"/>
          <p:cNvSpPr/>
          <p:nvPr/>
        </p:nvSpPr>
        <p:spPr>
          <a:xfrm>
            <a:off x="6126480" y="2203704"/>
            <a:ext cx="25602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Carga mecánicos · V</a:t>
            </a: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lidaciones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12"/>
          <p:cNvSpPr/>
          <p:nvPr/>
        </p:nvSpPr>
        <p:spPr>
          <a:xfrm>
            <a:off x="6126480" y="2532888"/>
            <a:ext cx="25602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38BDF8"/>
                </a:solidFill>
                <a:latin typeface="Consolas"/>
                <a:ea typeface="Consolas"/>
                <a:cs typeface="Consolas"/>
                <a:sym typeface="Consolas"/>
              </a:rPr>
              <a:t>jefe_taller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2"/>
          <p:cNvSpPr/>
          <p:nvPr/>
        </p:nvSpPr>
        <p:spPr>
          <a:xfrm>
            <a:off x="6126480" y="2788920"/>
            <a:ext cx="25602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Dashboard · Equipos · Ó</a:t>
            </a: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denes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2"/>
          <p:cNvSpPr/>
          <p:nvPr/>
        </p:nvSpPr>
        <p:spPr>
          <a:xfrm>
            <a:off x="6126480" y="3008376"/>
            <a:ext cx="25602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Tickets · Inventario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2"/>
          <p:cNvSpPr/>
          <p:nvPr/>
        </p:nvSpPr>
        <p:spPr>
          <a:xfrm>
            <a:off x="6126480" y="3227832"/>
            <a:ext cx="25602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Carga de mecáni</a:t>
            </a: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os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12"/>
          <p:cNvSpPr/>
          <p:nvPr/>
        </p:nvSpPr>
        <p:spPr>
          <a:xfrm>
            <a:off x="6126480" y="3557016"/>
            <a:ext cx="25602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A5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22D3A5"/>
                </a:solidFill>
                <a:latin typeface="Consolas"/>
                <a:ea typeface="Consolas"/>
                <a:cs typeface="Consolas"/>
                <a:sym typeface="Consolas"/>
              </a:rPr>
              <a:t>mechanic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12"/>
          <p:cNvSpPr/>
          <p:nvPr/>
        </p:nvSpPr>
        <p:spPr>
          <a:xfrm>
            <a:off x="6126480" y="3813048"/>
            <a:ext cx="25602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Mis Tickets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12"/>
          <p:cNvSpPr/>
          <p:nvPr/>
        </p:nvSpPr>
        <p:spPr>
          <a:xfrm>
            <a:off x="6126480" y="4032504"/>
            <a:ext cx="25602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Mi Perfil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8FA"/>
        </a:solidFill>
      </p:bgPr>
    </p:bg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13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A78BFA">
              <a:alpha val="80000"/>
            </a:srgbClr>
          </a:solidFill>
          <a:ln cap="flat" cmpd="sng" w="12700">
            <a:solidFill>
              <a:srgbClr val="A78BFA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13"/>
          <p:cNvSpPr/>
          <p:nvPr/>
        </p:nvSpPr>
        <p:spPr>
          <a:xfrm>
            <a:off x="457200" y="50292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0D10"/>
              </a:buClr>
              <a:buSzPts val="2400"/>
              <a:buFont typeface="Trebuchet MS"/>
              <a:buNone/>
            </a:pPr>
            <a:r>
              <a:rPr b="1" i="0" lang="en-US" sz="2400" u="none" cap="none" strike="noStrike">
                <a:solidFill>
                  <a:srgbClr val="0D0D10"/>
                </a:solidFill>
                <a:latin typeface="Trebuchet MS"/>
                <a:ea typeface="Trebuchet MS"/>
                <a:cs typeface="Trebuchet MS"/>
                <a:sym typeface="Trebuchet MS"/>
              </a:rPr>
              <a:t>Navegación dinámica por rol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3"/>
          <p:cNvSpPr/>
          <p:nvPr/>
        </p:nvSpPr>
        <p:spPr>
          <a:xfrm>
            <a:off x="457200" y="960120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37388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737388"/>
                </a:solidFill>
                <a:latin typeface="Calibri"/>
                <a:ea typeface="Calibri"/>
                <a:cs typeface="Calibri"/>
                <a:sym typeface="Calibri"/>
              </a:rPr>
              <a:t>sidebar-data.ts + app-sidebar.tsx + filterByRole() — el menú se adapta al rol del usuario autenticado.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3"/>
          <p:cNvSpPr/>
          <p:nvPr/>
        </p:nvSpPr>
        <p:spPr>
          <a:xfrm>
            <a:off x="457200" y="1325880"/>
            <a:ext cx="2697480" cy="3291840"/>
          </a:xfrm>
          <a:prstGeom prst="rect">
            <a:avLst/>
          </a:prstGeom>
          <a:solidFill>
            <a:srgbClr val="16161C"/>
          </a:solidFill>
          <a:ln cap="flat" cmpd="sng" w="9525">
            <a:solidFill>
              <a:srgbClr val="3A3A4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13"/>
          <p:cNvSpPr/>
          <p:nvPr/>
        </p:nvSpPr>
        <p:spPr>
          <a:xfrm>
            <a:off x="457200" y="1325880"/>
            <a:ext cx="2697480" cy="64008"/>
          </a:xfrm>
          <a:prstGeom prst="rect">
            <a:avLst/>
          </a:prstGeom>
          <a:solidFill>
            <a:srgbClr val="6152E8"/>
          </a:solidFill>
          <a:ln cap="flat" cmpd="sng" w="12700">
            <a:solidFill>
              <a:srgbClr val="6152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13"/>
          <p:cNvSpPr/>
          <p:nvPr/>
        </p:nvSpPr>
        <p:spPr>
          <a:xfrm>
            <a:off x="594360" y="1426464"/>
            <a:ext cx="2423160" cy="274320"/>
          </a:xfrm>
          <a:prstGeom prst="rect">
            <a:avLst/>
          </a:prstGeom>
          <a:solidFill>
            <a:srgbClr val="6152E8">
              <a:alpha val="85098"/>
            </a:srgbClr>
          </a:solidFill>
          <a:ln cap="flat" cmpd="sng" w="12700">
            <a:solidFill>
              <a:srgbClr val="6152E8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13"/>
          <p:cNvSpPr/>
          <p:nvPr/>
        </p:nvSpPr>
        <p:spPr>
          <a:xfrm>
            <a:off x="640080" y="1435608"/>
            <a:ext cx="2331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152E8"/>
              </a:buClr>
              <a:buSzPts val="1000"/>
              <a:buFont typeface="Consolas"/>
              <a:buNone/>
            </a:pPr>
            <a:r>
              <a:rPr b="1" i="0" lang="en-US" sz="1000" u="none" cap="none" strike="noStrike">
                <a:solidFill>
                  <a:srgbClr val="6152E8"/>
                </a:solidFill>
                <a:latin typeface="Consolas"/>
                <a:ea typeface="Consolas"/>
                <a:cs typeface="Consolas"/>
                <a:sym typeface="Consolas"/>
              </a:rPr>
              <a:t>admin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13"/>
          <p:cNvSpPr/>
          <p:nvPr/>
        </p:nvSpPr>
        <p:spPr>
          <a:xfrm>
            <a:off x="594360" y="1783080"/>
            <a:ext cx="2423160" cy="246888"/>
          </a:xfrm>
          <a:prstGeom prst="rect">
            <a:avLst/>
          </a:prstGeom>
          <a:solidFill>
            <a:srgbClr val="6152E8"/>
          </a:solidFill>
          <a:ln cap="flat" cmpd="sng" w="9525">
            <a:solidFill>
              <a:srgbClr val="3A3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13"/>
          <p:cNvSpPr/>
          <p:nvPr/>
        </p:nvSpPr>
        <p:spPr>
          <a:xfrm>
            <a:off x="640080" y="1801368"/>
            <a:ext cx="233172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▶  Dashboard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13"/>
          <p:cNvSpPr/>
          <p:nvPr/>
        </p:nvSpPr>
        <p:spPr>
          <a:xfrm>
            <a:off x="594360" y="2066544"/>
            <a:ext cx="2423160" cy="246888"/>
          </a:xfrm>
          <a:prstGeom prst="rect">
            <a:avLst/>
          </a:prstGeom>
          <a:solidFill>
            <a:srgbClr val="1E1E28">
              <a:alpha val="60000"/>
            </a:srgbClr>
          </a:solidFill>
          <a:ln cap="flat" cmpd="sng" w="9525">
            <a:solidFill>
              <a:srgbClr val="3A3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13"/>
          <p:cNvSpPr/>
          <p:nvPr/>
        </p:nvSpPr>
        <p:spPr>
          <a:xfrm>
            <a:off x="640080" y="2084832"/>
            <a:ext cx="233172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C8D4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C8C8D4"/>
                </a:solidFill>
                <a:latin typeface="Calibri"/>
                <a:ea typeface="Calibri"/>
                <a:cs typeface="Calibri"/>
                <a:sym typeface="Calibri"/>
              </a:rPr>
              <a:t>    Equipos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3"/>
          <p:cNvSpPr/>
          <p:nvPr/>
        </p:nvSpPr>
        <p:spPr>
          <a:xfrm>
            <a:off x="594360" y="2350008"/>
            <a:ext cx="2423160" cy="246888"/>
          </a:xfrm>
          <a:prstGeom prst="rect">
            <a:avLst/>
          </a:prstGeom>
          <a:solidFill>
            <a:srgbClr val="1E1E28">
              <a:alpha val="60000"/>
            </a:srgbClr>
          </a:solidFill>
          <a:ln cap="flat" cmpd="sng" w="9525">
            <a:solidFill>
              <a:srgbClr val="3A3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13"/>
          <p:cNvSpPr/>
          <p:nvPr/>
        </p:nvSpPr>
        <p:spPr>
          <a:xfrm>
            <a:off x="640080" y="2368296"/>
            <a:ext cx="233172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C8D4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C8C8D4"/>
                </a:solidFill>
                <a:latin typeface="Calibri"/>
                <a:ea typeface="Calibri"/>
                <a:cs typeface="Calibri"/>
                <a:sym typeface="Calibri"/>
              </a:rPr>
              <a:t>    Órdenes de trabajo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3"/>
          <p:cNvSpPr/>
          <p:nvPr/>
        </p:nvSpPr>
        <p:spPr>
          <a:xfrm>
            <a:off x="594360" y="2633472"/>
            <a:ext cx="2423160" cy="246888"/>
          </a:xfrm>
          <a:prstGeom prst="rect">
            <a:avLst/>
          </a:prstGeom>
          <a:solidFill>
            <a:srgbClr val="1E1E28">
              <a:alpha val="60000"/>
            </a:srgbClr>
          </a:solidFill>
          <a:ln cap="flat" cmpd="sng" w="9525">
            <a:solidFill>
              <a:srgbClr val="3A3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13"/>
          <p:cNvSpPr/>
          <p:nvPr/>
        </p:nvSpPr>
        <p:spPr>
          <a:xfrm>
            <a:off x="640080" y="2651760"/>
            <a:ext cx="233172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C8D4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C8C8D4"/>
                </a:solidFill>
                <a:latin typeface="Calibri"/>
                <a:ea typeface="Calibri"/>
                <a:cs typeface="Calibri"/>
                <a:sym typeface="Calibri"/>
              </a:rPr>
              <a:t>    Tickets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3"/>
          <p:cNvSpPr/>
          <p:nvPr/>
        </p:nvSpPr>
        <p:spPr>
          <a:xfrm>
            <a:off x="594360" y="2916936"/>
            <a:ext cx="2423160" cy="246888"/>
          </a:xfrm>
          <a:prstGeom prst="rect">
            <a:avLst/>
          </a:prstGeom>
          <a:solidFill>
            <a:srgbClr val="1E1E28">
              <a:alpha val="60000"/>
            </a:srgbClr>
          </a:solidFill>
          <a:ln cap="flat" cmpd="sng" w="9525">
            <a:solidFill>
              <a:srgbClr val="3A3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13"/>
          <p:cNvSpPr/>
          <p:nvPr/>
        </p:nvSpPr>
        <p:spPr>
          <a:xfrm>
            <a:off x="640080" y="2935224"/>
            <a:ext cx="233172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C8D4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C8C8D4"/>
                </a:solidFill>
                <a:latin typeface="Calibri"/>
                <a:ea typeface="Calibri"/>
                <a:cs typeface="Calibri"/>
                <a:sym typeface="Calibri"/>
              </a:rPr>
              <a:t>    Inventario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13"/>
          <p:cNvSpPr/>
          <p:nvPr/>
        </p:nvSpPr>
        <p:spPr>
          <a:xfrm>
            <a:off x="594360" y="3200400"/>
            <a:ext cx="2423160" cy="246888"/>
          </a:xfrm>
          <a:prstGeom prst="rect">
            <a:avLst/>
          </a:prstGeom>
          <a:solidFill>
            <a:srgbClr val="1E1E28">
              <a:alpha val="60000"/>
            </a:srgbClr>
          </a:solidFill>
          <a:ln cap="flat" cmpd="sng" w="9525">
            <a:solidFill>
              <a:srgbClr val="3A3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13"/>
          <p:cNvSpPr/>
          <p:nvPr/>
        </p:nvSpPr>
        <p:spPr>
          <a:xfrm>
            <a:off x="640080" y="3218688"/>
            <a:ext cx="233172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C8D4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C8C8D4"/>
                </a:solidFill>
                <a:latin typeface="Calibri"/>
                <a:ea typeface="Calibri"/>
                <a:cs typeface="Calibri"/>
                <a:sym typeface="Calibri"/>
              </a:rPr>
              <a:t>    Usuarios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13"/>
          <p:cNvSpPr/>
          <p:nvPr/>
        </p:nvSpPr>
        <p:spPr>
          <a:xfrm>
            <a:off x="594360" y="3483864"/>
            <a:ext cx="2423160" cy="246888"/>
          </a:xfrm>
          <a:prstGeom prst="rect">
            <a:avLst/>
          </a:prstGeom>
          <a:solidFill>
            <a:srgbClr val="1E1E28">
              <a:alpha val="60000"/>
            </a:srgbClr>
          </a:solidFill>
          <a:ln cap="flat" cmpd="sng" w="9525">
            <a:solidFill>
              <a:srgbClr val="3A3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13"/>
          <p:cNvSpPr/>
          <p:nvPr/>
        </p:nvSpPr>
        <p:spPr>
          <a:xfrm>
            <a:off x="640080" y="3502152"/>
            <a:ext cx="233172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C8D4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C8C8D4"/>
                </a:solidFill>
                <a:latin typeface="Calibri"/>
                <a:ea typeface="Calibri"/>
                <a:cs typeface="Calibri"/>
                <a:sym typeface="Calibri"/>
              </a:rPr>
              <a:t>    Pendientes validar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13"/>
          <p:cNvSpPr/>
          <p:nvPr/>
        </p:nvSpPr>
        <p:spPr>
          <a:xfrm>
            <a:off x="594360" y="3767328"/>
            <a:ext cx="2423160" cy="246888"/>
          </a:xfrm>
          <a:prstGeom prst="rect">
            <a:avLst/>
          </a:prstGeom>
          <a:solidFill>
            <a:srgbClr val="1E1E28">
              <a:alpha val="60000"/>
            </a:srgbClr>
          </a:solidFill>
          <a:ln cap="flat" cmpd="sng" w="9525">
            <a:solidFill>
              <a:srgbClr val="3A3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13"/>
          <p:cNvSpPr/>
          <p:nvPr/>
        </p:nvSpPr>
        <p:spPr>
          <a:xfrm>
            <a:off x="640080" y="3785616"/>
            <a:ext cx="233172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C8D4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C8C8D4"/>
                </a:solidFill>
                <a:latin typeface="Calibri"/>
                <a:ea typeface="Calibri"/>
                <a:cs typeface="Calibri"/>
                <a:sym typeface="Calibri"/>
              </a:rPr>
              <a:t>    Carga de mecánicos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13"/>
          <p:cNvSpPr/>
          <p:nvPr/>
        </p:nvSpPr>
        <p:spPr>
          <a:xfrm>
            <a:off x="594360" y="4050792"/>
            <a:ext cx="2423160" cy="246888"/>
          </a:xfrm>
          <a:prstGeom prst="rect">
            <a:avLst/>
          </a:prstGeom>
          <a:solidFill>
            <a:srgbClr val="1E1E28">
              <a:alpha val="60000"/>
            </a:srgbClr>
          </a:solidFill>
          <a:ln cap="flat" cmpd="sng" w="9525">
            <a:solidFill>
              <a:srgbClr val="3A3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p13"/>
          <p:cNvSpPr/>
          <p:nvPr/>
        </p:nvSpPr>
        <p:spPr>
          <a:xfrm>
            <a:off x="640080" y="4069080"/>
            <a:ext cx="233172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C8D4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C8C8D4"/>
                </a:solidFill>
                <a:latin typeface="Calibri"/>
                <a:ea typeface="Calibri"/>
                <a:cs typeface="Calibri"/>
                <a:sym typeface="Calibri"/>
              </a:rPr>
              <a:t>    Perfil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13"/>
          <p:cNvSpPr/>
          <p:nvPr/>
        </p:nvSpPr>
        <p:spPr>
          <a:xfrm>
            <a:off x="3337560" y="1325880"/>
            <a:ext cx="2697480" cy="3291840"/>
          </a:xfrm>
          <a:prstGeom prst="rect">
            <a:avLst/>
          </a:prstGeom>
          <a:solidFill>
            <a:srgbClr val="16161C"/>
          </a:solidFill>
          <a:ln cap="flat" cmpd="sng" w="9525">
            <a:solidFill>
              <a:srgbClr val="3A3A4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13"/>
          <p:cNvSpPr/>
          <p:nvPr/>
        </p:nvSpPr>
        <p:spPr>
          <a:xfrm>
            <a:off x="3337560" y="1325880"/>
            <a:ext cx="2697480" cy="64008"/>
          </a:xfrm>
          <a:prstGeom prst="rect">
            <a:avLst/>
          </a:prstGeom>
          <a:solidFill>
            <a:srgbClr val="FBBF24"/>
          </a:solidFill>
          <a:ln cap="flat" cmpd="sng" w="12700">
            <a:solidFill>
              <a:srgbClr val="FBBF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13"/>
          <p:cNvSpPr/>
          <p:nvPr/>
        </p:nvSpPr>
        <p:spPr>
          <a:xfrm>
            <a:off x="3474720" y="1426464"/>
            <a:ext cx="2423160" cy="274320"/>
          </a:xfrm>
          <a:prstGeom prst="rect">
            <a:avLst/>
          </a:prstGeom>
          <a:solidFill>
            <a:srgbClr val="FBBF24">
              <a:alpha val="85098"/>
            </a:srgbClr>
          </a:solidFill>
          <a:ln cap="flat" cmpd="sng" w="12700">
            <a:solidFill>
              <a:srgbClr val="FBBF24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13"/>
          <p:cNvSpPr/>
          <p:nvPr/>
        </p:nvSpPr>
        <p:spPr>
          <a:xfrm>
            <a:off x="3520440" y="1435608"/>
            <a:ext cx="2331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BBF24"/>
              </a:buClr>
              <a:buSzPts val="1000"/>
              <a:buFont typeface="Consolas"/>
              <a:buNone/>
            </a:pPr>
            <a:r>
              <a:rPr b="1" i="0" lang="en-US" sz="1000" u="none" cap="none" strike="noStrike">
                <a:solidFill>
                  <a:srgbClr val="FBBF24"/>
                </a:solidFill>
                <a:latin typeface="Consolas"/>
                <a:ea typeface="Consolas"/>
                <a:cs typeface="Consolas"/>
                <a:sym typeface="Consolas"/>
              </a:rPr>
              <a:t>jefe_taller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13"/>
          <p:cNvSpPr/>
          <p:nvPr/>
        </p:nvSpPr>
        <p:spPr>
          <a:xfrm>
            <a:off x="3474720" y="1783080"/>
            <a:ext cx="2423160" cy="246888"/>
          </a:xfrm>
          <a:prstGeom prst="rect">
            <a:avLst/>
          </a:prstGeom>
          <a:solidFill>
            <a:srgbClr val="6152E8"/>
          </a:solidFill>
          <a:ln cap="flat" cmpd="sng" w="9525">
            <a:solidFill>
              <a:srgbClr val="3A3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13"/>
          <p:cNvSpPr/>
          <p:nvPr/>
        </p:nvSpPr>
        <p:spPr>
          <a:xfrm>
            <a:off x="3520440" y="1801368"/>
            <a:ext cx="233172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▶  Dashboard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13"/>
          <p:cNvSpPr/>
          <p:nvPr/>
        </p:nvSpPr>
        <p:spPr>
          <a:xfrm>
            <a:off x="3474720" y="2066544"/>
            <a:ext cx="2423160" cy="246888"/>
          </a:xfrm>
          <a:prstGeom prst="rect">
            <a:avLst/>
          </a:prstGeom>
          <a:solidFill>
            <a:srgbClr val="1E1E28">
              <a:alpha val="60000"/>
            </a:srgbClr>
          </a:solidFill>
          <a:ln cap="flat" cmpd="sng" w="9525">
            <a:solidFill>
              <a:srgbClr val="3A3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13"/>
          <p:cNvSpPr/>
          <p:nvPr/>
        </p:nvSpPr>
        <p:spPr>
          <a:xfrm>
            <a:off x="3520440" y="2084832"/>
            <a:ext cx="233172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C8D4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C8C8D4"/>
                </a:solidFill>
                <a:latin typeface="Calibri"/>
                <a:ea typeface="Calibri"/>
                <a:cs typeface="Calibri"/>
                <a:sym typeface="Calibri"/>
              </a:rPr>
              <a:t>    Equipos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13"/>
          <p:cNvSpPr/>
          <p:nvPr/>
        </p:nvSpPr>
        <p:spPr>
          <a:xfrm>
            <a:off x="3474720" y="2350008"/>
            <a:ext cx="2423160" cy="246888"/>
          </a:xfrm>
          <a:prstGeom prst="rect">
            <a:avLst/>
          </a:prstGeom>
          <a:solidFill>
            <a:srgbClr val="1E1E28">
              <a:alpha val="60000"/>
            </a:srgbClr>
          </a:solidFill>
          <a:ln cap="flat" cmpd="sng" w="9525">
            <a:solidFill>
              <a:srgbClr val="3A3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p13"/>
          <p:cNvSpPr/>
          <p:nvPr/>
        </p:nvSpPr>
        <p:spPr>
          <a:xfrm>
            <a:off x="3520440" y="2368296"/>
            <a:ext cx="233172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C8D4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C8C8D4"/>
                </a:solidFill>
                <a:latin typeface="Calibri"/>
                <a:ea typeface="Calibri"/>
                <a:cs typeface="Calibri"/>
                <a:sym typeface="Calibri"/>
              </a:rPr>
              <a:t>    Órdenes de trabajo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13"/>
          <p:cNvSpPr/>
          <p:nvPr/>
        </p:nvSpPr>
        <p:spPr>
          <a:xfrm>
            <a:off x="3474720" y="2633472"/>
            <a:ext cx="2423160" cy="246888"/>
          </a:xfrm>
          <a:prstGeom prst="rect">
            <a:avLst/>
          </a:prstGeom>
          <a:solidFill>
            <a:srgbClr val="1E1E28">
              <a:alpha val="60000"/>
            </a:srgbClr>
          </a:solidFill>
          <a:ln cap="flat" cmpd="sng" w="9525">
            <a:solidFill>
              <a:srgbClr val="3A3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13"/>
          <p:cNvSpPr/>
          <p:nvPr/>
        </p:nvSpPr>
        <p:spPr>
          <a:xfrm>
            <a:off x="3520440" y="2651760"/>
            <a:ext cx="233172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C8D4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C8C8D4"/>
                </a:solidFill>
                <a:latin typeface="Calibri"/>
                <a:ea typeface="Calibri"/>
                <a:cs typeface="Calibri"/>
                <a:sym typeface="Calibri"/>
              </a:rPr>
              <a:t>    Tickets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13"/>
          <p:cNvSpPr/>
          <p:nvPr/>
        </p:nvSpPr>
        <p:spPr>
          <a:xfrm>
            <a:off x="3474720" y="2916936"/>
            <a:ext cx="2423160" cy="246888"/>
          </a:xfrm>
          <a:prstGeom prst="rect">
            <a:avLst/>
          </a:prstGeom>
          <a:solidFill>
            <a:srgbClr val="1E1E28">
              <a:alpha val="60000"/>
            </a:srgbClr>
          </a:solidFill>
          <a:ln cap="flat" cmpd="sng" w="9525">
            <a:solidFill>
              <a:srgbClr val="3A3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13"/>
          <p:cNvSpPr/>
          <p:nvPr/>
        </p:nvSpPr>
        <p:spPr>
          <a:xfrm>
            <a:off x="3520440" y="2935224"/>
            <a:ext cx="233172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C8D4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C8C8D4"/>
                </a:solidFill>
                <a:latin typeface="Calibri"/>
                <a:ea typeface="Calibri"/>
                <a:cs typeface="Calibri"/>
                <a:sym typeface="Calibri"/>
              </a:rPr>
              <a:t>    Inventario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13"/>
          <p:cNvSpPr/>
          <p:nvPr/>
        </p:nvSpPr>
        <p:spPr>
          <a:xfrm>
            <a:off x="3474720" y="3200400"/>
            <a:ext cx="2423160" cy="246888"/>
          </a:xfrm>
          <a:prstGeom prst="rect">
            <a:avLst/>
          </a:prstGeom>
          <a:solidFill>
            <a:srgbClr val="1E1E28">
              <a:alpha val="60000"/>
            </a:srgbClr>
          </a:solidFill>
          <a:ln cap="flat" cmpd="sng" w="9525">
            <a:solidFill>
              <a:srgbClr val="3A3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13"/>
          <p:cNvSpPr/>
          <p:nvPr/>
        </p:nvSpPr>
        <p:spPr>
          <a:xfrm>
            <a:off x="3520440" y="3218688"/>
            <a:ext cx="233172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C8D4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C8C8D4"/>
                </a:solidFill>
                <a:latin typeface="Calibri"/>
                <a:ea typeface="Calibri"/>
                <a:cs typeface="Calibri"/>
                <a:sym typeface="Calibri"/>
              </a:rPr>
              <a:t>    Carga de mecánicos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13"/>
          <p:cNvSpPr/>
          <p:nvPr/>
        </p:nvSpPr>
        <p:spPr>
          <a:xfrm>
            <a:off x="3474720" y="3483864"/>
            <a:ext cx="2423160" cy="246888"/>
          </a:xfrm>
          <a:prstGeom prst="rect">
            <a:avLst/>
          </a:prstGeom>
          <a:solidFill>
            <a:srgbClr val="1E1E28">
              <a:alpha val="60000"/>
            </a:srgbClr>
          </a:solidFill>
          <a:ln cap="flat" cmpd="sng" w="9525">
            <a:solidFill>
              <a:srgbClr val="3A3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p13"/>
          <p:cNvSpPr/>
          <p:nvPr/>
        </p:nvSpPr>
        <p:spPr>
          <a:xfrm>
            <a:off x="3520440" y="3502152"/>
            <a:ext cx="233172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C8D4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C8C8D4"/>
                </a:solidFill>
                <a:latin typeface="Calibri"/>
                <a:ea typeface="Calibri"/>
                <a:cs typeface="Calibri"/>
                <a:sym typeface="Calibri"/>
              </a:rPr>
              <a:t>    Perfil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13"/>
          <p:cNvSpPr/>
          <p:nvPr/>
        </p:nvSpPr>
        <p:spPr>
          <a:xfrm>
            <a:off x="6217920" y="1307580"/>
            <a:ext cx="2697600" cy="3291900"/>
          </a:xfrm>
          <a:prstGeom prst="rect">
            <a:avLst/>
          </a:prstGeom>
          <a:solidFill>
            <a:srgbClr val="16161C"/>
          </a:solidFill>
          <a:ln cap="flat" cmpd="sng" w="9525">
            <a:solidFill>
              <a:srgbClr val="3A3A4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p13"/>
          <p:cNvSpPr/>
          <p:nvPr/>
        </p:nvSpPr>
        <p:spPr>
          <a:xfrm>
            <a:off x="6217920" y="1325880"/>
            <a:ext cx="2697480" cy="64008"/>
          </a:xfrm>
          <a:prstGeom prst="rect">
            <a:avLst/>
          </a:prstGeom>
          <a:solidFill>
            <a:srgbClr val="4ADE80"/>
          </a:solidFill>
          <a:ln cap="flat" cmpd="sng" w="12700">
            <a:solidFill>
              <a:srgbClr val="4ADE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p13"/>
          <p:cNvSpPr/>
          <p:nvPr/>
        </p:nvSpPr>
        <p:spPr>
          <a:xfrm>
            <a:off x="6355080" y="1426464"/>
            <a:ext cx="2423160" cy="274320"/>
          </a:xfrm>
          <a:prstGeom prst="rect">
            <a:avLst/>
          </a:prstGeom>
          <a:solidFill>
            <a:srgbClr val="4ADE80">
              <a:alpha val="85098"/>
            </a:srgbClr>
          </a:solidFill>
          <a:ln cap="flat" cmpd="sng" w="12700">
            <a:solidFill>
              <a:srgbClr val="4ADE80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p13"/>
          <p:cNvSpPr/>
          <p:nvPr/>
        </p:nvSpPr>
        <p:spPr>
          <a:xfrm>
            <a:off x="6400800" y="1435608"/>
            <a:ext cx="2331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DE80"/>
              </a:buClr>
              <a:buSzPts val="1000"/>
              <a:buFont typeface="Consolas"/>
              <a:buNone/>
            </a:pPr>
            <a:r>
              <a:rPr b="1" i="0" lang="en-US" sz="1000" u="none" cap="none" strike="noStrike">
                <a:solidFill>
                  <a:srgbClr val="4ADE80"/>
                </a:solidFill>
                <a:latin typeface="Consolas"/>
                <a:ea typeface="Consolas"/>
                <a:cs typeface="Consolas"/>
                <a:sym typeface="Consolas"/>
              </a:rPr>
              <a:t>mechanic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13"/>
          <p:cNvSpPr/>
          <p:nvPr/>
        </p:nvSpPr>
        <p:spPr>
          <a:xfrm>
            <a:off x="6355080" y="1783080"/>
            <a:ext cx="2423160" cy="246888"/>
          </a:xfrm>
          <a:prstGeom prst="rect">
            <a:avLst/>
          </a:prstGeom>
          <a:solidFill>
            <a:srgbClr val="6152E8"/>
          </a:solidFill>
          <a:ln cap="flat" cmpd="sng" w="9525">
            <a:solidFill>
              <a:srgbClr val="3A3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p13"/>
          <p:cNvSpPr/>
          <p:nvPr/>
        </p:nvSpPr>
        <p:spPr>
          <a:xfrm>
            <a:off x="6400800" y="1801368"/>
            <a:ext cx="233172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▶  Mis Tickets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13"/>
          <p:cNvSpPr/>
          <p:nvPr/>
        </p:nvSpPr>
        <p:spPr>
          <a:xfrm>
            <a:off x="6355080" y="2066544"/>
            <a:ext cx="2423160" cy="246888"/>
          </a:xfrm>
          <a:prstGeom prst="rect">
            <a:avLst/>
          </a:prstGeom>
          <a:solidFill>
            <a:srgbClr val="1E1E28">
              <a:alpha val="60000"/>
            </a:srgbClr>
          </a:solidFill>
          <a:ln cap="flat" cmpd="sng" w="9525">
            <a:solidFill>
              <a:srgbClr val="3A3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p13"/>
          <p:cNvSpPr/>
          <p:nvPr/>
        </p:nvSpPr>
        <p:spPr>
          <a:xfrm>
            <a:off x="6400800" y="2084832"/>
            <a:ext cx="233172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C8D4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C8C8D4"/>
                </a:solidFill>
                <a:latin typeface="Calibri"/>
                <a:ea typeface="Calibri"/>
                <a:cs typeface="Calibri"/>
                <a:sym typeface="Calibri"/>
              </a:rPr>
              <a:t>    Perfil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13"/>
          <p:cNvSpPr/>
          <p:nvPr/>
        </p:nvSpPr>
        <p:spPr>
          <a:xfrm>
            <a:off x="457200" y="4690860"/>
            <a:ext cx="82296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37388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737388"/>
                </a:solidFill>
                <a:latin typeface="Calibri"/>
                <a:ea typeface="Calibri"/>
                <a:cs typeface="Calibri"/>
                <a:sym typeface="Calibri"/>
              </a:rPr>
              <a:t>filterByRole() filtra los grupos e ítems de sidebar-data.ts según el rol del perfil cargado por requireSession()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13"/>
          <p:cNvSpPr/>
          <p:nvPr/>
        </p:nvSpPr>
        <p:spPr>
          <a:xfrm>
            <a:off x="365760" y="4892040"/>
            <a:ext cx="7772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37388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737388"/>
                </a:solidFill>
                <a:latin typeface="Calibri"/>
                <a:ea typeface="Calibri"/>
                <a:cs typeface="Calibri"/>
                <a:sym typeface="Calibri"/>
              </a:rPr>
              <a:t>Trackt — TPY1101 Taller Aplicado de Programación  |  DUOC UC  |  2026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13"/>
          <p:cNvSpPr/>
          <p:nvPr/>
        </p:nvSpPr>
        <p:spPr>
          <a:xfrm>
            <a:off x="8503920" y="4892040"/>
            <a:ext cx="5486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37388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737388"/>
                </a:solidFill>
                <a:latin typeface="Calibri"/>
                <a:ea typeface="Calibri"/>
                <a:cs typeface="Calibri"/>
                <a:sym typeface="Calibri"/>
              </a:rPr>
              <a:t>8 / 20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117"/>
        </a:solidFill>
      </p:bgPr>
    </p:bg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14"/>
          <p:cNvSpPr/>
          <p:nvPr/>
        </p:nvSpPr>
        <p:spPr>
          <a:xfrm>
            <a:off x="411480" y="201168"/>
            <a:ext cx="54900" cy="40230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p14"/>
          <p:cNvSpPr/>
          <p:nvPr/>
        </p:nvSpPr>
        <p:spPr>
          <a:xfrm>
            <a:off x="548640" y="329168"/>
            <a:ext cx="82296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Design System y Componentes </a:t>
            </a:r>
            <a:r>
              <a:rPr b="1" lang="en-US" sz="24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 — base visual de TRACKT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2200"/>
              <a:buFont typeface="Calibri"/>
              <a:buNone/>
            </a:pPr>
            <a:r>
              <a:t/>
            </a:r>
            <a:endParaRPr b="1" sz="2200">
              <a:solidFill>
                <a:srgbClr val="F1F5F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14"/>
          <p:cNvSpPr/>
          <p:nvPr/>
        </p:nvSpPr>
        <p:spPr>
          <a:xfrm>
            <a:off x="548640" y="658368"/>
            <a:ext cx="8229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Tailwind CSS · globals.css · components/ui · components/core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14"/>
          <p:cNvSpPr/>
          <p:nvPr/>
        </p:nvSpPr>
        <p:spPr>
          <a:xfrm>
            <a:off x="365760" y="1005840"/>
            <a:ext cx="4023300" cy="1737300"/>
          </a:xfrm>
          <a:prstGeom prst="rect">
            <a:avLst/>
          </a:prstGeom>
          <a:solidFill>
            <a:srgbClr val="1E2235"/>
          </a:solidFill>
          <a:ln cap="flat" cmpd="sng" w="9525">
            <a:solidFill>
              <a:srgbClr val="2E33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p14"/>
          <p:cNvSpPr/>
          <p:nvPr/>
        </p:nvSpPr>
        <p:spPr>
          <a:xfrm>
            <a:off x="548640" y="1097280"/>
            <a:ext cx="3657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38BDF8"/>
                </a:solidFill>
                <a:latin typeface="Calibri"/>
                <a:ea typeface="Calibri"/>
                <a:cs typeface="Calibri"/>
                <a:sym typeface="Calibri"/>
              </a:rPr>
              <a:t>components/ui  (shadcn/ui)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14"/>
          <p:cNvSpPr/>
          <p:nvPr/>
        </p:nvSpPr>
        <p:spPr>
          <a:xfrm>
            <a:off x="548640" y="1481328"/>
            <a:ext cx="3657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Button · Input · Card · Badge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14"/>
          <p:cNvSpPr/>
          <p:nvPr/>
        </p:nvSpPr>
        <p:spPr>
          <a:xfrm>
            <a:off x="548640" y="1828800"/>
            <a:ext cx="3657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Table · Dialog · Sheet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14"/>
          <p:cNvSpPr/>
          <p:nvPr/>
        </p:nvSpPr>
        <p:spPr>
          <a:xfrm>
            <a:off x="548640" y="2176272"/>
            <a:ext cx="3657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Skeleton · Avatar · Sidebar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14"/>
          <p:cNvSpPr/>
          <p:nvPr/>
        </p:nvSpPr>
        <p:spPr>
          <a:xfrm>
            <a:off x="4663440" y="1005840"/>
            <a:ext cx="4114800" cy="1737300"/>
          </a:xfrm>
          <a:prstGeom prst="rect">
            <a:avLst/>
          </a:prstGeom>
          <a:solidFill>
            <a:srgbClr val="1E2235"/>
          </a:solidFill>
          <a:ln cap="flat" cmpd="sng" w="9525">
            <a:solidFill>
              <a:srgbClr val="2E33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p14"/>
          <p:cNvSpPr/>
          <p:nvPr/>
        </p:nvSpPr>
        <p:spPr>
          <a:xfrm>
            <a:off x="4846320" y="1097280"/>
            <a:ext cx="3657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63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6C63FF"/>
                </a:solidFill>
                <a:latin typeface="Calibri"/>
                <a:ea typeface="Calibri"/>
                <a:cs typeface="Calibri"/>
                <a:sym typeface="Calibri"/>
              </a:rPr>
              <a:t>components/core  (Trackt)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14"/>
          <p:cNvSpPr/>
          <p:nvPr/>
        </p:nvSpPr>
        <p:spPr>
          <a:xfrm>
            <a:off x="4846320" y="1481328"/>
            <a:ext cx="3657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StatusBadge · TicketCard · OtCard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14"/>
          <p:cNvSpPr/>
          <p:nvPr/>
        </p:nvSpPr>
        <p:spPr>
          <a:xfrm>
            <a:off x="4846320" y="1828800"/>
            <a:ext cx="3657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TimelineItem · EmptyState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14"/>
          <p:cNvSpPr/>
          <p:nvPr/>
        </p:nvSpPr>
        <p:spPr>
          <a:xfrm>
            <a:off x="4846320" y="2176272"/>
            <a:ext cx="3657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ListSkeleton · UserAvatar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14"/>
          <p:cNvSpPr/>
          <p:nvPr/>
        </p:nvSpPr>
        <p:spPr>
          <a:xfrm>
            <a:off x="365760" y="2926080"/>
            <a:ext cx="8412600" cy="1645800"/>
          </a:xfrm>
          <a:prstGeom prst="rect">
            <a:avLst/>
          </a:prstGeom>
          <a:solidFill>
            <a:srgbClr val="1E2235"/>
          </a:solidFill>
          <a:ln cap="flat" cmpd="sng" w="9525">
            <a:solidFill>
              <a:srgbClr val="2E33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p14"/>
          <p:cNvSpPr/>
          <p:nvPr/>
        </p:nvSpPr>
        <p:spPr>
          <a:xfrm>
            <a:off x="548640" y="3017520"/>
            <a:ext cx="77724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StatusBadge — estados del sistema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14"/>
          <p:cNvSpPr/>
          <p:nvPr/>
        </p:nvSpPr>
        <p:spPr>
          <a:xfrm>
            <a:off x="457200" y="3429000"/>
            <a:ext cx="1280100" cy="320100"/>
          </a:xfrm>
          <a:prstGeom prst="rect">
            <a:avLst/>
          </a:prstGeom>
          <a:solidFill>
            <a:srgbClr val="FACC15"/>
          </a:solidFill>
          <a:ln cap="flat" cmpd="sng" w="12700">
            <a:solidFill>
              <a:srgbClr val="FACC1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p14"/>
          <p:cNvSpPr/>
          <p:nvPr/>
        </p:nvSpPr>
        <p:spPr>
          <a:xfrm>
            <a:off x="457200" y="3429000"/>
            <a:ext cx="12801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117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0F1117"/>
                </a:solidFill>
                <a:latin typeface="Calibri"/>
                <a:ea typeface="Calibri"/>
                <a:cs typeface="Calibri"/>
                <a:sym typeface="Calibri"/>
              </a:rPr>
              <a:t>PENDIENTE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14"/>
          <p:cNvSpPr/>
          <p:nvPr/>
        </p:nvSpPr>
        <p:spPr>
          <a:xfrm>
            <a:off x="1874520" y="3429000"/>
            <a:ext cx="1280100" cy="320100"/>
          </a:xfrm>
          <a:prstGeom prst="rect">
            <a:avLst/>
          </a:prstGeom>
          <a:solidFill>
            <a:srgbClr val="38BDF8"/>
          </a:solidFill>
          <a:ln cap="flat" cmpd="sng" w="12700">
            <a:solidFill>
              <a:srgbClr val="38BD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14"/>
          <p:cNvSpPr/>
          <p:nvPr/>
        </p:nvSpPr>
        <p:spPr>
          <a:xfrm>
            <a:off x="1874520" y="3429000"/>
            <a:ext cx="12801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117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0F1117"/>
                </a:solidFill>
                <a:latin typeface="Calibri"/>
                <a:ea typeface="Calibri"/>
                <a:cs typeface="Calibri"/>
                <a:sym typeface="Calibri"/>
              </a:rPr>
              <a:t>ASIGNADO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14"/>
          <p:cNvSpPr/>
          <p:nvPr/>
        </p:nvSpPr>
        <p:spPr>
          <a:xfrm>
            <a:off x="3291840" y="3429000"/>
            <a:ext cx="1280100" cy="320100"/>
          </a:xfrm>
          <a:prstGeom prst="rect">
            <a:avLst/>
          </a:prstGeom>
          <a:solidFill>
            <a:srgbClr val="FB923C"/>
          </a:solidFill>
          <a:ln cap="flat" cmpd="sng" w="12700">
            <a:solidFill>
              <a:srgbClr val="FB92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p14"/>
          <p:cNvSpPr/>
          <p:nvPr/>
        </p:nvSpPr>
        <p:spPr>
          <a:xfrm>
            <a:off x="3291840" y="3429000"/>
            <a:ext cx="12801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117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0F1117"/>
                </a:solidFill>
                <a:latin typeface="Calibri"/>
                <a:ea typeface="Calibri"/>
                <a:cs typeface="Calibri"/>
                <a:sym typeface="Calibri"/>
              </a:rPr>
              <a:t>EN_EJECUCION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14"/>
          <p:cNvSpPr/>
          <p:nvPr/>
        </p:nvSpPr>
        <p:spPr>
          <a:xfrm>
            <a:off x="4709160" y="3429000"/>
            <a:ext cx="1280100" cy="320100"/>
          </a:xfrm>
          <a:prstGeom prst="rect">
            <a:avLst/>
          </a:prstGeom>
          <a:solidFill>
            <a:srgbClr val="22D3A5"/>
          </a:solidFill>
          <a:ln cap="flat" cmpd="sng" w="12700">
            <a:solidFill>
              <a:srgbClr val="22D3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14"/>
          <p:cNvSpPr/>
          <p:nvPr/>
        </p:nvSpPr>
        <p:spPr>
          <a:xfrm>
            <a:off x="4709160" y="3429000"/>
            <a:ext cx="12801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117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0F1117"/>
                </a:solidFill>
                <a:latin typeface="Calibri"/>
                <a:ea typeface="Calibri"/>
                <a:cs typeface="Calibri"/>
                <a:sym typeface="Calibri"/>
              </a:rPr>
              <a:t>EJECUTADO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14"/>
          <p:cNvSpPr/>
          <p:nvPr/>
        </p:nvSpPr>
        <p:spPr>
          <a:xfrm>
            <a:off x="6126480" y="3429000"/>
            <a:ext cx="1280100" cy="320100"/>
          </a:xfrm>
          <a:prstGeom prst="rect">
            <a:avLst/>
          </a:prstGeom>
          <a:solidFill>
            <a:srgbClr val="64748B"/>
          </a:solidFill>
          <a:ln cap="flat" cmpd="sng" w="12700">
            <a:solidFill>
              <a:srgbClr val="6474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p14"/>
          <p:cNvSpPr/>
          <p:nvPr/>
        </p:nvSpPr>
        <p:spPr>
          <a:xfrm>
            <a:off x="6126480" y="3429000"/>
            <a:ext cx="12801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117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0F1117"/>
                </a:solidFill>
                <a:latin typeface="Calibri"/>
                <a:ea typeface="Calibri"/>
                <a:cs typeface="Calibri"/>
                <a:sym typeface="Calibri"/>
              </a:rPr>
              <a:t>CERRADO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14"/>
          <p:cNvSpPr/>
          <p:nvPr/>
        </p:nvSpPr>
        <p:spPr>
          <a:xfrm>
            <a:off x="7543800" y="3429000"/>
            <a:ext cx="1280100" cy="320100"/>
          </a:xfrm>
          <a:prstGeom prst="rect">
            <a:avLst/>
          </a:prstGeom>
          <a:solidFill>
            <a:srgbClr val="F87171"/>
          </a:solidFill>
          <a:ln cap="flat" cmpd="sng" w="12700">
            <a:solidFill>
              <a:srgbClr val="F8717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" name="Google Shape;406;p14"/>
          <p:cNvSpPr/>
          <p:nvPr/>
        </p:nvSpPr>
        <p:spPr>
          <a:xfrm>
            <a:off x="7543800" y="3429000"/>
            <a:ext cx="12801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117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0F1117"/>
                </a:solidFill>
                <a:latin typeface="Calibri"/>
                <a:ea typeface="Calibri"/>
                <a:cs typeface="Calibri"/>
                <a:sym typeface="Calibri"/>
              </a:rPr>
              <a:t>CANCELADO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0D10"/>
        </a:solidFill>
      </p:bgPr>
    </p:bg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15"/>
          <p:cNvSpPr/>
          <p:nvPr/>
        </p:nvSpPr>
        <p:spPr>
          <a:xfrm>
            <a:off x="0" y="0"/>
            <a:ext cx="9144000" cy="347400"/>
          </a:xfrm>
          <a:prstGeom prst="rect">
            <a:avLst/>
          </a:prstGeom>
          <a:solidFill>
            <a:srgbClr val="A78BFA">
              <a:alpha val="80000"/>
            </a:srgbClr>
          </a:solidFill>
          <a:ln cap="flat" cmpd="sng" w="12700">
            <a:solidFill>
              <a:srgbClr val="A78BFA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" name="Google Shape;413;p15"/>
          <p:cNvSpPr/>
          <p:nvPr/>
        </p:nvSpPr>
        <p:spPr>
          <a:xfrm>
            <a:off x="457200" y="27432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FRONTEND  —  Rosio Ametller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15"/>
          <p:cNvSpPr/>
          <p:nvPr/>
        </p:nvSpPr>
        <p:spPr>
          <a:xfrm>
            <a:off x="228600" y="293945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Trebuchet MS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Pantallas principales — evidencias visuales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15"/>
          <p:cNvSpPr/>
          <p:nvPr/>
        </p:nvSpPr>
        <p:spPr>
          <a:xfrm>
            <a:off x="1645920" y="1188720"/>
            <a:ext cx="457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15"/>
          <p:cNvSpPr/>
          <p:nvPr/>
        </p:nvSpPr>
        <p:spPr>
          <a:xfrm>
            <a:off x="67650" y="2284693"/>
            <a:ext cx="27432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Login  — desktop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15"/>
          <p:cNvSpPr/>
          <p:nvPr/>
        </p:nvSpPr>
        <p:spPr>
          <a:xfrm>
            <a:off x="137013" y="2496250"/>
            <a:ext cx="27432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37388"/>
              </a:buClr>
              <a:buSzPts val="750"/>
              <a:buFont typeface="Calibri"/>
              <a:buNone/>
            </a:pPr>
            <a:r>
              <a:rPr b="0" i="1" lang="en-US" sz="750" u="none" cap="none" strike="noStrike">
                <a:solidFill>
                  <a:srgbClr val="737388"/>
                </a:solidFill>
                <a:latin typeface="Calibri"/>
                <a:ea typeface="Calibri"/>
                <a:cs typeface="Calibri"/>
                <a:sym typeface="Calibri"/>
              </a:rPr>
              <a:t>Dark mode · validación · recuperación contraseña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15"/>
          <p:cNvSpPr/>
          <p:nvPr/>
        </p:nvSpPr>
        <p:spPr>
          <a:xfrm>
            <a:off x="4526280" y="1188720"/>
            <a:ext cx="457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15"/>
          <p:cNvSpPr/>
          <p:nvPr/>
        </p:nvSpPr>
        <p:spPr>
          <a:xfrm>
            <a:off x="3102135" y="2299243"/>
            <a:ext cx="27432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Dashboard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15"/>
          <p:cNvSpPr/>
          <p:nvPr/>
        </p:nvSpPr>
        <p:spPr>
          <a:xfrm>
            <a:off x="3136835" y="2458062"/>
            <a:ext cx="27432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37388"/>
              </a:buClr>
              <a:buSzPts val="750"/>
              <a:buFont typeface="Calibri"/>
              <a:buNone/>
            </a:pPr>
            <a:r>
              <a:rPr b="0" i="1" lang="en-US" sz="750" u="none" cap="none" strike="noStrike">
                <a:solidFill>
                  <a:srgbClr val="737388"/>
                </a:solidFill>
                <a:latin typeface="Calibri"/>
                <a:ea typeface="Calibri"/>
                <a:cs typeface="Calibri"/>
                <a:sym typeface="Calibri"/>
              </a:rPr>
              <a:t>Métricas · gráfico · acceso rápido por rol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15"/>
          <p:cNvSpPr/>
          <p:nvPr/>
        </p:nvSpPr>
        <p:spPr>
          <a:xfrm>
            <a:off x="6136620" y="2280380"/>
            <a:ext cx="27432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Listado Tickets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15"/>
          <p:cNvSpPr/>
          <p:nvPr/>
        </p:nvSpPr>
        <p:spPr>
          <a:xfrm>
            <a:off x="6136620" y="2435487"/>
            <a:ext cx="27432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37388"/>
              </a:buClr>
              <a:buSzPts val="750"/>
              <a:buFont typeface="Calibri"/>
              <a:buNone/>
            </a:pPr>
            <a:r>
              <a:rPr b="0" i="1" lang="en-US" sz="750" u="none" cap="none" strike="noStrike">
                <a:solidFill>
                  <a:srgbClr val="737388"/>
                </a:solidFill>
                <a:latin typeface="Calibri"/>
                <a:ea typeface="Calibri"/>
                <a:cs typeface="Calibri"/>
                <a:sym typeface="Calibri"/>
              </a:rPr>
              <a:t>Filtros estado/mecánico/OT · StatusBadge · TicketCard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15"/>
          <p:cNvSpPr/>
          <p:nvPr/>
        </p:nvSpPr>
        <p:spPr>
          <a:xfrm>
            <a:off x="67650" y="4343395"/>
            <a:ext cx="27432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Detalle Ticket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15"/>
          <p:cNvSpPr/>
          <p:nvPr/>
        </p:nvSpPr>
        <p:spPr>
          <a:xfrm>
            <a:off x="67650" y="4523540"/>
            <a:ext cx="27432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37388"/>
              </a:buClr>
              <a:buSzPts val="750"/>
              <a:buFont typeface="Calibri"/>
              <a:buNone/>
            </a:pPr>
            <a:r>
              <a:rPr b="0" i="1" lang="en-US" sz="750" u="none" cap="none" strike="noStrike">
                <a:solidFill>
                  <a:srgbClr val="737388"/>
                </a:solidFill>
                <a:latin typeface="Calibri"/>
                <a:ea typeface="Calibri"/>
                <a:cs typeface="Calibri"/>
                <a:sym typeface="Calibri"/>
              </a:rPr>
              <a:t>Timeline · evidencias · transiciones por rol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15"/>
          <p:cNvSpPr/>
          <p:nvPr/>
        </p:nvSpPr>
        <p:spPr>
          <a:xfrm>
            <a:off x="3073435" y="4366258"/>
            <a:ext cx="27432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Inventario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15"/>
          <p:cNvSpPr/>
          <p:nvPr/>
        </p:nvSpPr>
        <p:spPr>
          <a:xfrm>
            <a:off x="3102135" y="4506965"/>
            <a:ext cx="27432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37388"/>
              </a:buClr>
              <a:buSzPts val="750"/>
              <a:buFont typeface="Calibri"/>
              <a:buNone/>
            </a:pPr>
            <a:r>
              <a:rPr b="0" i="1" lang="en-US" sz="750" u="none" cap="none" strike="noStrike">
                <a:solidFill>
                  <a:srgbClr val="737388"/>
                </a:solidFill>
                <a:latin typeface="Calibri"/>
                <a:ea typeface="Calibri"/>
                <a:cs typeface="Calibri"/>
                <a:sym typeface="Calibri"/>
              </a:rPr>
              <a:t>Catálogo repuestos · stock · reservas pendientes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15"/>
          <p:cNvSpPr/>
          <p:nvPr/>
        </p:nvSpPr>
        <p:spPr>
          <a:xfrm>
            <a:off x="6136620" y="4724858"/>
            <a:ext cx="27432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Login mobile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15"/>
          <p:cNvSpPr/>
          <p:nvPr/>
        </p:nvSpPr>
        <p:spPr>
          <a:xfrm>
            <a:off x="6031470" y="4871827"/>
            <a:ext cx="27432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37388"/>
              </a:buClr>
              <a:buSzPts val="750"/>
              <a:buFont typeface="Calibri"/>
              <a:buNone/>
            </a:pPr>
            <a:r>
              <a:rPr b="0" i="1" lang="en-US" sz="750" u="none" cap="none" strike="noStrike">
                <a:solidFill>
                  <a:srgbClr val="737388"/>
                </a:solidFill>
                <a:latin typeface="Calibri"/>
                <a:ea typeface="Calibri"/>
                <a:cs typeface="Calibri"/>
                <a:sym typeface="Calibri"/>
              </a:rPr>
              <a:t>Diseño responsivo — mismo stack Tailwind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15"/>
          <p:cNvSpPr/>
          <p:nvPr/>
        </p:nvSpPr>
        <p:spPr>
          <a:xfrm>
            <a:off x="457210" y="4871815"/>
            <a:ext cx="77724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37388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737388"/>
                </a:solidFill>
                <a:latin typeface="Calibri"/>
                <a:ea typeface="Calibri"/>
                <a:cs typeface="Calibri"/>
                <a:sym typeface="Calibri"/>
              </a:rPr>
              <a:t>Trackt — TPY1101 Taller Aplicado de Programación  |  DUOC UC  |  2026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15"/>
          <p:cNvSpPr/>
          <p:nvPr/>
        </p:nvSpPr>
        <p:spPr>
          <a:xfrm>
            <a:off x="8503920" y="4892040"/>
            <a:ext cx="5486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37388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737388"/>
                </a:solidFill>
                <a:latin typeface="Calibri"/>
                <a:ea typeface="Calibri"/>
                <a:cs typeface="Calibri"/>
                <a:sym typeface="Calibri"/>
              </a:rPr>
              <a:t>11 / 20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31" name="Google Shape;431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73425" y="804700"/>
            <a:ext cx="2958050" cy="1497551"/>
          </a:xfrm>
          <a:prstGeom prst="rect">
            <a:avLst/>
          </a:prstGeom>
          <a:solidFill>
            <a:srgbClr val="1E1E28"/>
          </a:solidFill>
          <a:ln cap="flat" cmpd="sng" w="10150">
            <a:solidFill>
              <a:srgbClr val="6152E8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432" name="Google Shape;432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06000" y="804700"/>
            <a:ext cx="2967052" cy="1497551"/>
          </a:xfrm>
          <a:prstGeom prst="rect">
            <a:avLst/>
          </a:prstGeom>
          <a:solidFill>
            <a:srgbClr val="1E1E28"/>
          </a:solidFill>
          <a:ln cap="flat" cmpd="sng" w="10150">
            <a:solidFill>
              <a:srgbClr val="6152E8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433" name="Google Shape;433;p15"/>
          <p:cNvSpPr/>
          <p:nvPr/>
        </p:nvSpPr>
        <p:spPr>
          <a:xfrm>
            <a:off x="58300" y="804701"/>
            <a:ext cx="2940600" cy="1497600"/>
          </a:xfrm>
          <a:prstGeom prst="rect">
            <a:avLst/>
          </a:prstGeom>
          <a:solidFill>
            <a:srgbClr val="1E1E28"/>
          </a:solidFill>
          <a:ln cap="flat" cmpd="sng" w="10150">
            <a:solidFill>
              <a:srgbClr val="6152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34" name="Google Shape;434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7650" y="827500"/>
            <a:ext cx="2900625" cy="145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35" name="Google Shape;435;p1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8300" y="2805250"/>
            <a:ext cx="2900625" cy="1518300"/>
          </a:xfrm>
          <a:prstGeom prst="rect">
            <a:avLst/>
          </a:prstGeom>
          <a:solidFill>
            <a:srgbClr val="1E1E28"/>
          </a:solidFill>
          <a:ln cap="flat" cmpd="sng" w="10150">
            <a:solidFill>
              <a:srgbClr val="6152E8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436" name="Google Shape;436;p1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073425" y="2815175"/>
            <a:ext cx="2958048" cy="1528224"/>
          </a:xfrm>
          <a:prstGeom prst="rect">
            <a:avLst/>
          </a:prstGeom>
          <a:solidFill>
            <a:srgbClr val="1E1E28"/>
          </a:solidFill>
          <a:ln cap="flat" cmpd="sng" w="10150">
            <a:solidFill>
              <a:srgbClr val="6152E8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437" name="Google Shape;437;p15"/>
          <p:cNvPicPr preferRelativeResize="0"/>
          <p:nvPr/>
        </p:nvPicPr>
        <p:blipFill rotWithShape="1">
          <a:blip r:embed="rId8">
            <a:alphaModFix/>
          </a:blip>
          <a:srcRect b="5634" l="10989" r="11892" t="5917"/>
          <a:stretch/>
        </p:blipFill>
        <p:spPr>
          <a:xfrm>
            <a:off x="6730275" y="2697550"/>
            <a:ext cx="1555901" cy="2013000"/>
          </a:xfrm>
          <a:prstGeom prst="rect">
            <a:avLst/>
          </a:prstGeom>
          <a:solidFill>
            <a:srgbClr val="1E1E28"/>
          </a:solidFill>
          <a:ln cap="flat" cmpd="sng" w="10150">
            <a:solidFill>
              <a:srgbClr val="6152E8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8FA"/>
        </a:solidFill>
      </p:bgPr>
    </p:bg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16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34D399">
              <a:alpha val="80000"/>
            </a:srgbClr>
          </a:solidFill>
          <a:ln cap="flat" cmpd="sng" w="12700">
            <a:solidFill>
              <a:srgbClr val="34D399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4" name="Google Shape;444;p16"/>
          <p:cNvSpPr/>
          <p:nvPr/>
        </p:nvSpPr>
        <p:spPr>
          <a:xfrm>
            <a:off x="457200" y="50292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0D10"/>
              </a:buClr>
              <a:buSzPts val="2200"/>
              <a:buFont typeface="Trebuchet MS"/>
              <a:buNone/>
            </a:pPr>
            <a:r>
              <a:rPr b="1" i="0" lang="en-US" sz="2200" u="none" cap="none" strike="noStrike">
                <a:solidFill>
                  <a:srgbClr val="0D0D10"/>
                </a:solidFill>
                <a:latin typeface="Trebuchet MS"/>
                <a:ea typeface="Trebuchet MS"/>
                <a:cs typeface="Trebuchet MS"/>
                <a:sym typeface="Trebuchet MS"/>
              </a:rPr>
              <a:t>9 módulos NestJS — endpoints por rol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16"/>
          <p:cNvSpPr/>
          <p:nvPr/>
        </p:nvSpPr>
        <p:spPr>
          <a:xfrm>
            <a:off x="457200" y="960120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37388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737388"/>
                </a:solidFill>
                <a:latin typeface="Calibri"/>
                <a:ea typeface="Calibri"/>
                <a:cs typeface="Calibri"/>
                <a:sym typeface="Calibri"/>
              </a:rPr>
              <a:t>Cada módulo encapsula controlador, servicio y DTOs. Inventario y Reservas son nuevos en esta versión.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16"/>
          <p:cNvSpPr/>
          <p:nvPr/>
        </p:nvSpPr>
        <p:spPr>
          <a:xfrm>
            <a:off x="457200" y="1298448"/>
            <a:ext cx="2743200" cy="1005840"/>
          </a:xfrm>
          <a:prstGeom prst="rect">
            <a:avLst/>
          </a:prstGeom>
          <a:solidFill>
            <a:srgbClr val="16161C"/>
          </a:solidFill>
          <a:ln cap="flat" cmpd="sng" w="9525">
            <a:solidFill>
              <a:srgbClr val="3A3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7" name="Google Shape;447;p16"/>
          <p:cNvSpPr/>
          <p:nvPr/>
        </p:nvSpPr>
        <p:spPr>
          <a:xfrm>
            <a:off x="457200" y="1298448"/>
            <a:ext cx="54864" cy="1005840"/>
          </a:xfrm>
          <a:prstGeom prst="rect">
            <a:avLst/>
          </a:prstGeom>
          <a:solidFill>
            <a:srgbClr val="737388"/>
          </a:solidFill>
          <a:ln cap="flat" cmpd="sng" w="12700">
            <a:solidFill>
              <a:srgbClr val="7373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8" name="Google Shape;448;p16"/>
          <p:cNvSpPr/>
          <p:nvPr/>
        </p:nvSpPr>
        <p:spPr>
          <a:xfrm>
            <a:off x="594360" y="1389888"/>
            <a:ext cx="24688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0F4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0F0F4"/>
                </a:solidFill>
                <a:latin typeface="Calibri"/>
                <a:ea typeface="Calibri"/>
                <a:cs typeface="Calibri"/>
                <a:sym typeface="Calibri"/>
              </a:rPr>
              <a:t>Auth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16"/>
          <p:cNvSpPr/>
          <p:nvPr/>
        </p:nvSpPr>
        <p:spPr>
          <a:xfrm>
            <a:off x="594360" y="1682496"/>
            <a:ext cx="24688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37388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737388"/>
                </a:solidFill>
                <a:latin typeface="Consolas"/>
                <a:ea typeface="Consolas"/>
                <a:cs typeface="Consolas"/>
                <a:sym typeface="Consolas"/>
              </a:rPr>
              <a:t>GET /auth/profile · JWT Supabase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16"/>
          <p:cNvSpPr/>
          <p:nvPr/>
        </p:nvSpPr>
        <p:spPr>
          <a:xfrm>
            <a:off x="3337560" y="1298448"/>
            <a:ext cx="2743200" cy="1005840"/>
          </a:xfrm>
          <a:prstGeom prst="rect">
            <a:avLst/>
          </a:prstGeom>
          <a:solidFill>
            <a:srgbClr val="16161C"/>
          </a:solidFill>
          <a:ln cap="flat" cmpd="sng" w="9525">
            <a:solidFill>
              <a:srgbClr val="3A3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1" name="Google Shape;451;p16"/>
          <p:cNvSpPr/>
          <p:nvPr/>
        </p:nvSpPr>
        <p:spPr>
          <a:xfrm>
            <a:off x="3337560" y="1298448"/>
            <a:ext cx="54864" cy="1005840"/>
          </a:xfrm>
          <a:prstGeom prst="rect">
            <a:avLst/>
          </a:prstGeom>
          <a:solidFill>
            <a:srgbClr val="737388"/>
          </a:solidFill>
          <a:ln cap="flat" cmpd="sng" w="12700">
            <a:solidFill>
              <a:srgbClr val="7373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2" name="Google Shape;452;p16"/>
          <p:cNvSpPr/>
          <p:nvPr/>
        </p:nvSpPr>
        <p:spPr>
          <a:xfrm>
            <a:off x="3474720" y="1389888"/>
            <a:ext cx="24688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0F4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0F0F4"/>
                </a:solidFill>
                <a:latin typeface="Calibri"/>
                <a:ea typeface="Calibri"/>
                <a:cs typeface="Calibri"/>
                <a:sym typeface="Calibri"/>
              </a:rPr>
              <a:t>Equipos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16"/>
          <p:cNvSpPr/>
          <p:nvPr/>
        </p:nvSpPr>
        <p:spPr>
          <a:xfrm>
            <a:off x="3474720" y="1682496"/>
            <a:ext cx="24688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37388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737388"/>
                </a:solidFill>
                <a:latin typeface="Consolas"/>
                <a:ea typeface="Consolas"/>
                <a:cs typeface="Consolas"/>
                <a:sym typeface="Consolas"/>
              </a:rPr>
              <a:t>GET/POST /equipos · PATCH /:id/desactivar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16"/>
          <p:cNvSpPr/>
          <p:nvPr/>
        </p:nvSpPr>
        <p:spPr>
          <a:xfrm>
            <a:off x="6217920" y="1298448"/>
            <a:ext cx="2743200" cy="1005840"/>
          </a:xfrm>
          <a:prstGeom prst="rect">
            <a:avLst/>
          </a:prstGeom>
          <a:solidFill>
            <a:srgbClr val="16161C"/>
          </a:solidFill>
          <a:ln cap="flat" cmpd="sng" w="9525">
            <a:solidFill>
              <a:srgbClr val="3A3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5" name="Google Shape;455;p16"/>
          <p:cNvSpPr/>
          <p:nvPr/>
        </p:nvSpPr>
        <p:spPr>
          <a:xfrm>
            <a:off x="6217920" y="1298448"/>
            <a:ext cx="54864" cy="1005840"/>
          </a:xfrm>
          <a:prstGeom prst="rect">
            <a:avLst/>
          </a:prstGeom>
          <a:solidFill>
            <a:srgbClr val="737388"/>
          </a:solidFill>
          <a:ln cap="flat" cmpd="sng" w="12700">
            <a:solidFill>
              <a:srgbClr val="7373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6" name="Google Shape;456;p16"/>
          <p:cNvSpPr/>
          <p:nvPr/>
        </p:nvSpPr>
        <p:spPr>
          <a:xfrm>
            <a:off x="6355080" y="1389888"/>
            <a:ext cx="24688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0F4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0F0F4"/>
                </a:solidFill>
                <a:latin typeface="Calibri"/>
                <a:ea typeface="Calibri"/>
                <a:cs typeface="Calibri"/>
                <a:sym typeface="Calibri"/>
              </a:rPr>
              <a:t>Usuarios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16"/>
          <p:cNvSpPr/>
          <p:nvPr/>
        </p:nvSpPr>
        <p:spPr>
          <a:xfrm>
            <a:off x="6355080" y="1682496"/>
            <a:ext cx="24688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37388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737388"/>
                </a:solidFill>
                <a:latin typeface="Consolas"/>
                <a:ea typeface="Consolas"/>
                <a:cs typeface="Consolas"/>
                <a:sym typeface="Consolas"/>
              </a:rPr>
              <a:t>GET /usuarios · invitación por correo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16"/>
          <p:cNvSpPr/>
          <p:nvPr/>
        </p:nvSpPr>
        <p:spPr>
          <a:xfrm>
            <a:off x="457200" y="2432304"/>
            <a:ext cx="2743200" cy="1005840"/>
          </a:xfrm>
          <a:prstGeom prst="rect">
            <a:avLst/>
          </a:prstGeom>
          <a:solidFill>
            <a:srgbClr val="16161C"/>
          </a:solidFill>
          <a:ln cap="flat" cmpd="sng" w="9525">
            <a:solidFill>
              <a:srgbClr val="3A3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p16"/>
          <p:cNvSpPr/>
          <p:nvPr/>
        </p:nvSpPr>
        <p:spPr>
          <a:xfrm>
            <a:off x="457200" y="2432304"/>
            <a:ext cx="54864" cy="1005840"/>
          </a:xfrm>
          <a:prstGeom prst="rect">
            <a:avLst/>
          </a:prstGeom>
          <a:solidFill>
            <a:srgbClr val="737388"/>
          </a:solidFill>
          <a:ln cap="flat" cmpd="sng" w="12700">
            <a:solidFill>
              <a:srgbClr val="7373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0" name="Google Shape;460;p16"/>
          <p:cNvSpPr/>
          <p:nvPr/>
        </p:nvSpPr>
        <p:spPr>
          <a:xfrm>
            <a:off x="594360" y="2523744"/>
            <a:ext cx="24688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0F4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0F0F4"/>
                </a:solidFill>
                <a:latin typeface="Calibri"/>
                <a:ea typeface="Calibri"/>
                <a:cs typeface="Calibri"/>
                <a:sym typeface="Calibri"/>
              </a:rPr>
              <a:t>Órdenes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16"/>
          <p:cNvSpPr/>
          <p:nvPr/>
        </p:nvSpPr>
        <p:spPr>
          <a:xfrm>
            <a:off x="594360" y="2816352"/>
            <a:ext cx="24688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37388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737388"/>
                </a:solidFill>
                <a:latin typeface="Consolas"/>
                <a:ea typeface="Consolas"/>
                <a:cs typeface="Consolas"/>
                <a:sym typeface="Consolas"/>
              </a:rPr>
              <a:t>GET/POST /ordenes-trabajo · PATCH /:id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16"/>
          <p:cNvSpPr/>
          <p:nvPr/>
        </p:nvSpPr>
        <p:spPr>
          <a:xfrm>
            <a:off x="3337560" y="2432304"/>
            <a:ext cx="2743200" cy="1005840"/>
          </a:xfrm>
          <a:prstGeom prst="rect">
            <a:avLst/>
          </a:prstGeom>
          <a:solidFill>
            <a:srgbClr val="16161C"/>
          </a:solidFill>
          <a:ln cap="flat" cmpd="sng" w="9525">
            <a:solidFill>
              <a:srgbClr val="3A3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3" name="Google Shape;463;p16"/>
          <p:cNvSpPr/>
          <p:nvPr/>
        </p:nvSpPr>
        <p:spPr>
          <a:xfrm>
            <a:off x="3337560" y="2432304"/>
            <a:ext cx="54864" cy="1005840"/>
          </a:xfrm>
          <a:prstGeom prst="rect">
            <a:avLst/>
          </a:prstGeom>
          <a:solidFill>
            <a:srgbClr val="737388"/>
          </a:solidFill>
          <a:ln cap="flat" cmpd="sng" w="12700">
            <a:solidFill>
              <a:srgbClr val="7373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4" name="Google Shape;464;p16"/>
          <p:cNvSpPr/>
          <p:nvPr/>
        </p:nvSpPr>
        <p:spPr>
          <a:xfrm>
            <a:off x="3474720" y="2523744"/>
            <a:ext cx="24688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0F4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0F0F4"/>
                </a:solidFill>
                <a:latin typeface="Calibri"/>
                <a:ea typeface="Calibri"/>
                <a:cs typeface="Calibri"/>
                <a:sym typeface="Calibri"/>
              </a:rPr>
              <a:t>Tickets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16"/>
          <p:cNvSpPr/>
          <p:nvPr/>
        </p:nvSpPr>
        <p:spPr>
          <a:xfrm>
            <a:off x="3474720" y="2816352"/>
            <a:ext cx="24688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37388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737388"/>
                </a:solidFill>
                <a:latin typeface="Consolas"/>
                <a:ea typeface="Consolas"/>
                <a:cs typeface="Consolas"/>
                <a:sym typeface="Consolas"/>
              </a:rPr>
              <a:t>asignar · reasignar · iniciar · finalizar · validar · cerrar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16"/>
          <p:cNvSpPr/>
          <p:nvPr/>
        </p:nvSpPr>
        <p:spPr>
          <a:xfrm>
            <a:off x="6217920" y="2432304"/>
            <a:ext cx="2743200" cy="1005840"/>
          </a:xfrm>
          <a:prstGeom prst="rect">
            <a:avLst/>
          </a:prstGeom>
          <a:solidFill>
            <a:srgbClr val="16161C"/>
          </a:solidFill>
          <a:ln cap="flat" cmpd="sng" w="9525">
            <a:solidFill>
              <a:srgbClr val="3A3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7" name="Google Shape;467;p16"/>
          <p:cNvSpPr/>
          <p:nvPr/>
        </p:nvSpPr>
        <p:spPr>
          <a:xfrm>
            <a:off x="6217920" y="2432304"/>
            <a:ext cx="54864" cy="1005840"/>
          </a:xfrm>
          <a:prstGeom prst="rect">
            <a:avLst/>
          </a:prstGeom>
          <a:solidFill>
            <a:srgbClr val="737388"/>
          </a:solidFill>
          <a:ln cap="flat" cmpd="sng" w="12700">
            <a:solidFill>
              <a:srgbClr val="7373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8" name="Google Shape;468;p16"/>
          <p:cNvSpPr/>
          <p:nvPr/>
        </p:nvSpPr>
        <p:spPr>
          <a:xfrm>
            <a:off x="6355080" y="2523744"/>
            <a:ext cx="24688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0F4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0F0F4"/>
                </a:solidFill>
                <a:latin typeface="Calibri"/>
                <a:ea typeface="Calibri"/>
                <a:cs typeface="Calibri"/>
                <a:sym typeface="Calibri"/>
              </a:rPr>
              <a:t>Evidencias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16"/>
          <p:cNvSpPr/>
          <p:nvPr/>
        </p:nvSpPr>
        <p:spPr>
          <a:xfrm>
            <a:off x="6355080" y="2816352"/>
            <a:ext cx="24688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37388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737388"/>
                </a:solidFill>
                <a:latin typeface="Consolas"/>
                <a:ea typeface="Consolas"/>
                <a:cs typeface="Consolas"/>
                <a:sym typeface="Consolas"/>
              </a:rPr>
              <a:t>POST /request-upload · POST /confirm-upload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16"/>
          <p:cNvSpPr/>
          <p:nvPr/>
        </p:nvSpPr>
        <p:spPr>
          <a:xfrm>
            <a:off x="457200" y="3566160"/>
            <a:ext cx="2743200" cy="1005840"/>
          </a:xfrm>
          <a:prstGeom prst="rect">
            <a:avLst/>
          </a:prstGeom>
          <a:solidFill>
            <a:srgbClr val="16161C"/>
          </a:solidFill>
          <a:ln cap="flat" cmpd="sng" w="9525">
            <a:solidFill>
              <a:srgbClr val="3A3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1" name="Google Shape;471;p16"/>
          <p:cNvSpPr/>
          <p:nvPr/>
        </p:nvSpPr>
        <p:spPr>
          <a:xfrm>
            <a:off x="457200" y="3566160"/>
            <a:ext cx="54864" cy="1005840"/>
          </a:xfrm>
          <a:prstGeom prst="rect">
            <a:avLst/>
          </a:prstGeom>
          <a:solidFill>
            <a:srgbClr val="737388"/>
          </a:solidFill>
          <a:ln cap="flat" cmpd="sng" w="12700">
            <a:solidFill>
              <a:srgbClr val="7373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2" name="Google Shape;472;p16"/>
          <p:cNvSpPr/>
          <p:nvPr/>
        </p:nvSpPr>
        <p:spPr>
          <a:xfrm>
            <a:off x="594360" y="3657600"/>
            <a:ext cx="24688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0F4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0F0F4"/>
                </a:solidFill>
                <a:latin typeface="Calibri"/>
                <a:ea typeface="Calibri"/>
                <a:cs typeface="Calibri"/>
                <a:sym typeface="Calibri"/>
              </a:rPr>
              <a:t>Notificaciones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16"/>
          <p:cNvSpPr/>
          <p:nvPr/>
        </p:nvSpPr>
        <p:spPr>
          <a:xfrm>
            <a:off x="594360" y="3950208"/>
            <a:ext cx="24688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37388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737388"/>
                </a:solidFill>
                <a:latin typeface="Consolas"/>
                <a:ea typeface="Consolas"/>
                <a:cs typeface="Consolas"/>
                <a:sym typeface="Consolas"/>
              </a:rPr>
              <a:t>GET /notificaciones · PATCH /:id/leida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p16"/>
          <p:cNvSpPr/>
          <p:nvPr/>
        </p:nvSpPr>
        <p:spPr>
          <a:xfrm>
            <a:off x="3337560" y="3566160"/>
            <a:ext cx="2743200" cy="1005840"/>
          </a:xfrm>
          <a:prstGeom prst="rect">
            <a:avLst/>
          </a:prstGeom>
          <a:solidFill>
            <a:srgbClr val="16161C"/>
          </a:solidFill>
          <a:ln cap="flat" cmpd="sng" w="12700">
            <a:solidFill>
              <a:srgbClr val="34D3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5" name="Google Shape;475;p16"/>
          <p:cNvSpPr/>
          <p:nvPr/>
        </p:nvSpPr>
        <p:spPr>
          <a:xfrm>
            <a:off x="3337560" y="3566160"/>
            <a:ext cx="54864" cy="1005840"/>
          </a:xfrm>
          <a:prstGeom prst="rect">
            <a:avLst/>
          </a:prstGeom>
          <a:solidFill>
            <a:srgbClr val="34D399"/>
          </a:solidFill>
          <a:ln cap="flat" cmpd="sng" w="12700">
            <a:solidFill>
              <a:srgbClr val="34D3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6" name="Google Shape;476;p16"/>
          <p:cNvSpPr/>
          <p:nvPr/>
        </p:nvSpPr>
        <p:spPr>
          <a:xfrm>
            <a:off x="3474720" y="3657600"/>
            <a:ext cx="24688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D399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34D399"/>
                </a:solidFill>
                <a:latin typeface="Calibri"/>
                <a:ea typeface="Calibri"/>
                <a:cs typeface="Calibri"/>
                <a:sym typeface="Calibri"/>
              </a:rPr>
              <a:t>Inventario  ⭐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16"/>
          <p:cNvSpPr/>
          <p:nvPr/>
        </p:nvSpPr>
        <p:spPr>
          <a:xfrm>
            <a:off x="3474720" y="3950208"/>
            <a:ext cx="24688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37388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737388"/>
                </a:solidFill>
                <a:latin typeface="Consolas"/>
                <a:ea typeface="Consolas"/>
                <a:cs typeface="Consolas"/>
                <a:sym typeface="Consolas"/>
              </a:rPr>
              <a:t>repuestos · stock · entradas · ajustes · movimientos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p16"/>
          <p:cNvSpPr/>
          <p:nvPr/>
        </p:nvSpPr>
        <p:spPr>
          <a:xfrm>
            <a:off x="6217920" y="3566160"/>
            <a:ext cx="2743200" cy="1005840"/>
          </a:xfrm>
          <a:prstGeom prst="rect">
            <a:avLst/>
          </a:prstGeom>
          <a:solidFill>
            <a:srgbClr val="16161C"/>
          </a:solidFill>
          <a:ln cap="flat" cmpd="sng" w="12700">
            <a:solidFill>
              <a:srgbClr val="34D3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9" name="Google Shape;479;p16"/>
          <p:cNvSpPr/>
          <p:nvPr/>
        </p:nvSpPr>
        <p:spPr>
          <a:xfrm>
            <a:off x="6217920" y="3566160"/>
            <a:ext cx="54864" cy="1005840"/>
          </a:xfrm>
          <a:prstGeom prst="rect">
            <a:avLst/>
          </a:prstGeom>
          <a:solidFill>
            <a:srgbClr val="34D399"/>
          </a:solidFill>
          <a:ln cap="flat" cmpd="sng" w="12700">
            <a:solidFill>
              <a:srgbClr val="34D3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0" name="Google Shape;480;p16"/>
          <p:cNvSpPr/>
          <p:nvPr/>
        </p:nvSpPr>
        <p:spPr>
          <a:xfrm>
            <a:off x="6355080" y="3657600"/>
            <a:ext cx="24688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D399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34D399"/>
                </a:solidFill>
                <a:latin typeface="Calibri"/>
                <a:ea typeface="Calibri"/>
                <a:cs typeface="Calibri"/>
                <a:sym typeface="Calibri"/>
              </a:rPr>
              <a:t>Reservas  ⭐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p16"/>
          <p:cNvSpPr/>
          <p:nvPr/>
        </p:nvSpPr>
        <p:spPr>
          <a:xfrm>
            <a:off x="6355080" y="3950208"/>
            <a:ext cx="24688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37388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737388"/>
                </a:solidFill>
                <a:latin typeface="Consolas"/>
                <a:ea typeface="Consolas"/>
                <a:cs typeface="Consolas"/>
                <a:sym typeface="Consolas"/>
              </a:rPr>
              <a:t>solicitar · aprobar · consumir · liberar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p16"/>
          <p:cNvSpPr/>
          <p:nvPr/>
        </p:nvSpPr>
        <p:spPr>
          <a:xfrm>
            <a:off x="365760" y="4892040"/>
            <a:ext cx="7772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37388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737388"/>
                </a:solidFill>
                <a:latin typeface="Calibri"/>
                <a:ea typeface="Calibri"/>
                <a:cs typeface="Calibri"/>
                <a:sym typeface="Calibri"/>
              </a:rPr>
              <a:t>Trackt — TPY1101 Taller Aplicado de Programación  |  DUOC UC  |  2026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p16"/>
          <p:cNvSpPr/>
          <p:nvPr/>
        </p:nvSpPr>
        <p:spPr>
          <a:xfrm>
            <a:off x="8503920" y="4892040"/>
            <a:ext cx="5486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37388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737388"/>
                </a:solidFill>
                <a:latin typeface="Calibri"/>
                <a:ea typeface="Calibri"/>
                <a:cs typeface="Calibri"/>
                <a:sym typeface="Calibri"/>
              </a:rPr>
              <a:t>12 / 20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0D10"/>
        </a:solidFill>
      </p:bgPr>
    </p:bg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17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34D399">
              <a:alpha val="80000"/>
            </a:srgbClr>
          </a:solidFill>
          <a:ln cap="flat" cmpd="sng" w="12700">
            <a:solidFill>
              <a:srgbClr val="34D399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0" name="Google Shape;490;p17"/>
          <p:cNvSpPr/>
          <p:nvPr/>
        </p:nvSpPr>
        <p:spPr>
          <a:xfrm>
            <a:off x="457200" y="27432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p17"/>
          <p:cNvSpPr/>
          <p:nvPr/>
        </p:nvSpPr>
        <p:spPr>
          <a:xfrm>
            <a:off x="457200" y="50292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Trebuchet MS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Ciclo de vida del Ticket — transiciones por rol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p17"/>
          <p:cNvSpPr/>
          <p:nvPr/>
        </p:nvSpPr>
        <p:spPr>
          <a:xfrm>
            <a:off x="457200" y="1097280"/>
            <a:ext cx="1417320" cy="457200"/>
          </a:xfrm>
          <a:prstGeom prst="rect">
            <a:avLst/>
          </a:prstGeom>
          <a:solidFill>
            <a:srgbClr val="737388">
              <a:alpha val="30196"/>
            </a:srgbClr>
          </a:solidFill>
          <a:ln cap="flat" cmpd="sng" w="15225">
            <a:solidFill>
              <a:srgbClr val="7373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3" name="Google Shape;493;p17"/>
          <p:cNvSpPr/>
          <p:nvPr/>
        </p:nvSpPr>
        <p:spPr>
          <a:xfrm>
            <a:off x="457200" y="1097280"/>
            <a:ext cx="14173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37388"/>
              </a:buClr>
              <a:buSzPts val="850"/>
              <a:buFont typeface="Consolas"/>
              <a:buNone/>
            </a:pPr>
            <a:r>
              <a:rPr b="1" i="0" lang="en-US" sz="850" u="none" cap="none" strike="noStrike">
                <a:solidFill>
                  <a:srgbClr val="737388"/>
                </a:solidFill>
                <a:latin typeface="Consolas"/>
                <a:ea typeface="Consolas"/>
                <a:cs typeface="Consolas"/>
                <a:sym typeface="Consolas"/>
              </a:rPr>
              <a:t>NUEVO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" name="Google Shape;494;p17"/>
          <p:cNvSpPr/>
          <p:nvPr/>
        </p:nvSpPr>
        <p:spPr>
          <a:xfrm>
            <a:off x="1874520" y="1207008"/>
            <a:ext cx="24688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37388"/>
              </a:buClr>
              <a:buSzPts val="700"/>
              <a:buFont typeface="Calibri"/>
              <a:buNone/>
            </a:pPr>
            <a:r>
              <a:rPr b="0" i="0" lang="en-US" sz="700" u="none" cap="none" strike="noStrike">
                <a:solidFill>
                  <a:srgbClr val="737388"/>
                </a:solidFill>
                <a:latin typeface="Calibri"/>
                <a:ea typeface="Calibri"/>
                <a:cs typeface="Calibri"/>
                <a:sym typeface="Calibri"/>
              </a:rPr>
              <a:t>asignar →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p17"/>
          <p:cNvSpPr/>
          <p:nvPr/>
        </p:nvSpPr>
        <p:spPr>
          <a:xfrm>
            <a:off x="2121408" y="1097280"/>
            <a:ext cx="1417320" cy="457200"/>
          </a:xfrm>
          <a:prstGeom prst="rect">
            <a:avLst/>
          </a:prstGeom>
          <a:solidFill>
            <a:srgbClr val="3B82F6">
              <a:alpha val="30196"/>
            </a:srgbClr>
          </a:solidFill>
          <a:ln cap="flat" cmpd="sng" w="15225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6" name="Google Shape;496;p17"/>
          <p:cNvSpPr/>
          <p:nvPr/>
        </p:nvSpPr>
        <p:spPr>
          <a:xfrm>
            <a:off x="2121408" y="1097280"/>
            <a:ext cx="14173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850"/>
              <a:buFont typeface="Consolas"/>
              <a:buNone/>
            </a:pPr>
            <a:r>
              <a:rPr b="1" i="0" lang="en-US" sz="850" u="none" cap="none" strike="noStrike">
                <a:solidFill>
                  <a:srgbClr val="3B82F6"/>
                </a:solidFill>
                <a:latin typeface="Consolas"/>
                <a:ea typeface="Consolas"/>
                <a:cs typeface="Consolas"/>
                <a:sym typeface="Consolas"/>
              </a:rPr>
              <a:t>ASIGNADO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p17"/>
          <p:cNvSpPr/>
          <p:nvPr/>
        </p:nvSpPr>
        <p:spPr>
          <a:xfrm>
            <a:off x="3538728" y="1207008"/>
            <a:ext cx="24688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37388"/>
              </a:buClr>
              <a:buSzPts val="700"/>
              <a:buFont typeface="Calibri"/>
              <a:buNone/>
            </a:pPr>
            <a:r>
              <a:rPr b="0" i="0" lang="en-US" sz="700" u="none" cap="none" strike="noStrike">
                <a:solidFill>
                  <a:srgbClr val="737388"/>
                </a:solidFill>
                <a:latin typeface="Calibri"/>
                <a:ea typeface="Calibri"/>
                <a:cs typeface="Calibri"/>
                <a:sym typeface="Calibri"/>
              </a:rPr>
              <a:t>iniciar →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Google Shape;498;p17"/>
          <p:cNvSpPr/>
          <p:nvPr/>
        </p:nvSpPr>
        <p:spPr>
          <a:xfrm>
            <a:off x="3785616" y="1097280"/>
            <a:ext cx="1417320" cy="457200"/>
          </a:xfrm>
          <a:prstGeom prst="rect">
            <a:avLst/>
          </a:prstGeom>
          <a:solidFill>
            <a:srgbClr val="FBBF24">
              <a:alpha val="30196"/>
            </a:srgbClr>
          </a:solidFill>
          <a:ln cap="flat" cmpd="sng" w="15225">
            <a:solidFill>
              <a:srgbClr val="FBBF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9" name="Google Shape;499;p17"/>
          <p:cNvSpPr/>
          <p:nvPr/>
        </p:nvSpPr>
        <p:spPr>
          <a:xfrm>
            <a:off x="3785616" y="1097280"/>
            <a:ext cx="14173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BBF24"/>
              </a:buClr>
              <a:buSzPts val="850"/>
              <a:buFont typeface="Consolas"/>
              <a:buNone/>
            </a:pPr>
            <a:r>
              <a:rPr b="1" i="0" lang="en-US" sz="850" u="none" cap="none" strike="noStrike">
                <a:solidFill>
                  <a:srgbClr val="FBBF24"/>
                </a:solidFill>
                <a:latin typeface="Consolas"/>
                <a:ea typeface="Consolas"/>
                <a:cs typeface="Consolas"/>
                <a:sym typeface="Consolas"/>
              </a:rPr>
              <a:t>EN_EJECUCIÓN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p17"/>
          <p:cNvSpPr/>
          <p:nvPr/>
        </p:nvSpPr>
        <p:spPr>
          <a:xfrm>
            <a:off x="5202936" y="1207008"/>
            <a:ext cx="24688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37388"/>
              </a:buClr>
              <a:buSzPts val="700"/>
              <a:buFont typeface="Calibri"/>
              <a:buNone/>
            </a:pPr>
            <a:r>
              <a:rPr b="0" i="0" lang="en-US" sz="700" u="none" cap="none" strike="noStrike">
                <a:solidFill>
                  <a:srgbClr val="737388"/>
                </a:solidFill>
                <a:latin typeface="Calibri"/>
                <a:ea typeface="Calibri"/>
                <a:cs typeface="Calibri"/>
                <a:sym typeface="Calibri"/>
              </a:rPr>
              <a:t>finalizar →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Google Shape;501;p17"/>
          <p:cNvSpPr/>
          <p:nvPr/>
        </p:nvSpPr>
        <p:spPr>
          <a:xfrm>
            <a:off x="5449824" y="1097280"/>
            <a:ext cx="1417320" cy="457200"/>
          </a:xfrm>
          <a:prstGeom prst="rect">
            <a:avLst/>
          </a:prstGeom>
          <a:solidFill>
            <a:srgbClr val="4ADE80">
              <a:alpha val="30196"/>
            </a:srgbClr>
          </a:solidFill>
          <a:ln cap="flat" cmpd="sng" w="15225">
            <a:solidFill>
              <a:srgbClr val="4ADE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2" name="Google Shape;502;p17"/>
          <p:cNvSpPr/>
          <p:nvPr/>
        </p:nvSpPr>
        <p:spPr>
          <a:xfrm>
            <a:off x="5449824" y="1097280"/>
            <a:ext cx="14173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DE80"/>
              </a:buClr>
              <a:buSzPts val="850"/>
              <a:buFont typeface="Consolas"/>
              <a:buNone/>
            </a:pPr>
            <a:r>
              <a:rPr b="1" i="0" lang="en-US" sz="850" u="none" cap="none" strike="noStrike">
                <a:solidFill>
                  <a:srgbClr val="4ADE80"/>
                </a:solidFill>
                <a:latin typeface="Consolas"/>
                <a:ea typeface="Consolas"/>
                <a:cs typeface="Consolas"/>
                <a:sym typeface="Consolas"/>
              </a:rPr>
              <a:t>EJECUTADO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3" name="Google Shape;503;p17"/>
          <p:cNvSpPr/>
          <p:nvPr/>
        </p:nvSpPr>
        <p:spPr>
          <a:xfrm>
            <a:off x="6867144" y="1207008"/>
            <a:ext cx="24688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37388"/>
              </a:buClr>
              <a:buSzPts val="700"/>
              <a:buFont typeface="Calibri"/>
              <a:buNone/>
            </a:pPr>
            <a:r>
              <a:rPr b="0" i="0" lang="en-US" sz="700" u="none" cap="none" strike="noStrike">
                <a:solidFill>
                  <a:srgbClr val="737388"/>
                </a:solidFill>
                <a:latin typeface="Calibri"/>
                <a:ea typeface="Calibri"/>
                <a:cs typeface="Calibri"/>
                <a:sym typeface="Calibri"/>
              </a:rPr>
              <a:t>validar/cerrar →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p17"/>
          <p:cNvSpPr/>
          <p:nvPr/>
        </p:nvSpPr>
        <p:spPr>
          <a:xfrm>
            <a:off x="7114032" y="1097280"/>
            <a:ext cx="1417320" cy="457200"/>
          </a:xfrm>
          <a:prstGeom prst="rect">
            <a:avLst/>
          </a:prstGeom>
          <a:solidFill>
            <a:srgbClr val="16A34A">
              <a:alpha val="30196"/>
            </a:srgbClr>
          </a:solidFill>
          <a:ln cap="flat" cmpd="sng" w="15225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5" name="Google Shape;505;p17"/>
          <p:cNvSpPr/>
          <p:nvPr/>
        </p:nvSpPr>
        <p:spPr>
          <a:xfrm>
            <a:off x="7114032" y="1097280"/>
            <a:ext cx="14173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850"/>
              <a:buFont typeface="Consolas"/>
              <a:buNone/>
            </a:pPr>
            <a:r>
              <a:rPr b="1" i="0" lang="en-US" sz="850" u="none" cap="none" strike="noStrike">
                <a:solidFill>
                  <a:srgbClr val="16A34A"/>
                </a:solidFill>
                <a:latin typeface="Consolas"/>
                <a:ea typeface="Consolas"/>
                <a:cs typeface="Consolas"/>
                <a:sym typeface="Consolas"/>
              </a:rPr>
              <a:t>CERRADO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506" name="Google Shape;506;p17"/>
          <p:cNvGraphicFramePr/>
          <p:nvPr/>
        </p:nvGraphicFramePr>
        <p:xfrm>
          <a:off x="457200" y="17830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{7C22BBE9-236B-47B2-9936-DCF749294B30}</a:tableStyleId>
              </a:tblPr>
              <a:tblGrid>
                <a:gridCol w="1463050"/>
                <a:gridCol w="3200400"/>
                <a:gridCol w="3566150"/>
              </a:tblGrid>
              <a:tr h="342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Acción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3A3A4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A3A4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A3A4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A3A4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D31B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onsolas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Endpoint</a:t>
                      </a:r>
                      <a:endParaRPr sz="9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3A3A4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A3A4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A3A4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A3A4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D31B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Rol permitido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3A3A4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A3A4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A3A4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A3A4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D31B0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0F0F4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F0F0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asignar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3A3A4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A3A4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A3A4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A3A4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61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0F0F4"/>
                        </a:buClr>
                        <a:buSzPts val="900"/>
                        <a:buFont typeface="Consolas"/>
                        <a:buNone/>
                      </a:pPr>
                      <a:r>
                        <a:rPr lang="en-US" sz="900" u="none" cap="none" strike="noStrike">
                          <a:solidFill>
                            <a:srgbClr val="F0F0F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PATCH /:id/asignar</a:t>
                      </a:r>
                      <a:endParaRPr sz="9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3A3A4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A3A4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A3A4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A3A4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61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DE8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4ADE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admin · jefe_taller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3A3A4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A3A4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A3A4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A3A4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61C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0F0F4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F0F0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reasignar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3A3A4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A3A4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A3A4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A3A4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1E2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0F0F4"/>
                        </a:buClr>
                        <a:buSzPts val="900"/>
                        <a:buFont typeface="Consolas"/>
                        <a:buNone/>
                      </a:pPr>
                      <a:r>
                        <a:rPr lang="en-US" sz="900" u="none" cap="none" strike="noStrike">
                          <a:solidFill>
                            <a:srgbClr val="F0F0F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PATCH /:id/reasignar</a:t>
                      </a:r>
                      <a:endParaRPr sz="9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3A3A4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A3A4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A3A4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A3A4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1E2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DE8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4ADE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admin · jefe_taller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3A3A4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A3A4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A3A4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A3A4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1E28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0F0F4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F0F0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iniciar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3A3A4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A3A4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A3A4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A3A4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61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0F0F4"/>
                        </a:buClr>
                        <a:buSzPts val="900"/>
                        <a:buFont typeface="Consolas"/>
                        <a:buNone/>
                      </a:pPr>
                      <a:r>
                        <a:rPr lang="en-US" sz="900" u="none" cap="none" strike="noStrike">
                          <a:solidFill>
                            <a:srgbClr val="F0F0F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PATCH /:id/iniciar</a:t>
                      </a:r>
                      <a:endParaRPr sz="9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3A3A4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A3A4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A3A4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A3A4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61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DE8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4ADE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mechanic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3A3A4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A3A4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A3A4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A3A4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61C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0F0F4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F0F0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finalizar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3A3A4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A3A4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A3A4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A3A4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1E2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0F0F4"/>
                        </a:buClr>
                        <a:buSzPts val="900"/>
                        <a:buFont typeface="Consolas"/>
                        <a:buNone/>
                      </a:pPr>
                      <a:r>
                        <a:rPr lang="en-US" sz="900" u="none" cap="none" strike="noStrike">
                          <a:solidFill>
                            <a:srgbClr val="F0F0F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PATCH /:id/finalizar</a:t>
                      </a:r>
                      <a:endParaRPr sz="9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3A3A4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A3A4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A3A4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A3A4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1E2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DE8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4ADE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mechanic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3A3A4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A3A4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A3A4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A3A4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1E28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0F0F4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F0F0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validar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3A3A4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A3A4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A3A4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A3A4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61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0F0F4"/>
                        </a:buClr>
                        <a:buSzPts val="900"/>
                        <a:buFont typeface="Consolas"/>
                        <a:buNone/>
                      </a:pPr>
                      <a:r>
                        <a:rPr lang="en-US" sz="900" u="none" cap="none" strike="noStrike">
                          <a:solidFill>
                            <a:srgbClr val="F0F0F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PATCH /:id/validar</a:t>
                      </a:r>
                      <a:endParaRPr sz="9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3A3A4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A3A4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A3A4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A3A4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61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DE8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4ADE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admin · jefe_taller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3A3A4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A3A4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A3A4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A3A4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61C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0F0F4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F0F0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cerrar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3A3A4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A3A4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A3A4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A3A4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1E2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0F0F4"/>
                        </a:buClr>
                        <a:buSzPts val="900"/>
                        <a:buFont typeface="Consolas"/>
                        <a:buNone/>
                      </a:pPr>
                      <a:r>
                        <a:rPr lang="en-US" sz="900" u="none" cap="none" strike="noStrike">
                          <a:solidFill>
                            <a:srgbClr val="F0F0F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PATCH /:id/cerrar</a:t>
                      </a:r>
                      <a:endParaRPr sz="9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3A3A4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A3A4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A3A4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A3A4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1E2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DE8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4ADE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admin · jefe_taller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3A3A4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A3A4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A3A4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A3A4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1E28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0F0F4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F0F0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cancelar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3A3A4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A3A4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A3A4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A3A4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61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0F0F4"/>
                        </a:buClr>
                        <a:buSzPts val="900"/>
                        <a:buFont typeface="Consolas"/>
                        <a:buNone/>
                      </a:pPr>
                      <a:r>
                        <a:rPr lang="en-US" sz="900" u="none" cap="none" strike="noStrike">
                          <a:solidFill>
                            <a:srgbClr val="F0F0F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PATCH /:id/cancelar</a:t>
                      </a:r>
                      <a:endParaRPr sz="9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3A3A4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A3A4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A3A4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A3A4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61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DE8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4ADE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admin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3A3A4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A3A4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A3A4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A3A4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61C"/>
                    </a:solidFill>
                  </a:tcPr>
                </a:tc>
              </a:tr>
            </a:tbl>
          </a:graphicData>
        </a:graphic>
      </p:graphicFrame>
      <p:sp>
        <p:nvSpPr>
          <p:cNvPr id="507" name="Google Shape;507;p17"/>
          <p:cNvSpPr/>
          <p:nvPr/>
        </p:nvSpPr>
        <p:spPr>
          <a:xfrm>
            <a:off x="457200" y="4709160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37388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737388"/>
                </a:solidFill>
                <a:latin typeface="Calibri"/>
                <a:ea typeface="Calibri"/>
                <a:cs typeface="Calibri"/>
                <a:sym typeface="Calibri"/>
              </a:rPr>
              <a:t>Guard de rol por endpoint — RolesGuard verifica el claim de rol del JWT en cada transición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8" name="Google Shape;508;p17"/>
          <p:cNvSpPr/>
          <p:nvPr/>
        </p:nvSpPr>
        <p:spPr>
          <a:xfrm>
            <a:off x="365760" y="4892040"/>
            <a:ext cx="7772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37388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737388"/>
                </a:solidFill>
                <a:latin typeface="Calibri"/>
                <a:ea typeface="Calibri"/>
                <a:cs typeface="Calibri"/>
                <a:sym typeface="Calibri"/>
              </a:rPr>
              <a:t>Trackt — TPY1101 Taller Aplicado de Programación  |  DUOC UC  |  2026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9" name="Google Shape;509;p17"/>
          <p:cNvSpPr/>
          <p:nvPr/>
        </p:nvSpPr>
        <p:spPr>
          <a:xfrm>
            <a:off x="8503920" y="4892040"/>
            <a:ext cx="5486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37388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737388"/>
                </a:solidFill>
                <a:latin typeface="Calibri"/>
                <a:ea typeface="Calibri"/>
                <a:cs typeface="Calibri"/>
                <a:sym typeface="Calibri"/>
              </a:rPr>
              <a:t>13 / 20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8FA"/>
        </a:solidFill>
      </p:bgPr>
    </p:bg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18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34D399">
              <a:alpha val="80000"/>
            </a:srgbClr>
          </a:solidFill>
          <a:ln cap="flat" cmpd="sng" w="12700">
            <a:solidFill>
              <a:srgbClr val="34D399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6" name="Google Shape;516;p18"/>
          <p:cNvSpPr/>
          <p:nvPr/>
        </p:nvSpPr>
        <p:spPr>
          <a:xfrm>
            <a:off x="457200" y="50292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0D10"/>
              </a:buClr>
              <a:buSzPts val="2200"/>
              <a:buFont typeface="Trebuchet MS"/>
              <a:buNone/>
            </a:pPr>
            <a:r>
              <a:rPr b="1" i="0" lang="en-US" sz="2200" u="none" cap="none" strike="noStrike">
                <a:solidFill>
                  <a:srgbClr val="0D0D10"/>
                </a:solidFill>
                <a:latin typeface="Trebuchet MS"/>
                <a:ea typeface="Trebuchet MS"/>
                <a:cs typeface="Trebuchet MS"/>
                <a:sym typeface="Trebuchet MS"/>
              </a:rPr>
              <a:t>Módulo de Inventario y Reservas — nuevo en v2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" name="Google Shape;517;p18"/>
          <p:cNvSpPr/>
          <p:nvPr/>
        </p:nvSpPr>
        <p:spPr>
          <a:xfrm>
            <a:off x="457200" y="1097280"/>
            <a:ext cx="8229600" cy="594360"/>
          </a:xfrm>
          <a:prstGeom prst="rect">
            <a:avLst/>
          </a:prstGeom>
          <a:solidFill>
            <a:srgbClr val="16161C"/>
          </a:solidFill>
          <a:ln cap="flat" cmpd="sng" w="9525">
            <a:solidFill>
              <a:srgbClr val="3A3A4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8" name="Google Shape;518;p18"/>
          <p:cNvSpPr/>
          <p:nvPr/>
        </p:nvSpPr>
        <p:spPr>
          <a:xfrm>
            <a:off x="457200" y="1097280"/>
            <a:ext cx="54864" cy="594360"/>
          </a:xfrm>
          <a:prstGeom prst="rect">
            <a:avLst/>
          </a:prstGeom>
          <a:solidFill>
            <a:srgbClr val="34D399"/>
          </a:solidFill>
          <a:ln cap="flat" cmpd="sng" w="12700">
            <a:solidFill>
              <a:srgbClr val="34D3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9" name="Google Shape;519;p18"/>
          <p:cNvSpPr/>
          <p:nvPr/>
        </p:nvSpPr>
        <p:spPr>
          <a:xfrm>
            <a:off x="640080" y="1152144"/>
            <a:ext cx="2743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D399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34D399"/>
                </a:solidFill>
                <a:latin typeface="Consolas"/>
                <a:ea typeface="Consolas"/>
                <a:cs typeface="Consolas"/>
                <a:sym typeface="Consolas"/>
              </a:rPr>
              <a:t>repuestos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" name="Google Shape;520;p18"/>
          <p:cNvSpPr/>
          <p:nvPr/>
        </p:nvSpPr>
        <p:spPr>
          <a:xfrm>
            <a:off x="640080" y="1417320"/>
            <a:ext cx="77724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3738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737388"/>
                </a:solidFill>
                <a:latin typeface="Calibri"/>
                <a:ea typeface="Calibri"/>
                <a:cs typeface="Calibri"/>
                <a:sym typeface="Calibri"/>
              </a:rPr>
              <a:t>Catálogo con código único por tenant, categoría, unidad y stock mínimo.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1" name="Google Shape;521;p18"/>
          <p:cNvSpPr/>
          <p:nvPr/>
        </p:nvSpPr>
        <p:spPr>
          <a:xfrm>
            <a:off x="457200" y="1783080"/>
            <a:ext cx="8229600" cy="594360"/>
          </a:xfrm>
          <a:prstGeom prst="rect">
            <a:avLst/>
          </a:prstGeom>
          <a:solidFill>
            <a:srgbClr val="16161C"/>
          </a:solidFill>
          <a:ln cap="flat" cmpd="sng" w="9525">
            <a:solidFill>
              <a:srgbClr val="3A3A4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2" name="Google Shape;522;p18"/>
          <p:cNvSpPr/>
          <p:nvPr/>
        </p:nvSpPr>
        <p:spPr>
          <a:xfrm>
            <a:off x="457200" y="1783080"/>
            <a:ext cx="54864" cy="594360"/>
          </a:xfrm>
          <a:prstGeom prst="rect">
            <a:avLst/>
          </a:prstGeom>
          <a:solidFill>
            <a:srgbClr val="34D399"/>
          </a:solidFill>
          <a:ln cap="flat" cmpd="sng" w="12700">
            <a:solidFill>
              <a:srgbClr val="34D3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3" name="Google Shape;523;p18"/>
          <p:cNvSpPr/>
          <p:nvPr/>
        </p:nvSpPr>
        <p:spPr>
          <a:xfrm>
            <a:off x="640080" y="1837944"/>
            <a:ext cx="2743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D399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34D399"/>
                </a:solidFill>
                <a:latin typeface="Consolas"/>
                <a:ea typeface="Consolas"/>
                <a:cs typeface="Consolas"/>
                <a:sym typeface="Consolas"/>
              </a:rPr>
              <a:t>inventario_stock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4" name="Google Shape;524;p18"/>
          <p:cNvSpPr/>
          <p:nvPr/>
        </p:nvSpPr>
        <p:spPr>
          <a:xfrm>
            <a:off x="640080" y="2103120"/>
            <a:ext cx="77724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3738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737388"/>
                </a:solidFill>
                <a:latin typeface="Calibri"/>
                <a:ea typeface="Calibri"/>
                <a:cs typeface="Calibri"/>
                <a:sym typeface="Calibri"/>
              </a:rPr>
              <a:t>Stock 1:1 con repuesto: stockActual, stockReservado, stockDisponible.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5" name="Google Shape;525;p18"/>
          <p:cNvSpPr/>
          <p:nvPr/>
        </p:nvSpPr>
        <p:spPr>
          <a:xfrm>
            <a:off x="457200" y="2468880"/>
            <a:ext cx="8229600" cy="594360"/>
          </a:xfrm>
          <a:prstGeom prst="rect">
            <a:avLst/>
          </a:prstGeom>
          <a:solidFill>
            <a:srgbClr val="16161C"/>
          </a:solidFill>
          <a:ln cap="flat" cmpd="sng" w="9525">
            <a:solidFill>
              <a:srgbClr val="3A3A4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6" name="Google Shape;526;p18"/>
          <p:cNvSpPr/>
          <p:nvPr/>
        </p:nvSpPr>
        <p:spPr>
          <a:xfrm>
            <a:off x="457200" y="2468880"/>
            <a:ext cx="54864" cy="594360"/>
          </a:xfrm>
          <a:prstGeom prst="rect">
            <a:avLst/>
          </a:prstGeom>
          <a:solidFill>
            <a:srgbClr val="34D399"/>
          </a:solidFill>
          <a:ln cap="flat" cmpd="sng" w="12700">
            <a:solidFill>
              <a:srgbClr val="34D3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7" name="Google Shape;527;p18"/>
          <p:cNvSpPr/>
          <p:nvPr/>
        </p:nvSpPr>
        <p:spPr>
          <a:xfrm>
            <a:off x="640080" y="2523744"/>
            <a:ext cx="2743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D399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34D399"/>
                </a:solidFill>
                <a:latin typeface="Consolas"/>
                <a:ea typeface="Consolas"/>
                <a:cs typeface="Consolas"/>
                <a:sym typeface="Consolas"/>
              </a:rPr>
              <a:t>reservas_repuesto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8" name="Google Shape;528;p18"/>
          <p:cNvSpPr/>
          <p:nvPr/>
        </p:nvSpPr>
        <p:spPr>
          <a:xfrm>
            <a:off x="640080" y="2788920"/>
            <a:ext cx="77724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3738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737388"/>
                </a:solidFill>
                <a:latin typeface="Calibri"/>
                <a:ea typeface="Calibri"/>
                <a:cs typeface="Calibri"/>
                <a:sym typeface="Calibri"/>
              </a:rPr>
              <a:t>Reserva por ticket: SOLICITADA → RESERVADA → CONSUMIDA / LIBERADA.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9" name="Google Shape;529;p18"/>
          <p:cNvSpPr/>
          <p:nvPr/>
        </p:nvSpPr>
        <p:spPr>
          <a:xfrm>
            <a:off x="457200" y="3154680"/>
            <a:ext cx="8229600" cy="594360"/>
          </a:xfrm>
          <a:prstGeom prst="rect">
            <a:avLst/>
          </a:prstGeom>
          <a:solidFill>
            <a:srgbClr val="16161C"/>
          </a:solidFill>
          <a:ln cap="flat" cmpd="sng" w="9525">
            <a:solidFill>
              <a:srgbClr val="3A3A4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0" name="Google Shape;530;p18"/>
          <p:cNvSpPr/>
          <p:nvPr/>
        </p:nvSpPr>
        <p:spPr>
          <a:xfrm>
            <a:off x="457200" y="3154680"/>
            <a:ext cx="54864" cy="594360"/>
          </a:xfrm>
          <a:prstGeom prst="rect">
            <a:avLst/>
          </a:prstGeom>
          <a:solidFill>
            <a:srgbClr val="34D399"/>
          </a:solidFill>
          <a:ln cap="flat" cmpd="sng" w="12700">
            <a:solidFill>
              <a:srgbClr val="34D3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1" name="Google Shape;531;p18"/>
          <p:cNvSpPr/>
          <p:nvPr/>
        </p:nvSpPr>
        <p:spPr>
          <a:xfrm>
            <a:off x="640080" y="3209544"/>
            <a:ext cx="2743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D399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34D399"/>
                </a:solidFill>
                <a:latin typeface="Consolas"/>
                <a:ea typeface="Consolas"/>
                <a:cs typeface="Consolas"/>
                <a:sym typeface="Consolas"/>
              </a:rPr>
              <a:t>reserva_repuesto_items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2" name="Google Shape;532;p18"/>
          <p:cNvSpPr/>
          <p:nvPr/>
        </p:nvSpPr>
        <p:spPr>
          <a:xfrm>
            <a:off x="640080" y="3474720"/>
            <a:ext cx="77724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3738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737388"/>
                </a:solidFill>
                <a:latin typeface="Calibri"/>
                <a:ea typeface="Calibri"/>
                <a:cs typeface="Calibri"/>
                <a:sym typeface="Calibri"/>
              </a:rPr>
              <a:t>Ítems de una reserva (N repuestos por reserva).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3" name="Google Shape;533;p18"/>
          <p:cNvSpPr/>
          <p:nvPr/>
        </p:nvSpPr>
        <p:spPr>
          <a:xfrm>
            <a:off x="457200" y="3840480"/>
            <a:ext cx="8229600" cy="594360"/>
          </a:xfrm>
          <a:prstGeom prst="rect">
            <a:avLst/>
          </a:prstGeom>
          <a:solidFill>
            <a:srgbClr val="16161C"/>
          </a:solidFill>
          <a:ln cap="flat" cmpd="sng" w="9525">
            <a:solidFill>
              <a:srgbClr val="3A3A4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4" name="Google Shape;534;p18"/>
          <p:cNvSpPr/>
          <p:nvPr/>
        </p:nvSpPr>
        <p:spPr>
          <a:xfrm>
            <a:off x="457200" y="3840480"/>
            <a:ext cx="54864" cy="594360"/>
          </a:xfrm>
          <a:prstGeom prst="rect">
            <a:avLst/>
          </a:prstGeom>
          <a:solidFill>
            <a:srgbClr val="34D399"/>
          </a:solidFill>
          <a:ln cap="flat" cmpd="sng" w="12700">
            <a:solidFill>
              <a:srgbClr val="34D3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5" name="Google Shape;535;p18"/>
          <p:cNvSpPr/>
          <p:nvPr/>
        </p:nvSpPr>
        <p:spPr>
          <a:xfrm>
            <a:off x="640080" y="3895344"/>
            <a:ext cx="2743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D399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34D399"/>
                </a:solidFill>
                <a:latin typeface="Consolas"/>
                <a:ea typeface="Consolas"/>
                <a:cs typeface="Consolas"/>
                <a:sym typeface="Consolas"/>
              </a:rPr>
              <a:t>movimientos_inventario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6" name="Google Shape;536;p18"/>
          <p:cNvSpPr/>
          <p:nvPr/>
        </p:nvSpPr>
        <p:spPr>
          <a:xfrm>
            <a:off x="640080" y="4160520"/>
            <a:ext cx="77724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3738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737388"/>
                </a:solidFill>
                <a:latin typeface="Calibri"/>
                <a:ea typeface="Calibri"/>
                <a:cs typeface="Calibri"/>
                <a:sym typeface="Calibri"/>
              </a:rPr>
              <a:t>Registro inmutable: ENTRADA · SALIDA · AJUSTE · RESERVA · LIBERACION · CONSUMO.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7" name="Google Shape;537;p18"/>
          <p:cNvSpPr/>
          <p:nvPr/>
        </p:nvSpPr>
        <p:spPr>
          <a:xfrm>
            <a:off x="457200" y="4572000"/>
            <a:ext cx="8229600" cy="347472"/>
          </a:xfrm>
          <a:prstGeom prst="rect">
            <a:avLst/>
          </a:prstGeom>
          <a:solidFill>
            <a:srgbClr val="16161C"/>
          </a:solidFill>
          <a:ln cap="flat" cmpd="sng" w="9525">
            <a:solidFill>
              <a:srgbClr val="3A3A4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8" name="Google Shape;538;p18"/>
          <p:cNvSpPr/>
          <p:nvPr/>
        </p:nvSpPr>
        <p:spPr>
          <a:xfrm>
            <a:off x="594360" y="4636008"/>
            <a:ext cx="78638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DE80"/>
              </a:buClr>
              <a:buSzPts val="950"/>
              <a:buFont typeface="Calibri"/>
              <a:buNone/>
            </a:pPr>
            <a:r>
              <a:rPr b="0" i="1" lang="en-US" sz="950" u="none" cap="none" strike="noStrike">
                <a:solidFill>
                  <a:srgbClr val="4ADE80"/>
                </a:solidFill>
                <a:latin typeface="Calibri"/>
                <a:ea typeface="Calibri"/>
                <a:cs typeface="Calibri"/>
                <a:sym typeface="Calibri"/>
              </a:rPr>
              <a:t>🔒  Control transaccional con Prisma $transaction — garantiza consistencia al consumir o liberar stock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9" name="Google Shape;539;p18"/>
          <p:cNvSpPr/>
          <p:nvPr/>
        </p:nvSpPr>
        <p:spPr>
          <a:xfrm>
            <a:off x="365760" y="4892040"/>
            <a:ext cx="7772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37388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737388"/>
                </a:solidFill>
                <a:latin typeface="Calibri"/>
                <a:ea typeface="Calibri"/>
                <a:cs typeface="Calibri"/>
                <a:sym typeface="Calibri"/>
              </a:rPr>
              <a:t>Trackt — TPY1101 Taller Aplicado de Programación  |  DUOC UC  |  2026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0" name="Google Shape;540;p18"/>
          <p:cNvSpPr/>
          <p:nvPr/>
        </p:nvSpPr>
        <p:spPr>
          <a:xfrm>
            <a:off x="8503920" y="4892040"/>
            <a:ext cx="5486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37388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737388"/>
                </a:solidFill>
                <a:latin typeface="Calibri"/>
                <a:ea typeface="Calibri"/>
                <a:cs typeface="Calibri"/>
                <a:sym typeface="Calibri"/>
              </a:rPr>
              <a:t>14 / 20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0D10"/>
        </a:solidFill>
      </p:bgPr>
    </p:bg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p19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60A5FA">
              <a:alpha val="80000"/>
            </a:srgbClr>
          </a:solidFill>
          <a:ln cap="flat" cmpd="sng" w="12700">
            <a:solidFill>
              <a:srgbClr val="60A5FA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7" name="Google Shape;547;p19"/>
          <p:cNvSpPr/>
          <p:nvPr/>
        </p:nvSpPr>
        <p:spPr>
          <a:xfrm>
            <a:off x="457200" y="50292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Trebuchet MS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Base de datos — 12 entidades y RLS por rol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548" name="Google Shape;548;p19"/>
          <p:cNvGraphicFramePr/>
          <p:nvPr/>
        </p:nvGraphicFramePr>
        <p:xfrm>
          <a:off x="457200" y="102412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{7C22BBE9-236B-47B2-9936-DCF749294B30}</a:tableStyleId>
              </a:tblPr>
              <a:tblGrid>
                <a:gridCol w="4114800"/>
                <a:gridCol w="4114800"/>
              </a:tblGrid>
              <a:tr h="288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Entidad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3A3A4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A3A4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A3A4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A3A4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0A5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Propósito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3A3A4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A3A4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A3A4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A3A4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0A5FA"/>
                    </a:solidFill>
                  </a:tcPr>
                </a:tc>
              </a:tr>
              <a:tr h="288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D3EE"/>
                        </a:buClr>
                        <a:buSzPts val="850"/>
                        <a:buFont typeface="Consolas"/>
                        <a:buNone/>
                      </a:pPr>
                      <a:r>
                        <a:rPr lang="en-US" sz="850" u="none" cap="none" strike="noStrike">
                          <a:solidFill>
                            <a:srgbClr val="22D3EE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tenants</a:t>
                      </a:r>
                      <a:endParaRPr sz="85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3A3A4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A3A4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A3A4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A3A4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61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8C8D4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850" u="none" cap="none" strike="noStrike">
                          <a:solidFill>
                            <a:srgbClr val="C8C8D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Organización / taller</a:t>
                      </a:r>
                      <a:endParaRPr sz="8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3A3A4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A3A4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A3A4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A3A4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61C"/>
                    </a:solidFill>
                  </a:tcPr>
                </a:tc>
              </a:tr>
              <a:tr h="288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D3EE"/>
                        </a:buClr>
                        <a:buSzPts val="850"/>
                        <a:buFont typeface="Consolas"/>
                        <a:buNone/>
                      </a:pPr>
                      <a:r>
                        <a:rPr lang="en-US" sz="850" u="none" cap="none" strike="noStrike">
                          <a:solidFill>
                            <a:srgbClr val="22D3EE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profiles + auth.users</a:t>
                      </a:r>
                      <a:endParaRPr sz="85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3A3A4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A3A4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A3A4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A3A4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1E2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8C8D4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850" u="none" cap="none" strike="noStrike">
                          <a:solidFill>
                            <a:srgbClr val="C8C8D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Usuario con rol y tenantId</a:t>
                      </a:r>
                      <a:endParaRPr sz="8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3A3A4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A3A4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A3A4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A3A4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1E28"/>
                    </a:solidFill>
                  </a:tcPr>
                </a:tc>
              </a:tr>
              <a:tr h="288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D3EE"/>
                        </a:buClr>
                        <a:buSzPts val="850"/>
                        <a:buFont typeface="Consolas"/>
                        <a:buNone/>
                      </a:pPr>
                      <a:r>
                        <a:rPr lang="en-US" sz="850" u="none" cap="none" strike="noStrike">
                          <a:solidFill>
                            <a:srgbClr val="22D3EE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equipos</a:t>
                      </a:r>
                      <a:endParaRPr sz="85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3A3A4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A3A4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A3A4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A3A4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61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8C8D4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850" u="none" cap="none" strike="noStrike">
                          <a:solidFill>
                            <a:srgbClr val="C8C8D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Maquinaria del taller</a:t>
                      </a:r>
                      <a:endParaRPr sz="8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3A3A4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A3A4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A3A4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A3A4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61C"/>
                    </a:solidFill>
                  </a:tcPr>
                </a:tc>
              </a:tr>
              <a:tr h="288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D3EE"/>
                        </a:buClr>
                        <a:buSzPts val="850"/>
                        <a:buFont typeface="Consolas"/>
                        <a:buNone/>
                      </a:pPr>
                      <a:r>
                        <a:rPr lang="en-US" sz="850" u="none" cap="none" strike="noStrike">
                          <a:solidFill>
                            <a:srgbClr val="22D3EE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ordenes_trabajo</a:t>
                      </a:r>
                      <a:endParaRPr sz="85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3A3A4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A3A4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A3A4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A3A4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1E2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8C8D4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850" u="none" cap="none" strike="noStrike">
                          <a:solidFill>
                            <a:srgbClr val="C8C8D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Orden de mantenimiento</a:t>
                      </a:r>
                      <a:endParaRPr sz="8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3A3A4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A3A4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A3A4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A3A4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1E28"/>
                    </a:solidFill>
                  </a:tcPr>
                </a:tc>
              </a:tr>
              <a:tr h="288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D3EE"/>
                        </a:buClr>
                        <a:buSzPts val="850"/>
                        <a:buFont typeface="Consolas"/>
                        <a:buNone/>
                      </a:pPr>
                      <a:r>
                        <a:rPr lang="en-US" sz="850" u="none" cap="none" strike="noStrike">
                          <a:solidFill>
                            <a:srgbClr val="22D3EE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tickets</a:t>
                      </a:r>
                      <a:endParaRPr sz="85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3A3A4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A3A4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A3A4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A3A4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61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8C8D4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850" u="none" cap="none" strike="noStrike">
                          <a:solidFill>
                            <a:srgbClr val="C8C8D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Unidad de trabajo con transiciones</a:t>
                      </a:r>
                      <a:endParaRPr sz="8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3A3A4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A3A4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A3A4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A3A4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61C"/>
                    </a:solidFill>
                  </a:tcPr>
                </a:tc>
              </a:tr>
              <a:tr h="288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D3EE"/>
                        </a:buClr>
                        <a:buSzPts val="850"/>
                        <a:buFont typeface="Consolas"/>
                        <a:buNone/>
                      </a:pPr>
                      <a:r>
                        <a:rPr lang="en-US" sz="850" u="none" cap="none" strike="noStrike">
                          <a:solidFill>
                            <a:srgbClr val="22D3EE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eventos_estado_ticket</a:t>
                      </a:r>
                      <a:endParaRPr sz="85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3A3A4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A3A4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A3A4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A3A4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1E2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8C8D4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850" u="none" cap="none" strike="noStrike">
                          <a:solidFill>
                            <a:srgbClr val="C8C8D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Historial inmutable de estados</a:t>
                      </a:r>
                      <a:endParaRPr sz="8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3A3A4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A3A4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A3A4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A3A4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1E28"/>
                    </a:solidFill>
                  </a:tcPr>
                </a:tc>
              </a:tr>
              <a:tr h="288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D3EE"/>
                        </a:buClr>
                        <a:buSzPts val="850"/>
                        <a:buFont typeface="Consolas"/>
                        <a:buNone/>
                      </a:pPr>
                      <a:r>
                        <a:rPr lang="en-US" sz="850" u="none" cap="none" strike="noStrike">
                          <a:solidFill>
                            <a:srgbClr val="22D3EE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evidencias</a:t>
                      </a:r>
                      <a:endParaRPr sz="85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3A3A4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A3A4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A3A4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A3A4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61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8C8D4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850" u="none" cap="none" strike="noStrike">
                          <a:solidFill>
                            <a:srgbClr val="C8C8D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Fotos por ticket (Supabase Storage)</a:t>
                      </a:r>
                      <a:endParaRPr sz="8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3A3A4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A3A4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A3A4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A3A4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61C"/>
                    </a:solidFill>
                  </a:tcPr>
                </a:tc>
              </a:tr>
              <a:tr h="288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D3EE"/>
                        </a:buClr>
                        <a:buSzPts val="850"/>
                        <a:buFont typeface="Consolas"/>
                        <a:buNone/>
                      </a:pPr>
                      <a:r>
                        <a:rPr lang="en-US" sz="850" u="none" cap="none" strike="noStrike">
                          <a:solidFill>
                            <a:srgbClr val="22D3EE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notificaciones</a:t>
                      </a:r>
                      <a:endParaRPr sz="85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3A3A4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A3A4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A3A4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A3A4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1E2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8C8D4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850" u="none" cap="none" strike="noStrike">
                          <a:solidFill>
                            <a:srgbClr val="C8C8D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Alertas in-app (Supabase Realtime)</a:t>
                      </a:r>
                      <a:endParaRPr sz="8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3A3A4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A3A4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A3A4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A3A4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1E28"/>
                    </a:solidFill>
                  </a:tcPr>
                </a:tc>
              </a:tr>
              <a:tr h="288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D3EE"/>
                        </a:buClr>
                        <a:buSzPts val="850"/>
                        <a:buFont typeface="Consolas"/>
                        <a:buNone/>
                      </a:pPr>
                      <a:r>
                        <a:rPr lang="en-US" sz="850" u="none" cap="none" strike="noStrike">
                          <a:solidFill>
                            <a:srgbClr val="22D3EE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repuestos ⭐</a:t>
                      </a:r>
                      <a:endParaRPr sz="85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3A3A4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A3A4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A3A4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A3A4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61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8C8D4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850" u="none" cap="none" strike="noStrike">
                          <a:solidFill>
                            <a:srgbClr val="C8C8D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Catálogo de repuestos</a:t>
                      </a:r>
                      <a:endParaRPr sz="8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3A3A4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A3A4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A3A4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A3A4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61C"/>
                    </a:solidFill>
                  </a:tcPr>
                </a:tc>
              </a:tr>
              <a:tr h="288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D3EE"/>
                        </a:buClr>
                        <a:buSzPts val="850"/>
                        <a:buFont typeface="Consolas"/>
                        <a:buNone/>
                      </a:pPr>
                      <a:r>
                        <a:rPr lang="en-US" sz="850" u="none" cap="none" strike="noStrike">
                          <a:solidFill>
                            <a:srgbClr val="22D3EE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inventario_stock ⭐</a:t>
                      </a:r>
                      <a:endParaRPr sz="85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3A3A4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A3A4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A3A4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A3A4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1E2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8C8D4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850" u="none" cap="none" strike="noStrike">
                          <a:solidFill>
                            <a:srgbClr val="C8C8D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Stock en tiempo real</a:t>
                      </a:r>
                      <a:endParaRPr sz="8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3A3A4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A3A4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A3A4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A3A4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1E28"/>
                    </a:solidFill>
                  </a:tcPr>
                </a:tc>
              </a:tr>
              <a:tr h="288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D3EE"/>
                        </a:buClr>
                        <a:buSzPts val="850"/>
                        <a:buFont typeface="Consolas"/>
                        <a:buNone/>
                      </a:pPr>
                      <a:r>
                        <a:rPr lang="en-US" sz="850" u="none" cap="none" strike="noStrike">
                          <a:solidFill>
                            <a:srgbClr val="22D3EE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reservas + items ⭐</a:t>
                      </a:r>
                      <a:endParaRPr sz="85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3A3A4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A3A4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A3A4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A3A4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61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8C8D4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850" u="none" cap="none" strike="noStrike">
                          <a:solidFill>
                            <a:srgbClr val="C8C8D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Reservas por ticket</a:t>
                      </a:r>
                      <a:endParaRPr sz="8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3A3A4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A3A4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A3A4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A3A4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61C"/>
                    </a:solidFill>
                  </a:tcPr>
                </a:tc>
              </a:tr>
              <a:tr h="288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D3EE"/>
                        </a:buClr>
                        <a:buSzPts val="850"/>
                        <a:buFont typeface="Consolas"/>
                        <a:buNone/>
                      </a:pPr>
                      <a:r>
                        <a:rPr lang="en-US" sz="850" u="none" cap="none" strike="noStrike">
                          <a:solidFill>
                            <a:srgbClr val="22D3EE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movimientos_inventario ⭐</a:t>
                      </a:r>
                      <a:endParaRPr sz="85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3A3A4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A3A4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A3A4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A3A4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1E2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8C8D4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850" u="none" cap="none" strike="noStrike">
                          <a:solidFill>
                            <a:srgbClr val="C8C8D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Historial inmutable de stock</a:t>
                      </a:r>
                      <a:endParaRPr sz="8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3A3A4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A3A4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A3A4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A3A4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1E28"/>
                    </a:solidFill>
                  </a:tcPr>
                </a:tc>
              </a:tr>
            </a:tbl>
          </a:graphicData>
        </a:graphic>
      </p:graphicFrame>
      <p:sp>
        <p:nvSpPr>
          <p:cNvPr id="549" name="Google Shape;549;p19"/>
          <p:cNvSpPr/>
          <p:nvPr/>
        </p:nvSpPr>
        <p:spPr>
          <a:xfrm>
            <a:off x="457200" y="4828032"/>
            <a:ext cx="82296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37388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737388"/>
                </a:solidFill>
                <a:latin typeface="Calibri"/>
                <a:ea typeface="Calibri"/>
                <a:cs typeface="Calibri"/>
                <a:sym typeface="Calibri"/>
              </a:rPr>
              <a:t>RLS habilitado  ·  9 migraciones SQL versionadas en supabase/migrations/  ·  ⭐ = nuevas en esta versión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0" name="Google Shape;550;p19"/>
          <p:cNvSpPr/>
          <p:nvPr/>
        </p:nvSpPr>
        <p:spPr>
          <a:xfrm>
            <a:off x="365760" y="4892040"/>
            <a:ext cx="7772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37388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737388"/>
                </a:solidFill>
                <a:latin typeface="Calibri"/>
                <a:ea typeface="Calibri"/>
                <a:cs typeface="Calibri"/>
                <a:sym typeface="Calibri"/>
              </a:rPr>
              <a:t>Trackt — TPY1101 Taller Aplicado de Programación  |  DUOC UC  |  2026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1" name="Google Shape;551;p19"/>
          <p:cNvSpPr/>
          <p:nvPr/>
        </p:nvSpPr>
        <p:spPr>
          <a:xfrm>
            <a:off x="8503920" y="4892040"/>
            <a:ext cx="5486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37388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737388"/>
                </a:solidFill>
                <a:latin typeface="Calibri"/>
                <a:ea typeface="Calibri"/>
                <a:cs typeface="Calibri"/>
                <a:sym typeface="Calibri"/>
              </a:rPr>
              <a:t>15 / 20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8FA"/>
        </a:solidFill>
      </p:bgPr>
    </p:bg>
    <p:spTree>
      <p:nvGrpSpPr>
        <p:cNvPr id="556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p20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60A5FA">
              <a:alpha val="80000"/>
            </a:srgbClr>
          </a:solidFill>
          <a:ln cap="flat" cmpd="sng" w="12700">
            <a:solidFill>
              <a:srgbClr val="60A5FA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8" name="Google Shape;558;p20"/>
          <p:cNvSpPr/>
          <p:nvPr/>
        </p:nvSpPr>
        <p:spPr>
          <a:xfrm>
            <a:off x="457200" y="50292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0D10"/>
              </a:buClr>
              <a:buSzPts val="2200"/>
              <a:buFont typeface="Trebuchet MS"/>
              <a:buNone/>
            </a:pPr>
            <a:r>
              <a:rPr b="1" i="0" lang="en-US" sz="2200" u="none" cap="none" strike="noStrike">
                <a:solidFill>
                  <a:srgbClr val="0D0D10"/>
                </a:solidFill>
                <a:latin typeface="Trebuchet MS"/>
                <a:ea typeface="Trebuchet MS"/>
                <a:cs typeface="Trebuchet MS"/>
                <a:sym typeface="Trebuchet MS"/>
              </a:rPr>
              <a:t>Resultados de pruebas — backend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20"/>
          <p:cNvSpPr/>
          <p:nvPr/>
        </p:nvSpPr>
        <p:spPr>
          <a:xfrm>
            <a:off x="457200" y="960120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37388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737388"/>
                </a:solidFill>
                <a:latin typeface="Calibri"/>
                <a:ea typeface="Calibri"/>
                <a:cs typeface="Calibri"/>
                <a:sym typeface="Calibri"/>
              </a:rPr>
              <a:t>Suite Jest sobre trackt-api: 5 de 6 suites aprobadas · 127 de 128 tests correctos.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0" name="Google Shape;560;p20"/>
          <p:cNvSpPr/>
          <p:nvPr/>
        </p:nvSpPr>
        <p:spPr>
          <a:xfrm>
            <a:off x="457200" y="1325880"/>
            <a:ext cx="1965960" cy="914400"/>
          </a:xfrm>
          <a:prstGeom prst="rect">
            <a:avLst/>
          </a:prstGeom>
          <a:solidFill>
            <a:srgbClr val="16161C"/>
          </a:solidFill>
          <a:ln cap="flat" cmpd="sng" w="9525">
            <a:solidFill>
              <a:srgbClr val="3A3A4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1" name="Google Shape;561;p20"/>
          <p:cNvSpPr/>
          <p:nvPr/>
        </p:nvSpPr>
        <p:spPr>
          <a:xfrm>
            <a:off x="548640" y="1389888"/>
            <a:ext cx="137160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A5FA"/>
              </a:buClr>
              <a:buSzPts val="3600"/>
              <a:buFont typeface="Trebuchet MS"/>
              <a:buNone/>
            </a:pPr>
            <a:r>
              <a:rPr b="1" i="0" lang="en-US" sz="3600" u="none" cap="none" strike="noStrike">
                <a:solidFill>
                  <a:srgbClr val="60A5FA"/>
                </a:solidFill>
                <a:latin typeface="Trebuchet MS"/>
                <a:ea typeface="Trebuchet MS"/>
                <a:cs typeface="Trebuchet MS"/>
                <a:sym typeface="Trebuchet MS"/>
              </a:rPr>
              <a:t>6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2" name="Google Shape;562;p20"/>
          <p:cNvSpPr/>
          <p:nvPr/>
        </p:nvSpPr>
        <p:spPr>
          <a:xfrm>
            <a:off x="1783080" y="1508760"/>
            <a:ext cx="7315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37388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737388"/>
                </a:solidFill>
                <a:latin typeface="Calibri"/>
                <a:ea typeface="Calibri"/>
                <a:cs typeface="Calibri"/>
                <a:sym typeface="Calibri"/>
              </a:rPr>
              <a:t>Suites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37388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737388"/>
                </a:solidFill>
                <a:latin typeface="Calibri"/>
                <a:ea typeface="Calibri"/>
                <a:cs typeface="Calibri"/>
                <a:sym typeface="Calibri"/>
              </a:rPr>
              <a:t>totales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3" name="Google Shape;563;p20"/>
          <p:cNvSpPr/>
          <p:nvPr/>
        </p:nvSpPr>
        <p:spPr>
          <a:xfrm>
            <a:off x="2606040" y="1325880"/>
            <a:ext cx="1965960" cy="914400"/>
          </a:xfrm>
          <a:prstGeom prst="rect">
            <a:avLst/>
          </a:prstGeom>
          <a:solidFill>
            <a:srgbClr val="16161C"/>
          </a:solidFill>
          <a:ln cap="flat" cmpd="sng" w="9525">
            <a:solidFill>
              <a:srgbClr val="3A3A4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4" name="Google Shape;564;p20"/>
          <p:cNvSpPr/>
          <p:nvPr/>
        </p:nvSpPr>
        <p:spPr>
          <a:xfrm>
            <a:off x="2697480" y="1389888"/>
            <a:ext cx="137160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DE80"/>
              </a:buClr>
              <a:buSzPts val="3600"/>
              <a:buFont typeface="Trebuchet MS"/>
              <a:buNone/>
            </a:pPr>
            <a:r>
              <a:rPr b="1" i="0" lang="en-US" sz="3600" u="none" cap="none" strike="noStrike">
                <a:solidFill>
                  <a:srgbClr val="4ADE80"/>
                </a:solidFill>
                <a:latin typeface="Trebuchet MS"/>
                <a:ea typeface="Trebuchet MS"/>
                <a:cs typeface="Trebuchet MS"/>
                <a:sym typeface="Trebuchet MS"/>
              </a:rPr>
              <a:t>5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5" name="Google Shape;565;p20"/>
          <p:cNvSpPr/>
          <p:nvPr/>
        </p:nvSpPr>
        <p:spPr>
          <a:xfrm>
            <a:off x="3931920" y="1508760"/>
            <a:ext cx="7315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37388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737388"/>
                </a:solidFill>
                <a:latin typeface="Calibri"/>
                <a:ea typeface="Calibri"/>
                <a:cs typeface="Calibri"/>
                <a:sym typeface="Calibri"/>
              </a:rPr>
              <a:t>Suites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37388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737388"/>
                </a:solidFill>
                <a:latin typeface="Calibri"/>
                <a:ea typeface="Calibri"/>
                <a:cs typeface="Calibri"/>
                <a:sym typeface="Calibri"/>
              </a:rPr>
              <a:t>aprobadas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6" name="Google Shape;566;p20"/>
          <p:cNvSpPr/>
          <p:nvPr/>
        </p:nvSpPr>
        <p:spPr>
          <a:xfrm>
            <a:off x="4846345" y="1348730"/>
            <a:ext cx="1965900" cy="914400"/>
          </a:xfrm>
          <a:prstGeom prst="rect">
            <a:avLst/>
          </a:prstGeom>
          <a:solidFill>
            <a:srgbClr val="16161C"/>
          </a:solidFill>
          <a:ln cap="flat" cmpd="sng" w="9525">
            <a:solidFill>
              <a:srgbClr val="3A3A4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7" name="Google Shape;567;p20"/>
          <p:cNvSpPr/>
          <p:nvPr/>
        </p:nvSpPr>
        <p:spPr>
          <a:xfrm>
            <a:off x="4846310" y="1389888"/>
            <a:ext cx="1371600" cy="53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DE80"/>
              </a:buClr>
              <a:buSzPts val="3600"/>
              <a:buFont typeface="Trebuchet MS"/>
              <a:buNone/>
            </a:pPr>
            <a:r>
              <a:rPr b="1" i="0" lang="en-US" sz="3600" u="none" cap="none" strike="noStrike">
                <a:solidFill>
                  <a:srgbClr val="4ADE80"/>
                </a:solidFill>
                <a:latin typeface="Trebuchet MS"/>
                <a:ea typeface="Trebuchet MS"/>
                <a:cs typeface="Trebuchet MS"/>
                <a:sym typeface="Trebuchet MS"/>
              </a:rPr>
              <a:t>127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8" name="Google Shape;568;p20"/>
          <p:cNvSpPr/>
          <p:nvPr/>
        </p:nvSpPr>
        <p:spPr>
          <a:xfrm>
            <a:off x="5925325" y="1517910"/>
            <a:ext cx="7314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37388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737388"/>
                </a:solidFill>
                <a:latin typeface="Calibri"/>
                <a:ea typeface="Calibri"/>
                <a:cs typeface="Calibri"/>
                <a:sym typeface="Calibri"/>
              </a:rPr>
              <a:t>Tests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37388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737388"/>
                </a:solidFill>
                <a:latin typeface="Calibri"/>
                <a:ea typeface="Calibri"/>
                <a:cs typeface="Calibri"/>
                <a:sym typeface="Calibri"/>
              </a:rPr>
              <a:t>aprobados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9" name="Google Shape;569;p20"/>
          <p:cNvSpPr/>
          <p:nvPr/>
        </p:nvSpPr>
        <p:spPr>
          <a:xfrm>
            <a:off x="2331725" y="2402578"/>
            <a:ext cx="3931800" cy="1371600"/>
          </a:xfrm>
          <a:prstGeom prst="rect">
            <a:avLst/>
          </a:prstGeom>
          <a:solidFill>
            <a:srgbClr val="16161C"/>
          </a:solidFill>
          <a:ln cap="flat" cmpd="sng" w="9525">
            <a:solidFill>
              <a:srgbClr val="3A3A4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0" name="Google Shape;570;p20"/>
          <p:cNvSpPr/>
          <p:nvPr/>
        </p:nvSpPr>
        <p:spPr>
          <a:xfrm>
            <a:off x="2423160" y="2482593"/>
            <a:ext cx="36576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DE80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4ADE80"/>
                </a:solidFill>
                <a:latin typeface="Calibri"/>
                <a:ea typeface="Calibri"/>
                <a:cs typeface="Calibri"/>
                <a:sym typeface="Calibri"/>
              </a:rPr>
              <a:t>✅  Pipeline de build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1" name="Google Shape;571;p20"/>
          <p:cNvSpPr/>
          <p:nvPr/>
        </p:nvSpPr>
        <p:spPr>
          <a:xfrm>
            <a:off x="2423160" y="2738495"/>
            <a:ext cx="36576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0F0F4"/>
              </a:buClr>
              <a:buSzPts val="900"/>
              <a:buFont typeface="Calibri"/>
              <a:buChar char="•"/>
            </a:pPr>
            <a:r>
              <a:rPr b="0" i="0" lang="en-US" sz="900" u="none" cap="none" strike="noStrike">
                <a:solidFill>
                  <a:srgbClr val="F0F0F4"/>
                </a:solidFill>
                <a:latin typeface="Calibri"/>
                <a:ea typeface="Calibri"/>
                <a:cs typeface="Calibri"/>
                <a:sym typeface="Calibri"/>
              </a:rPr>
              <a:t>npm install — 735 paquetes · 3 vulnerabilidades menores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F0F0F4"/>
              </a:buClr>
              <a:buSzPts val="900"/>
              <a:buFont typeface="Calibri"/>
              <a:buChar char="•"/>
            </a:pPr>
            <a:r>
              <a:rPr b="0" i="0" lang="en-US" sz="900" u="none" cap="none" strike="noStrike">
                <a:solidFill>
                  <a:srgbClr val="F0F0F4"/>
                </a:solidFill>
                <a:latin typeface="Calibri"/>
                <a:ea typeface="Calibri"/>
                <a:cs typeface="Calibri"/>
                <a:sym typeface="Calibri"/>
              </a:rPr>
              <a:t>npm run build — sin errores de compilación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F0F0F4"/>
              </a:buClr>
              <a:buSzPts val="900"/>
              <a:buFont typeface="Calibri"/>
              <a:buChar char="•"/>
            </a:pPr>
            <a:r>
              <a:rPr b="0" i="0" lang="en-US" sz="900" u="none" cap="none" strike="noStrike">
                <a:solidFill>
                  <a:srgbClr val="F0F0F4"/>
                </a:solidFill>
                <a:latin typeface="Calibri"/>
                <a:ea typeface="Calibri"/>
                <a:cs typeface="Calibri"/>
                <a:sym typeface="Calibri"/>
              </a:rPr>
              <a:t>npm run start:dev — servidor arranca sin errores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F0F0F4"/>
              </a:buClr>
              <a:buSzPts val="900"/>
              <a:buFont typeface="Calibri"/>
              <a:buChar char="•"/>
            </a:pPr>
            <a:r>
              <a:rPr b="0" i="0" lang="en-US" sz="900" u="none" cap="none" strike="noStrike">
                <a:solidFill>
                  <a:srgbClr val="F0F0F4"/>
                </a:solidFill>
                <a:latin typeface="Calibri"/>
                <a:ea typeface="Calibri"/>
                <a:cs typeface="Calibri"/>
                <a:sym typeface="Calibri"/>
              </a:rPr>
              <a:t>npm run test — 127 / 128 tests aprobados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2" name="Google Shape;572;p20"/>
          <p:cNvSpPr/>
          <p:nvPr/>
        </p:nvSpPr>
        <p:spPr>
          <a:xfrm>
            <a:off x="457200" y="3913632"/>
            <a:ext cx="8229600" cy="502920"/>
          </a:xfrm>
          <a:prstGeom prst="rect">
            <a:avLst/>
          </a:prstGeom>
          <a:solidFill>
            <a:srgbClr val="16161C"/>
          </a:solidFill>
          <a:ln cap="flat" cmpd="sng" w="9525">
            <a:solidFill>
              <a:srgbClr val="3A3A4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3" name="Google Shape;573;p20"/>
          <p:cNvSpPr/>
          <p:nvPr/>
        </p:nvSpPr>
        <p:spPr>
          <a:xfrm>
            <a:off x="594360" y="4005072"/>
            <a:ext cx="78638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0A5FA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60A5FA"/>
                </a:solidFill>
                <a:latin typeface="Consolas"/>
                <a:ea typeface="Consolas"/>
                <a:cs typeface="Consolas"/>
                <a:sym typeface="Consolas"/>
              </a:rPr>
              <a:t>🔗  github.com/1XYZ1/trackt-app  ·  rama main  ·  directorio producto/trackt-api  ·  commits semánticos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4" name="Google Shape;574;p20"/>
          <p:cNvSpPr/>
          <p:nvPr/>
        </p:nvSpPr>
        <p:spPr>
          <a:xfrm>
            <a:off x="373990" y="4892040"/>
            <a:ext cx="77724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37388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737388"/>
                </a:solidFill>
                <a:latin typeface="Calibri"/>
                <a:ea typeface="Calibri"/>
                <a:cs typeface="Calibri"/>
                <a:sym typeface="Calibri"/>
              </a:rPr>
              <a:t>Trackt — TPY1101 Taller Aplicado de Programación  |  DUOC UC  |  2026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5" name="Google Shape;575;p20"/>
          <p:cNvSpPr/>
          <p:nvPr/>
        </p:nvSpPr>
        <p:spPr>
          <a:xfrm>
            <a:off x="8503920" y="4892040"/>
            <a:ext cx="5486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37388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737388"/>
                </a:solidFill>
                <a:latin typeface="Calibri"/>
                <a:ea typeface="Calibri"/>
                <a:cs typeface="Calibri"/>
                <a:sym typeface="Calibri"/>
              </a:rPr>
              <a:t>16 / 20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0D10"/>
        </a:solidFill>
      </p:bgPr>
    </p:bg>
    <p:spTree>
      <p:nvGrpSpPr>
        <p:cNvPr id="580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Google Shape;581;p21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60A5FA">
              <a:alpha val="80000"/>
            </a:srgbClr>
          </a:solidFill>
          <a:ln cap="flat" cmpd="sng" w="12700">
            <a:solidFill>
              <a:srgbClr val="60A5FA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2" name="Google Shape;582;p21"/>
          <p:cNvSpPr/>
          <p:nvPr/>
        </p:nvSpPr>
        <p:spPr>
          <a:xfrm>
            <a:off x="457200" y="50292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Trebuchet MS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Control de versiones — 9 migraciones SQL versionadas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3" name="Google Shape;583;p21"/>
          <p:cNvSpPr/>
          <p:nvPr/>
        </p:nvSpPr>
        <p:spPr>
          <a:xfrm>
            <a:off x="457200" y="1097280"/>
            <a:ext cx="2743200" cy="658368"/>
          </a:xfrm>
          <a:prstGeom prst="rect">
            <a:avLst/>
          </a:prstGeom>
          <a:solidFill>
            <a:srgbClr val="16161C"/>
          </a:solidFill>
          <a:ln cap="flat" cmpd="sng" w="9525">
            <a:solidFill>
              <a:srgbClr val="3A3A4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4" name="Google Shape;584;p21"/>
          <p:cNvSpPr/>
          <p:nvPr/>
        </p:nvSpPr>
        <p:spPr>
          <a:xfrm>
            <a:off x="457200" y="1097280"/>
            <a:ext cx="54864" cy="658368"/>
          </a:xfrm>
          <a:prstGeom prst="rect">
            <a:avLst/>
          </a:prstGeom>
          <a:solidFill>
            <a:srgbClr val="737388"/>
          </a:solidFill>
          <a:ln cap="flat" cmpd="sng" w="12700">
            <a:solidFill>
              <a:srgbClr val="7373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5" name="Google Shape;585;p21"/>
          <p:cNvSpPr/>
          <p:nvPr/>
        </p:nvSpPr>
        <p:spPr>
          <a:xfrm>
            <a:off x="594360" y="1170432"/>
            <a:ext cx="3657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37388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737388"/>
                </a:solidFill>
                <a:latin typeface="Consolas"/>
                <a:ea typeface="Consolas"/>
                <a:cs typeface="Consolas"/>
                <a:sym typeface="Consolas"/>
              </a:rPr>
              <a:t>01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6" name="Google Shape;586;p21"/>
          <p:cNvSpPr/>
          <p:nvPr/>
        </p:nvSpPr>
        <p:spPr>
          <a:xfrm>
            <a:off x="1005840" y="1188720"/>
            <a:ext cx="21031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C8D4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C8C8D4"/>
                </a:solidFill>
                <a:latin typeface="Consolas"/>
                <a:ea typeface="Consolas"/>
                <a:cs typeface="Consolas"/>
                <a:sym typeface="Consolas"/>
              </a:rPr>
              <a:t>init_business_schema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7" name="Google Shape;587;p21"/>
          <p:cNvSpPr/>
          <p:nvPr/>
        </p:nvSpPr>
        <p:spPr>
          <a:xfrm>
            <a:off x="3337560" y="1097280"/>
            <a:ext cx="2743200" cy="658368"/>
          </a:xfrm>
          <a:prstGeom prst="rect">
            <a:avLst/>
          </a:prstGeom>
          <a:solidFill>
            <a:srgbClr val="16161C"/>
          </a:solidFill>
          <a:ln cap="flat" cmpd="sng" w="9525">
            <a:solidFill>
              <a:srgbClr val="3A3A4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8" name="Google Shape;588;p21"/>
          <p:cNvSpPr/>
          <p:nvPr/>
        </p:nvSpPr>
        <p:spPr>
          <a:xfrm>
            <a:off x="3337560" y="1097280"/>
            <a:ext cx="54864" cy="658368"/>
          </a:xfrm>
          <a:prstGeom prst="rect">
            <a:avLst/>
          </a:prstGeom>
          <a:solidFill>
            <a:srgbClr val="737388"/>
          </a:solidFill>
          <a:ln cap="flat" cmpd="sng" w="12700">
            <a:solidFill>
              <a:srgbClr val="7373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9" name="Google Shape;589;p21"/>
          <p:cNvSpPr/>
          <p:nvPr/>
        </p:nvSpPr>
        <p:spPr>
          <a:xfrm>
            <a:off x="3474720" y="1170432"/>
            <a:ext cx="3657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37388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737388"/>
                </a:solidFill>
                <a:latin typeface="Consolas"/>
                <a:ea typeface="Consolas"/>
                <a:cs typeface="Consolas"/>
                <a:sym typeface="Consolas"/>
              </a:rPr>
              <a:t>02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0" name="Google Shape;590;p21"/>
          <p:cNvSpPr/>
          <p:nvPr/>
        </p:nvSpPr>
        <p:spPr>
          <a:xfrm>
            <a:off x="3886200" y="1188720"/>
            <a:ext cx="21031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C8D4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C8C8D4"/>
                </a:solidFill>
                <a:latin typeface="Consolas"/>
                <a:ea typeface="Consolas"/>
                <a:cs typeface="Consolas"/>
                <a:sym typeface="Consolas"/>
              </a:rPr>
              <a:t>profiles_tenant_id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1" name="Google Shape;591;p21"/>
          <p:cNvSpPr/>
          <p:nvPr/>
        </p:nvSpPr>
        <p:spPr>
          <a:xfrm>
            <a:off x="6217920" y="1097280"/>
            <a:ext cx="2743200" cy="658368"/>
          </a:xfrm>
          <a:prstGeom prst="rect">
            <a:avLst/>
          </a:prstGeom>
          <a:solidFill>
            <a:srgbClr val="16161C"/>
          </a:solidFill>
          <a:ln cap="flat" cmpd="sng" w="9525">
            <a:solidFill>
              <a:srgbClr val="3A3A4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2" name="Google Shape;592;p21"/>
          <p:cNvSpPr/>
          <p:nvPr/>
        </p:nvSpPr>
        <p:spPr>
          <a:xfrm>
            <a:off x="6217920" y="1097280"/>
            <a:ext cx="54864" cy="658368"/>
          </a:xfrm>
          <a:prstGeom prst="rect">
            <a:avLst/>
          </a:prstGeom>
          <a:solidFill>
            <a:srgbClr val="737388"/>
          </a:solidFill>
          <a:ln cap="flat" cmpd="sng" w="12700">
            <a:solidFill>
              <a:srgbClr val="7373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3" name="Google Shape;593;p21"/>
          <p:cNvSpPr/>
          <p:nvPr/>
        </p:nvSpPr>
        <p:spPr>
          <a:xfrm>
            <a:off x="6355080" y="1170432"/>
            <a:ext cx="3657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37388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737388"/>
                </a:solidFill>
                <a:latin typeface="Consolas"/>
                <a:ea typeface="Consolas"/>
                <a:cs typeface="Consolas"/>
                <a:sym typeface="Consolas"/>
              </a:rPr>
              <a:t>03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4" name="Google Shape;594;p21"/>
          <p:cNvSpPr/>
          <p:nvPr/>
        </p:nvSpPr>
        <p:spPr>
          <a:xfrm>
            <a:off x="6766560" y="1188720"/>
            <a:ext cx="21031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C8D4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C8C8D4"/>
                </a:solidFill>
                <a:latin typeface="Consolas"/>
                <a:ea typeface="Consolas"/>
                <a:cs typeface="Consolas"/>
                <a:sym typeface="Consolas"/>
              </a:rPr>
              <a:t>add_avatars_bucket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5" name="Google Shape;595;p21"/>
          <p:cNvSpPr/>
          <p:nvPr/>
        </p:nvSpPr>
        <p:spPr>
          <a:xfrm>
            <a:off x="457200" y="1874520"/>
            <a:ext cx="2743200" cy="658368"/>
          </a:xfrm>
          <a:prstGeom prst="rect">
            <a:avLst/>
          </a:prstGeom>
          <a:solidFill>
            <a:srgbClr val="16161C"/>
          </a:solidFill>
          <a:ln cap="flat" cmpd="sng" w="9525">
            <a:solidFill>
              <a:srgbClr val="3A3A4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6" name="Google Shape;596;p21"/>
          <p:cNvSpPr/>
          <p:nvPr/>
        </p:nvSpPr>
        <p:spPr>
          <a:xfrm>
            <a:off x="457200" y="1874520"/>
            <a:ext cx="54864" cy="658368"/>
          </a:xfrm>
          <a:prstGeom prst="rect">
            <a:avLst/>
          </a:prstGeom>
          <a:solidFill>
            <a:srgbClr val="737388"/>
          </a:solidFill>
          <a:ln cap="flat" cmpd="sng" w="12700">
            <a:solidFill>
              <a:srgbClr val="7373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7" name="Google Shape;597;p21"/>
          <p:cNvSpPr/>
          <p:nvPr/>
        </p:nvSpPr>
        <p:spPr>
          <a:xfrm>
            <a:off x="594360" y="1947672"/>
            <a:ext cx="3657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37388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737388"/>
                </a:solidFill>
                <a:latin typeface="Consolas"/>
                <a:ea typeface="Consolas"/>
                <a:cs typeface="Consolas"/>
                <a:sym typeface="Consolas"/>
              </a:rPr>
              <a:t>04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8" name="Google Shape;598;p21"/>
          <p:cNvSpPr/>
          <p:nvPr/>
        </p:nvSpPr>
        <p:spPr>
          <a:xfrm>
            <a:off x="1005840" y="1965960"/>
            <a:ext cx="21031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C8D4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C8C8D4"/>
                </a:solidFill>
                <a:latin typeface="Consolas"/>
                <a:ea typeface="Consolas"/>
                <a:cs typeface="Consolas"/>
                <a:sym typeface="Consolas"/>
              </a:rPr>
              <a:t>rls_policies_triggers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9" name="Google Shape;599;p21"/>
          <p:cNvSpPr/>
          <p:nvPr/>
        </p:nvSpPr>
        <p:spPr>
          <a:xfrm>
            <a:off x="3337560" y="1874520"/>
            <a:ext cx="2743200" cy="658368"/>
          </a:xfrm>
          <a:prstGeom prst="rect">
            <a:avLst/>
          </a:prstGeom>
          <a:solidFill>
            <a:srgbClr val="16161C"/>
          </a:solidFill>
          <a:ln cap="flat" cmpd="sng" w="9525">
            <a:solidFill>
              <a:srgbClr val="3A3A4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0" name="Google Shape;600;p21"/>
          <p:cNvSpPr/>
          <p:nvPr/>
        </p:nvSpPr>
        <p:spPr>
          <a:xfrm>
            <a:off x="3337560" y="1874520"/>
            <a:ext cx="54864" cy="658368"/>
          </a:xfrm>
          <a:prstGeom prst="rect">
            <a:avLst/>
          </a:prstGeom>
          <a:solidFill>
            <a:srgbClr val="737388"/>
          </a:solidFill>
          <a:ln cap="flat" cmpd="sng" w="12700">
            <a:solidFill>
              <a:srgbClr val="7373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1" name="Google Shape;601;p21"/>
          <p:cNvSpPr/>
          <p:nvPr/>
        </p:nvSpPr>
        <p:spPr>
          <a:xfrm>
            <a:off x="3474720" y="1947672"/>
            <a:ext cx="3657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37388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737388"/>
                </a:solidFill>
                <a:latin typeface="Consolas"/>
                <a:ea typeface="Consolas"/>
                <a:cs typeface="Consolas"/>
                <a:sym typeface="Consolas"/>
              </a:rPr>
              <a:t>05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2" name="Google Shape;602;p21"/>
          <p:cNvSpPr/>
          <p:nvPr/>
        </p:nvSpPr>
        <p:spPr>
          <a:xfrm>
            <a:off x="3886200" y="1965960"/>
            <a:ext cx="21031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C8D4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C8C8D4"/>
                </a:solidFill>
                <a:latin typeface="Consolas"/>
                <a:ea typeface="Consolas"/>
                <a:cs typeface="Consolas"/>
                <a:sym typeface="Consolas"/>
              </a:rPr>
              <a:t>evidencias_bucket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3" name="Google Shape;603;p21"/>
          <p:cNvSpPr/>
          <p:nvPr/>
        </p:nvSpPr>
        <p:spPr>
          <a:xfrm>
            <a:off x="6217920" y="1874520"/>
            <a:ext cx="2743200" cy="658368"/>
          </a:xfrm>
          <a:prstGeom prst="rect">
            <a:avLst/>
          </a:prstGeom>
          <a:solidFill>
            <a:srgbClr val="16161C"/>
          </a:solidFill>
          <a:ln cap="flat" cmpd="sng" w="9525">
            <a:solidFill>
              <a:srgbClr val="3A3A4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4" name="Google Shape;604;p21"/>
          <p:cNvSpPr/>
          <p:nvPr/>
        </p:nvSpPr>
        <p:spPr>
          <a:xfrm>
            <a:off x="6217920" y="1874520"/>
            <a:ext cx="54864" cy="658368"/>
          </a:xfrm>
          <a:prstGeom prst="rect">
            <a:avLst/>
          </a:prstGeom>
          <a:solidFill>
            <a:srgbClr val="737388"/>
          </a:solidFill>
          <a:ln cap="flat" cmpd="sng" w="12700">
            <a:solidFill>
              <a:srgbClr val="7373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5" name="Google Shape;605;p21"/>
          <p:cNvSpPr/>
          <p:nvPr/>
        </p:nvSpPr>
        <p:spPr>
          <a:xfrm>
            <a:off x="6355080" y="1947672"/>
            <a:ext cx="3657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37388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737388"/>
                </a:solidFill>
                <a:latin typeface="Consolas"/>
                <a:ea typeface="Consolas"/>
                <a:cs typeface="Consolas"/>
                <a:sym typeface="Consolas"/>
              </a:rPr>
              <a:t>06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6" name="Google Shape;606;p21"/>
          <p:cNvSpPr/>
          <p:nvPr/>
        </p:nvSpPr>
        <p:spPr>
          <a:xfrm>
            <a:off x="6766560" y="1965960"/>
            <a:ext cx="21031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C8D4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C8C8D4"/>
                </a:solidFill>
                <a:latin typeface="Consolas"/>
                <a:ea typeface="Consolas"/>
                <a:cs typeface="Consolas"/>
                <a:sym typeface="Consolas"/>
              </a:rPr>
              <a:t>notificaciones_realtime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7" name="Google Shape;607;p21"/>
          <p:cNvSpPr/>
          <p:nvPr/>
        </p:nvSpPr>
        <p:spPr>
          <a:xfrm>
            <a:off x="457200" y="2651760"/>
            <a:ext cx="2743200" cy="658368"/>
          </a:xfrm>
          <a:prstGeom prst="rect">
            <a:avLst/>
          </a:prstGeom>
          <a:solidFill>
            <a:srgbClr val="16161C"/>
          </a:solidFill>
          <a:ln cap="flat" cmpd="sng" w="9525">
            <a:solidFill>
              <a:srgbClr val="3A3A4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8" name="Google Shape;608;p21"/>
          <p:cNvSpPr/>
          <p:nvPr/>
        </p:nvSpPr>
        <p:spPr>
          <a:xfrm>
            <a:off x="457200" y="2651760"/>
            <a:ext cx="54864" cy="658368"/>
          </a:xfrm>
          <a:prstGeom prst="rect">
            <a:avLst/>
          </a:prstGeom>
          <a:solidFill>
            <a:srgbClr val="737388"/>
          </a:solidFill>
          <a:ln cap="flat" cmpd="sng" w="12700">
            <a:solidFill>
              <a:srgbClr val="7373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9" name="Google Shape;609;p21"/>
          <p:cNvSpPr/>
          <p:nvPr/>
        </p:nvSpPr>
        <p:spPr>
          <a:xfrm>
            <a:off x="594360" y="2724912"/>
            <a:ext cx="3657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37388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737388"/>
                </a:solidFill>
                <a:latin typeface="Consolas"/>
                <a:ea typeface="Consolas"/>
                <a:cs typeface="Consolas"/>
                <a:sym typeface="Consolas"/>
              </a:rPr>
              <a:t>07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0" name="Google Shape;610;p21"/>
          <p:cNvSpPr/>
          <p:nvPr/>
        </p:nvSpPr>
        <p:spPr>
          <a:xfrm>
            <a:off x="1005840" y="2743200"/>
            <a:ext cx="21031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C8D4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C8C8D4"/>
                </a:solidFill>
                <a:latin typeface="Consolas"/>
                <a:ea typeface="Consolas"/>
                <a:cs typeface="Consolas"/>
                <a:sym typeface="Consolas"/>
              </a:rPr>
              <a:t>equipos_activo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1" name="Google Shape;611;p21"/>
          <p:cNvSpPr/>
          <p:nvPr/>
        </p:nvSpPr>
        <p:spPr>
          <a:xfrm>
            <a:off x="3337560" y="2651760"/>
            <a:ext cx="2743200" cy="658368"/>
          </a:xfrm>
          <a:prstGeom prst="rect">
            <a:avLst/>
          </a:prstGeom>
          <a:solidFill>
            <a:srgbClr val="16161C"/>
          </a:solidFill>
          <a:ln cap="flat" cmpd="sng" w="9525">
            <a:solidFill>
              <a:srgbClr val="3A3A4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2" name="Google Shape;612;p21"/>
          <p:cNvSpPr/>
          <p:nvPr/>
        </p:nvSpPr>
        <p:spPr>
          <a:xfrm>
            <a:off x="3337560" y="2651760"/>
            <a:ext cx="54864" cy="658368"/>
          </a:xfrm>
          <a:prstGeom prst="rect">
            <a:avLst/>
          </a:prstGeom>
          <a:solidFill>
            <a:srgbClr val="4ADE80"/>
          </a:solidFill>
          <a:ln cap="flat" cmpd="sng" w="12700">
            <a:solidFill>
              <a:srgbClr val="4ADE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3" name="Google Shape;613;p21"/>
          <p:cNvSpPr/>
          <p:nvPr/>
        </p:nvSpPr>
        <p:spPr>
          <a:xfrm>
            <a:off x="3474720" y="2724912"/>
            <a:ext cx="3657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DE80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4ADE80"/>
                </a:solidFill>
                <a:latin typeface="Consolas"/>
                <a:ea typeface="Consolas"/>
                <a:cs typeface="Consolas"/>
                <a:sym typeface="Consolas"/>
              </a:rPr>
              <a:t>08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4" name="Google Shape;614;p21"/>
          <p:cNvSpPr/>
          <p:nvPr/>
        </p:nvSpPr>
        <p:spPr>
          <a:xfrm>
            <a:off x="3886200" y="2743200"/>
            <a:ext cx="21031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DE80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4ADE80"/>
                </a:solidFill>
                <a:latin typeface="Consolas"/>
                <a:ea typeface="Consolas"/>
                <a:cs typeface="Consolas"/>
                <a:sym typeface="Consolas"/>
              </a:rPr>
              <a:t>role_jefe_taller  ⭐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5" name="Google Shape;615;p21"/>
          <p:cNvSpPr/>
          <p:nvPr/>
        </p:nvSpPr>
        <p:spPr>
          <a:xfrm>
            <a:off x="3886200" y="303580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DE80"/>
              </a:buClr>
              <a:buSzPts val="700"/>
              <a:buFont typeface="Calibri"/>
              <a:buNone/>
            </a:pPr>
            <a:r>
              <a:rPr b="1" i="0" lang="en-US" sz="700" u="none" cap="none" strike="noStrike">
                <a:solidFill>
                  <a:srgbClr val="4ADE80"/>
                </a:solidFill>
                <a:latin typeface="Calibri"/>
                <a:ea typeface="Calibri"/>
                <a:cs typeface="Calibri"/>
                <a:sym typeface="Calibri"/>
              </a:rPr>
              <a:t>NUEVO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6" name="Google Shape;616;p21"/>
          <p:cNvSpPr/>
          <p:nvPr/>
        </p:nvSpPr>
        <p:spPr>
          <a:xfrm>
            <a:off x="6217920" y="2651760"/>
            <a:ext cx="2743200" cy="658368"/>
          </a:xfrm>
          <a:prstGeom prst="rect">
            <a:avLst/>
          </a:prstGeom>
          <a:solidFill>
            <a:srgbClr val="16161C"/>
          </a:solidFill>
          <a:ln cap="flat" cmpd="sng" w="9525">
            <a:solidFill>
              <a:srgbClr val="3A3A4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7" name="Google Shape;617;p21"/>
          <p:cNvSpPr/>
          <p:nvPr/>
        </p:nvSpPr>
        <p:spPr>
          <a:xfrm>
            <a:off x="6217920" y="2651760"/>
            <a:ext cx="54864" cy="658368"/>
          </a:xfrm>
          <a:prstGeom prst="rect">
            <a:avLst/>
          </a:prstGeom>
          <a:solidFill>
            <a:srgbClr val="4ADE80"/>
          </a:solidFill>
          <a:ln cap="flat" cmpd="sng" w="12700">
            <a:solidFill>
              <a:srgbClr val="4ADE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8" name="Google Shape;618;p21"/>
          <p:cNvSpPr/>
          <p:nvPr/>
        </p:nvSpPr>
        <p:spPr>
          <a:xfrm>
            <a:off x="6355080" y="2724912"/>
            <a:ext cx="3657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DE80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4ADE80"/>
                </a:solidFill>
                <a:latin typeface="Consolas"/>
                <a:ea typeface="Consolas"/>
                <a:cs typeface="Consolas"/>
                <a:sym typeface="Consolas"/>
              </a:rPr>
              <a:t>09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9" name="Google Shape;619;p21"/>
          <p:cNvSpPr/>
          <p:nvPr/>
        </p:nvSpPr>
        <p:spPr>
          <a:xfrm>
            <a:off x="6766560" y="2743200"/>
            <a:ext cx="21031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DE80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4ADE80"/>
                </a:solidFill>
                <a:latin typeface="Consolas"/>
                <a:ea typeface="Consolas"/>
                <a:cs typeface="Consolas"/>
                <a:sym typeface="Consolas"/>
              </a:rPr>
              <a:t>inventario  ⭐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0" name="Google Shape;620;p21"/>
          <p:cNvSpPr/>
          <p:nvPr/>
        </p:nvSpPr>
        <p:spPr>
          <a:xfrm>
            <a:off x="6766560" y="303580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DE80"/>
              </a:buClr>
              <a:buSzPts val="700"/>
              <a:buFont typeface="Calibri"/>
              <a:buNone/>
            </a:pPr>
            <a:r>
              <a:rPr b="1" i="0" lang="en-US" sz="700" u="none" cap="none" strike="noStrike">
                <a:solidFill>
                  <a:srgbClr val="4ADE80"/>
                </a:solidFill>
                <a:latin typeface="Calibri"/>
                <a:ea typeface="Calibri"/>
                <a:cs typeface="Calibri"/>
                <a:sym typeface="Calibri"/>
              </a:rPr>
              <a:t>NUEVO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1" name="Google Shape;621;p21"/>
          <p:cNvSpPr/>
          <p:nvPr/>
        </p:nvSpPr>
        <p:spPr>
          <a:xfrm>
            <a:off x="457200" y="4526280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37388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737388"/>
                </a:solidFill>
                <a:latin typeface="Calibri"/>
                <a:ea typeface="Calibri"/>
                <a:cs typeface="Calibri"/>
                <a:sym typeface="Calibri"/>
              </a:rPr>
              <a:t>supabase/migrations/ — historial auditables y reproducibles · ⭐ = nuevas en esta versión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2" name="Google Shape;622;p21"/>
          <p:cNvSpPr/>
          <p:nvPr/>
        </p:nvSpPr>
        <p:spPr>
          <a:xfrm>
            <a:off x="365760" y="4892040"/>
            <a:ext cx="7772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37388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737388"/>
                </a:solidFill>
                <a:latin typeface="Calibri"/>
                <a:ea typeface="Calibri"/>
                <a:cs typeface="Calibri"/>
                <a:sym typeface="Calibri"/>
              </a:rPr>
              <a:t>Trackt — TPY1101 Taller Aplicado de Programación  |  DUOC UC  |  2026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3" name="Google Shape;623;p21"/>
          <p:cNvSpPr/>
          <p:nvPr/>
        </p:nvSpPr>
        <p:spPr>
          <a:xfrm>
            <a:off x="8503920" y="4892040"/>
            <a:ext cx="5486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37388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737388"/>
                </a:solidFill>
                <a:latin typeface="Calibri"/>
                <a:ea typeface="Calibri"/>
                <a:cs typeface="Calibri"/>
                <a:sym typeface="Calibri"/>
              </a:rPr>
              <a:t>17 / 20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8FA"/>
        </a:solidFill>
      </p:bgPr>
    </p:bg>
    <p:spTree>
      <p:nvGrpSpPr>
        <p:cNvPr id="628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Google Shape;629;p22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0D10"/>
              </a:buClr>
              <a:buSzPts val="2600"/>
              <a:buFont typeface="Trebuchet MS"/>
              <a:buNone/>
            </a:pPr>
            <a:r>
              <a:rPr b="1" i="0" lang="en-US" sz="2600" u="none" cap="none" strike="noStrike">
                <a:solidFill>
                  <a:srgbClr val="0D0D10"/>
                </a:solidFill>
                <a:latin typeface="Trebuchet MS"/>
                <a:ea typeface="Trebuchet MS"/>
                <a:cs typeface="Trebuchet MS"/>
                <a:sym typeface="Trebuchet MS"/>
              </a:rPr>
              <a:t>Estado de cumplimiento — Entrega Final 2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0" name="Google Shape;630;p22"/>
          <p:cNvSpPr/>
          <p:nvPr/>
        </p:nvSpPr>
        <p:spPr>
          <a:xfrm>
            <a:off x="914400" y="740658"/>
            <a:ext cx="82296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37388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737388"/>
                </a:solidFill>
                <a:latin typeface="Calibri"/>
                <a:ea typeface="Calibri"/>
                <a:cs typeface="Calibri"/>
                <a:sym typeface="Calibri"/>
              </a:rPr>
              <a:t>14 ítems completados 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1" name="Google Shape;631;p22"/>
          <p:cNvSpPr/>
          <p:nvPr/>
        </p:nvSpPr>
        <p:spPr>
          <a:xfrm>
            <a:off x="457200" y="1097280"/>
            <a:ext cx="41148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DE8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4ADE80"/>
                </a:solidFill>
                <a:latin typeface="Calibri"/>
                <a:ea typeface="Calibri"/>
                <a:cs typeface="Calibri"/>
                <a:sym typeface="Calibri"/>
              </a:rPr>
              <a:t>✅  Frontend — 14 rutas responsivas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2" name="Google Shape;632;p22"/>
          <p:cNvSpPr/>
          <p:nvPr/>
        </p:nvSpPr>
        <p:spPr>
          <a:xfrm>
            <a:off x="457200" y="1444752"/>
            <a:ext cx="4114800" cy="9144"/>
          </a:xfrm>
          <a:prstGeom prst="rect">
            <a:avLst/>
          </a:prstGeom>
          <a:solidFill>
            <a:srgbClr val="C8C8D4"/>
          </a:solidFill>
          <a:ln cap="flat" cmpd="sng" w="12700">
            <a:solidFill>
              <a:srgbClr val="C8C8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3" name="Google Shape;633;p22"/>
          <p:cNvSpPr/>
          <p:nvPr/>
        </p:nvSpPr>
        <p:spPr>
          <a:xfrm>
            <a:off x="457200" y="1499616"/>
            <a:ext cx="41148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DE8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4ADE80"/>
                </a:solidFill>
                <a:latin typeface="Calibri"/>
                <a:ea typeface="Calibri"/>
                <a:cs typeface="Calibri"/>
                <a:sym typeface="Calibri"/>
              </a:rPr>
              <a:t>✅  Backend — 9 módulos NestJS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4" name="Google Shape;634;p22"/>
          <p:cNvSpPr/>
          <p:nvPr/>
        </p:nvSpPr>
        <p:spPr>
          <a:xfrm>
            <a:off x="457200" y="1847088"/>
            <a:ext cx="4114800" cy="9144"/>
          </a:xfrm>
          <a:prstGeom prst="rect">
            <a:avLst/>
          </a:prstGeom>
          <a:solidFill>
            <a:srgbClr val="C8C8D4"/>
          </a:solidFill>
          <a:ln cap="flat" cmpd="sng" w="12700">
            <a:solidFill>
              <a:srgbClr val="C8C8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5" name="Google Shape;635;p22"/>
          <p:cNvSpPr/>
          <p:nvPr/>
        </p:nvSpPr>
        <p:spPr>
          <a:xfrm>
            <a:off x="457200" y="1901952"/>
            <a:ext cx="41148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DE8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4ADE80"/>
                </a:solidFill>
                <a:latin typeface="Calibri"/>
                <a:ea typeface="Calibri"/>
                <a:cs typeface="Calibri"/>
                <a:sym typeface="Calibri"/>
              </a:rPr>
              <a:t>✅  Base de datos — 12 entidades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6" name="Google Shape;636;p22"/>
          <p:cNvSpPr/>
          <p:nvPr/>
        </p:nvSpPr>
        <p:spPr>
          <a:xfrm>
            <a:off x="457200" y="2249424"/>
            <a:ext cx="4114800" cy="9144"/>
          </a:xfrm>
          <a:prstGeom prst="rect">
            <a:avLst/>
          </a:prstGeom>
          <a:solidFill>
            <a:srgbClr val="C8C8D4"/>
          </a:solidFill>
          <a:ln cap="flat" cmpd="sng" w="12700">
            <a:solidFill>
              <a:srgbClr val="C8C8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7" name="Google Shape;637;p22"/>
          <p:cNvSpPr/>
          <p:nvPr/>
        </p:nvSpPr>
        <p:spPr>
          <a:xfrm>
            <a:off x="457200" y="2304288"/>
            <a:ext cx="41148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DE8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4ADE80"/>
                </a:solidFill>
                <a:latin typeface="Calibri"/>
                <a:ea typeface="Calibri"/>
                <a:cs typeface="Calibri"/>
                <a:sym typeface="Calibri"/>
              </a:rPr>
              <a:t>✅  Auth 3 roles + RLS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8" name="Google Shape;638;p22"/>
          <p:cNvSpPr/>
          <p:nvPr/>
        </p:nvSpPr>
        <p:spPr>
          <a:xfrm>
            <a:off x="457200" y="2651760"/>
            <a:ext cx="4114800" cy="9144"/>
          </a:xfrm>
          <a:prstGeom prst="rect">
            <a:avLst/>
          </a:prstGeom>
          <a:solidFill>
            <a:srgbClr val="C8C8D4"/>
          </a:solidFill>
          <a:ln cap="flat" cmpd="sng" w="12700">
            <a:solidFill>
              <a:srgbClr val="C8C8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9" name="Google Shape;639;p22"/>
          <p:cNvSpPr/>
          <p:nvPr/>
        </p:nvSpPr>
        <p:spPr>
          <a:xfrm>
            <a:off x="457200" y="2706624"/>
            <a:ext cx="41148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DE8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4ADE80"/>
                </a:solidFill>
                <a:latin typeface="Calibri"/>
                <a:ea typeface="Calibri"/>
                <a:cs typeface="Calibri"/>
                <a:sym typeface="Calibri"/>
              </a:rPr>
              <a:t>✅  Órdenes de trabajo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0" name="Google Shape;640;p22"/>
          <p:cNvSpPr/>
          <p:nvPr/>
        </p:nvSpPr>
        <p:spPr>
          <a:xfrm>
            <a:off x="457200" y="3054096"/>
            <a:ext cx="4114800" cy="9144"/>
          </a:xfrm>
          <a:prstGeom prst="rect">
            <a:avLst/>
          </a:prstGeom>
          <a:solidFill>
            <a:srgbClr val="C8C8D4"/>
          </a:solidFill>
          <a:ln cap="flat" cmpd="sng" w="12700">
            <a:solidFill>
              <a:srgbClr val="C8C8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1" name="Google Shape;641;p22"/>
          <p:cNvSpPr/>
          <p:nvPr/>
        </p:nvSpPr>
        <p:spPr>
          <a:xfrm>
            <a:off x="457200" y="3108960"/>
            <a:ext cx="41148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DE8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4ADE80"/>
                </a:solidFill>
                <a:latin typeface="Calibri"/>
                <a:ea typeface="Calibri"/>
                <a:cs typeface="Calibri"/>
                <a:sym typeface="Calibri"/>
              </a:rPr>
              <a:t>✅  Tickets con transiciones por rol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2" name="Google Shape;642;p22"/>
          <p:cNvSpPr/>
          <p:nvPr/>
        </p:nvSpPr>
        <p:spPr>
          <a:xfrm>
            <a:off x="457200" y="3456432"/>
            <a:ext cx="4114800" cy="9144"/>
          </a:xfrm>
          <a:prstGeom prst="rect">
            <a:avLst/>
          </a:prstGeom>
          <a:solidFill>
            <a:srgbClr val="C8C8D4"/>
          </a:solidFill>
          <a:ln cap="flat" cmpd="sng" w="12700">
            <a:solidFill>
              <a:srgbClr val="C8C8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3" name="Google Shape;643;p22"/>
          <p:cNvSpPr/>
          <p:nvPr/>
        </p:nvSpPr>
        <p:spPr>
          <a:xfrm>
            <a:off x="457200" y="3511296"/>
            <a:ext cx="41148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DE8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4ADE80"/>
                </a:solidFill>
                <a:latin typeface="Calibri"/>
                <a:ea typeface="Calibri"/>
                <a:cs typeface="Calibri"/>
                <a:sym typeface="Calibri"/>
              </a:rPr>
              <a:t>✅  Evidencias fotográficas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4" name="Google Shape;644;p22"/>
          <p:cNvSpPr/>
          <p:nvPr/>
        </p:nvSpPr>
        <p:spPr>
          <a:xfrm>
            <a:off x="457200" y="3858768"/>
            <a:ext cx="4114800" cy="9144"/>
          </a:xfrm>
          <a:prstGeom prst="rect">
            <a:avLst/>
          </a:prstGeom>
          <a:solidFill>
            <a:srgbClr val="C8C8D4"/>
          </a:solidFill>
          <a:ln cap="flat" cmpd="sng" w="12700">
            <a:solidFill>
              <a:srgbClr val="C8C8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5" name="Google Shape;645;p22"/>
          <p:cNvSpPr/>
          <p:nvPr/>
        </p:nvSpPr>
        <p:spPr>
          <a:xfrm>
            <a:off x="457200" y="3913632"/>
            <a:ext cx="41148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DE8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4ADE80"/>
                </a:solidFill>
                <a:latin typeface="Calibri"/>
                <a:ea typeface="Calibri"/>
                <a:cs typeface="Calibri"/>
                <a:sym typeface="Calibri"/>
              </a:rPr>
              <a:t>✅  Notificaciones in-app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6" name="Google Shape;646;p22"/>
          <p:cNvSpPr/>
          <p:nvPr/>
        </p:nvSpPr>
        <p:spPr>
          <a:xfrm>
            <a:off x="457200" y="4261104"/>
            <a:ext cx="4114800" cy="9144"/>
          </a:xfrm>
          <a:prstGeom prst="rect">
            <a:avLst/>
          </a:prstGeom>
          <a:solidFill>
            <a:srgbClr val="C8C8D4"/>
          </a:solidFill>
          <a:ln cap="flat" cmpd="sng" w="12700">
            <a:solidFill>
              <a:srgbClr val="C8C8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7" name="Google Shape;647;p22"/>
          <p:cNvSpPr/>
          <p:nvPr/>
        </p:nvSpPr>
        <p:spPr>
          <a:xfrm>
            <a:off x="457200" y="4315968"/>
            <a:ext cx="41148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DE8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4ADE80"/>
                </a:solidFill>
                <a:latin typeface="Calibri"/>
                <a:ea typeface="Calibri"/>
                <a:cs typeface="Calibri"/>
                <a:sym typeface="Calibri"/>
              </a:rPr>
              <a:t>✅  Inventario de repuestos ⭐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8" name="Google Shape;648;p22"/>
          <p:cNvSpPr/>
          <p:nvPr/>
        </p:nvSpPr>
        <p:spPr>
          <a:xfrm>
            <a:off x="4800600" y="1097280"/>
            <a:ext cx="41148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DE8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4ADE80"/>
                </a:solidFill>
                <a:latin typeface="Calibri"/>
                <a:ea typeface="Calibri"/>
                <a:cs typeface="Calibri"/>
                <a:sym typeface="Calibri"/>
              </a:rPr>
              <a:t>✅  Reservas de repuestos ⭐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9" name="Google Shape;649;p22"/>
          <p:cNvSpPr/>
          <p:nvPr/>
        </p:nvSpPr>
        <p:spPr>
          <a:xfrm>
            <a:off x="4800600" y="1444752"/>
            <a:ext cx="4114800" cy="9144"/>
          </a:xfrm>
          <a:prstGeom prst="rect">
            <a:avLst/>
          </a:prstGeom>
          <a:solidFill>
            <a:srgbClr val="C8C8D4"/>
          </a:solidFill>
          <a:ln cap="flat" cmpd="sng" w="12700">
            <a:solidFill>
              <a:srgbClr val="C8C8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0" name="Google Shape;650;p22"/>
          <p:cNvSpPr/>
          <p:nvPr/>
        </p:nvSpPr>
        <p:spPr>
          <a:xfrm>
            <a:off x="4800600" y="1499616"/>
            <a:ext cx="41148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DE8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4ADE80"/>
                </a:solidFill>
                <a:latin typeface="Calibri"/>
                <a:ea typeface="Calibri"/>
                <a:cs typeface="Calibri"/>
                <a:sym typeface="Calibri"/>
              </a:rPr>
              <a:t>✅  Carga de mecánicos ⭐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1" name="Google Shape;651;p22"/>
          <p:cNvSpPr/>
          <p:nvPr/>
        </p:nvSpPr>
        <p:spPr>
          <a:xfrm>
            <a:off x="4800600" y="1847088"/>
            <a:ext cx="4114800" cy="9144"/>
          </a:xfrm>
          <a:prstGeom prst="rect">
            <a:avLst/>
          </a:prstGeom>
          <a:solidFill>
            <a:srgbClr val="C8C8D4"/>
          </a:solidFill>
          <a:ln cap="flat" cmpd="sng" w="12700">
            <a:solidFill>
              <a:srgbClr val="C8C8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2" name="Google Shape;652;p22"/>
          <p:cNvSpPr/>
          <p:nvPr/>
        </p:nvSpPr>
        <p:spPr>
          <a:xfrm>
            <a:off x="4800600" y="1901952"/>
            <a:ext cx="41148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DE8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4ADE80"/>
                </a:solidFill>
                <a:latin typeface="Calibri"/>
                <a:ea typeface="Calibri"/>
                <a:cs typeface="Calibri"/>
                <a:sym typeface="Calibri"/>
              </a:rPr>
              <a:t>✅  Rol jefe_taller + RLS ⭐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3" name="Google Shape;653;p22"/>
          <p:cNvSpPr/>
          <p:nvPr/>
        </p:nvSpPr>
        <p:spPr>
          <a:xfrm>
            <a:off x="4800600" y="2249424"/>
            <a:ext cx="4114800" cy="9144"/>
          </a:xfrm>
          <a:prstGeom prst="rect">
            <a:avLst/>
          </a:prstGeom>
          <a:solidFill>
            <a:srgbClr val="C8C8D4"/>
          </a:solidFill>
          <a:ln cap="flat" cmpd="sng" w="12700">
            <a:solidFill>
              <a:srgbClr val="C8C8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4" name="Google Shape;654;p22"/>
          <p:cNvSpPr/>
          <p:nvPr/>
        </p:nvSpPr>
        <p:spPr>
          <a:xfrm>
            <a:off x="4800600" y="2304288"/>
            <a:ext cx="41148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DE8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4ADE80"/>
                </a:solidFill>
                <a:latin typeface="Calibri"/>
                <a:ea typeface="Calibri"/>
                <a:cs typeface="Calibri"/>
                <a:sym typeface="Calibri"/>
              </a:rPr>
              <a:t>✅  Control de versiones GitHub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5" name="Google Shape;655;p22"/>
          <p:cNvSpPr/>
          <p:nvPr/>
        </p:nvSpPr>
        <p:spPr>
          <a:xfrm>
            <a:off x="4800600" y="2651760"/>
            <a:ext cx="4114800" cy="9144"/>
          </a:xfrm>
          <a:prstGeom prst="rect">
            <a:avLst/>
          </a:prstGeom>
          <a:solidFill>
            <a:srgbClr val="C8C8D4"/>
          </a:solidFill>
          <a:ln cap="flat" cmpd="sng" w="12700">
            <a:solidFill>
              <a:srgbClr val="C8C8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6" name="Google Shape;656;p22"/>
          <p:cNvSpPr/>
          <p:nvPr/>
        </p:nvSpPr>
        <p:spPr>
          <a:xfrm>
            <a:off x="4800600" y="2706624"/>
            <a:ext cx="41148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DE8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4ADE80"/>
                </a:solidFill>
                <a:latin typeface="Calibri"/>
                <a:ea typeface="Calibri"/>
                <a:cs typeface="Calibri"/>
                <a:sym typeface="Calibri"/>
              </a:rPr>
              <a:t>✅  9 migraciones SQL versionadas ⭐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7" name="Google Shape;657;p22"/>
          <p:cNvSpPr/>
          <p:nvPr/>
        </p:nvSpPr>
        <p:spPr>
          <a:xfrm>
            <a:off x="4800600" y="3054096"/>
            <a:ext cx="4114800" cy="9144"/>
          </a:xfrm>
          <a:prstGeom prst="rect">
            <a:avLst/>
          </a:prstGeom>
          <a:solidFill>
            <a:srgbClr val="C8C8D4"/>
          </a:solidFill>
          <a:ln cap="flat" cmpd="sng" w="12700">
            <a:solidFill>
              <a:srgbClr val="C8C8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8" name="Google Shape;658;p22"/>
          <p:cNvSpPr/>
          <p:nvPr/>
        </p:nvSpPr>
        <p:spPr>
          <a:xfrm>
            <a:off x="365760" y="4892040"/>
            <a:ext cx="7772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37388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737388"/>
                </a:solidFill>
                <a:latin typeface="Calibri"/>
                <a:ea typeface="Calibri"/>
                <a:cs typeface="Calibri"/>
                <a:sym typeface="Calibri"/>
              </a:rPr>
              <a:t>Trackt — TPY1101 Taller Aplicado de Programación  |  DUOC UC  |  2026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9" name="Google Shape;659;p22"/>
          <p:cNvSpPr/>
          <p:nvPr/>
        </p:nvSpPr>
        <p:spPr>
          <a:xfrm>
            <a:off x="8503920" y="4892040"/>
            <a:ext cx="5486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37388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737388"/>
                </a:solidFill>
                <a:latin typeface="Calibri"/>
                <a:ea typeface="Calibri"/>
                <a:cs typeface="Calibri"/>
                <a:sym typeface="Calibri"/>
              </a:rPr>
              <a:t>18 / 20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0D10"/>
        </a:solidFill>
      </p:bgPr>
    </p:bg>
    <p:spTree>
      <p:nvGrpSpPr>
        <p:cNvPr id="664" name="Shape 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" name="Google Shape;665;p23"/>
          <p:cNvSpPr/>
          <p:nvPr/>
        </p:nvSpPr>
        <p:spPr>
          <a:xfrm>
            <a:off x="-914400" y="-457200"/>
            <a:ext cx="4572000" cy="4572000"/>
          </a:xfrm>
          <a:prstGeom prst="ellipse">
            <a:avLst/>
          </a:prstGeom>
          <a:solidFill>
            <a:srgbClr val="6152E8">
              <a:alpha val="7843"/>
            </a:srgbClr>
          </a:solidFill>
          <a:ln cap="flat" cmpd="sng" w="12700">
            <a:solidFill>
              <a:srgbClr val="6152E8">
                <a:alpha val="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6" name="Google Shape;666;p23"/>
          <p:cNvSpPr/>
          <p:nvPr/>
        </p:nvSpPr>
        <p:spPr>
          <a:xfrm>
            <a:off x="6400800" y="2286000"/>
            <a:ext cx="3657600" cy="3657600"/>
          </a:xfrm>
          <a:prstGeom prst="ellipse">
            <a:avLst/>
          </a:prstGeom>
          <a:solidFill>
            <a:srgbClr val="22D3EE">
              <a:alpha val="5882"/>
            </a:srgbClr>
          </a:solidFill>
          <a:ln cap="flat" cmpd="sng" w="12700">
            <a:solidFill>
              <a:srgbClr val="22D3EE">
                <a:alpha val="5882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7" name="Google Shape;667;p23"/>
          <p:cNvSpPr/>
          <p:nvPr/>
        </p:nvSpPr>
        <p:spPr>
          <a:xfrm>
            <a:off x="548640" y="45720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3738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737388"/>
                </a:solidFill>
                <a:latin typeface="Calibri"/>
                <a:ea typeface="Calibri"/>
                <a:cs typeface="Calibri"/>
                <a:sym typeface="Calibri"/>
              </a:rPr>
              <a:t>CONCLUSIONES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8" name="Google Shape;668;p23"/>
          <p:cNvSpPr/>
          <p:nvPr/>
        </p:nvSpPr>
        <p:spPr>
          <a:xfrm>
            <a:off x="548640" y="822960"/>
            <a:ext cx="8229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Trebuchet MS"/>
              <a:buNone/>
            </a:pPr>
            <a:r>
              <a:rPr b="1" i="0" lang="en-US" sz="38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MVP completo y funcional.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9" name="Google Shape;669;p23"/>
          <p:cNvSpPr/>
          <p:nvPr/>
        </p:nvSpPr>
        <p:spPr>
          <a:xfrm>
            <a:off x="548640" y="1627632"/>
            <a:ext cx="3657600" cy="27432"/>
          </a:xfrm>
          <a:prstGeom prst="rect">
            <a:avLst/>
          </a:prstGeom>
          <a:solidFill>
            <a:srgbClr val="6152E8"/>
          </a:solidFill>
          <a:ln cap="flat" cmpd="sng" w="12700">
            <a:solidFill>
              <a:srgbClr val="6152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0" name="Google Shape;670;p23"/>
          <p:cNvSpPr/>
          <p:nvPr/>
        </p:nvSpPr>
        <p:spPr>
          <a:xfrm>
            <a:off x="548640" y="178308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C8D4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8C8D4"/>
                </a:solidFill>
                <a:latin typeface="Calibri"/>
                <a:ea typeface="Calibri"/>
                <a:cs typeface="Calibri"/>
                <a:sym typeface="Calibri"/>
              </a:rPr>
              <a:t>→  14 módulos y 14 rutas frontend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1" name="Google Shape;671;p23"/>
          <p:cNvSpPr/>
          <p:nvPr/>
        </p:nvSpPr>
        <p:spPr>
          <a:xfrm>
            <a:off x="548640" y="2093976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C8D4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8C8D4"/>
                </a:solidFill>
                <a:latin typeface="Calibri"/>
                <a:ea typeface="Calibri"/>
                <a:cs typeface="Calibri"/>
                <a:sym typeface="Calibri"/>
              </a:rPr>
              <a:t>→  9 módulos backend con endpoints por rol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2" name="Google Shape;672;p23"/>
          <p:cNvSpPr/>
          <p:nvPr/>
        </p:nvSpPr>
        <p:spPr>
          <a:xfrm>
            <a:off x="548640" y="2404872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C8D4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8C8D4"/>
                </a:solidFill>
                <a:latin typeface="Calibri"/>
                <a:ea typeface="Calibri"/>
                <a:cs typeface="Calibri"/>
                <a:sym typeface="Calibri"/>
              </a:rPr>
              <a:t>→  12 entidades en Supabase producción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3" name="Google Shape;673;p23"/>
          <p:cNvSpPr/>
          <p:nvPr/>
        </p:nvSpPr>
        <p:spPr>
          <a:xfrm>
            <a:off x="548640" y="2715768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C8D4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8C8D4"/>
                </a:solidFill>
                <a:latin typeface="Calibri"/>
                <a:ea typeface="Calibri"/>
                <a:cs typeface="Calibri"/>
                <a:sym typeface="Calibri"/>
              </a:rPr>
              <a:t>→  3 roles con RLS + guards por endpoint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4" name="Google Shape;674;p23"/>
          <p:cNvSpPr/>
          <p:nvPr/>
        </p:nvSpPr>
        <p:spPr>
          <a:xfrm>
            <a:off x="548640" y="3026664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C8D4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8C8D4"/>
                </a:solidFill>
                <a:latin typeface="Calibri"/>
                <a:ea typeface="Calibri"/>
                <a:cs typeface="Calibri"/>
                <a:sym typeface="Calibri"/>
              </a:rPr>
              <a:t>→  Inventario + reservas de repuestos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5" name="Google Shape;675;p23"/>
          <p:cNvSpPr/>
          <p:nvPr/>
        </p:nvSpPr>
        <p:spPr>
          <a:xfrm>
            <a:off x="548640" y="333756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C8D4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8C8D4"/>
                </a:solidFill>
                <a:latin typeface="Calibri"/>
                <a:ea typeface="Calibri"/>
                <a:cs typeface="Calibri"/>
                <a:sym typeface="Calibri"/>
              </a:rPr>
              <a:t>→  127 / 128 tests aprobados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6" name="Google Shape;676;p23"/>
          <p:cNvSpPr/>
          <p:nvPr/>
        </p:nvSpPr>
        <p:spPr>
          <a:xfrm>
            <a:off x="5486388" y="1508745"/>
            <a:ext cx="3246000" cy="2560200"/>
          </a:xfrm>
          <a:prstGeom prst="rect">
            <a:avLst/>
          </a:prstGeom>
          <a:solidFill>
            <a:srgbClr val="16161C"/>
          </a:solidFill>
          <a:ln cap="flat" cmpd="sng" w="9525">
            <a:solidFill>
              <a:srgbClr val="3A3A4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7" name="Google Shape;677;p23"/>
          <p:cNvSpPr/>
          <p:nvPr/>
        </p:nvSpPr>
        <p:spPr>
          <a:xfrm>
            <a:off x="5623560" y="1517904"/>
            <a:ext cx="2971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El mayor riesgo es documental,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 conceptual.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8" name="Google Shape;678;p23"/>
          <p:cNvSpPr/>
          <p:nvPr/>
        </p:nvSpPr>
        <p:spPr>
          <a:xfrm>
            <a:off x="5623560" y="2148840"/>
            <a:ext cx="2971800" cy="1691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C8C8D4"/>
              </a:buClr>
              <a:buSzPts val="950"/>
              <a:buFont typeface="Calibri"/>
              <a:buChar char="•"/>
            </a:pPr>
            <a:r>
              <a:rPr b="0" i="0" lang="en-US" sz="950" u="none" cap="none" strike="noStrike">
                <a:solidFill>
                  <a:srgbClr val="C8C8D4"/>
                </a:solidFill>
                <a:latin typeface="Calibri"/>
                <a:ea typeface="Calibri"/>
                <a:cs typeface="Calibri"/>
                <a:sym typeface="Calibri"/>
              </a:rPr>
              <a:t>① Backup SQL + restauración evidenciada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C8C8D4"/>
              </a:buClr>
              <a:buSzPts val="950"/>
              <a:buFont typeface="Calibri"/>
              <a:buChar char="•"/>
            </a:pPr>
            <a:r>
              <a:rPr b="0" i="0" lang="en-US" sz="950" u="none" cap="none" strike="noStrike">
                <a:solidFill>
                  <a:srgbClr val="C8C8D4"/>
                </a:solidFill>
                <a:latin typeface="Calibri"/>
                <a:ea typeface="Calibri"/>
                <a:cs typeface="Calibri"/>
                <a:sym typeface="Calibri"/>
              </a:rPr>
              <a:t>② Corregir test app.controller.spec.ts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C8C8D4"/>
              </a:buClr>
              <a:buSzPts val="950"/>
              <a:buFont typeface="Calibri"/>
              <a:buChar char="•"/>
            </a:pPr>
            <a:r>
              <a:rPr b="0" i="0" lang="en-US" sz="950" u="none" cap="none" strike="noStrike">
                <a:solidFill>
                  <a:srgbClr val="C8C8D4"/>
                </a:solidFill>
                <a:latin typeface="Calibri"/>
                <a:ea typeface="Calibri"/>
                <a:cs typeface="Calibri"/>
                <a:sym typeface="Calibri"/>
              </a:rPr>
              <a:t>③ npm audit fix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C8C8D4"/>
              </a:buClr>
              <a:buSzPts val="950"/>
              <a:buFont typeface="Calibri"/>
              <a:buChar char="•"/>
            </a:pPr>
            <a:r>
              <a:rPr b="0" i="0" lang="en-US" sz="950" u="none" cap="none" strike="noStrike">
                <a:solidFill>
                  <a:srgbClr val="C8C8D4"/>
                </a:solidFill>
                <a:latin typeface="Calibri"/>
                <a:ea typeface="Calibri"/>
                <a:cs typeface="Calibri"/>
                <a:sym typeface="Calibri"/>
              </a:rPr>
              <a:t>④ Video demo del flujo completo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9" name="Google Shape;679;p23"/>
          <p:cNvSpPr/>
          <p:nvPr/>
        </p:nvSpPr>
        <p:spPr>
          <a:xfrm>
            <a:off x="548640" y="4297680"/>
            <a:ext cx="1554480" cy="274320"/>
          </a:xfrm>
          <a:prstGeom prst="rect">
            <a:avLst/>
          </a:prstGeom>
          <a:solidFill>
            <a:srgbClr val="A78BFA">
              <a:alpha val="20000"/>
            </a:srgbClr>
          </a:solidFill>
          <a:ln cap="flat" cmpd="sng" w="12700">
            <a:solidFill>
              <a:srgbClr val="A78B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0" name="Google Shape;680;p23"/>
          <p:cNvSpPr/>
          <p:nvPr/>
        </p:nvSpPr>
        <p:spPr>
          <a:xfrm>
            <a:off x="548640" y="4297680"/>
            <a:ext cx="1554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78BFA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A78BFA"/>
                </a:solidFill>
                <a:latin typeface="Calibri"/>
                <a:ea typeface="Calibri"/>
                <a:cs typeface="Calibri"/>
                <a:sym typeface="Calibri"/>
              </a:rPr>
              <a:t>Rosio Ametller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1" name="Google Shape;681;p23"/>
          <p:cNvSpPr/>
          <p:nvPr/>
        </p:nvSpPr>
        <p:spPr>
          <a:xfrm>
            <a:off x="2286000" y="4297680"/>
            <a:ext cx="1554480" cy="274320"/>
          </a:xfrm>
          <a:prstGeom prst="rect">
            <a:avLst/>
          </a:prstGeom>
          <a:solidFill>
            <a:srgbClr val="34D399">
              <a:alpha val="20000"/>
            </a:srgbClr>
          </a:solidFill>
          <a:ln cap="flat" cmpd="sng" w="12700">
            <a:solidFill>
              <a:srgbClr val="34D3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2" name="Google Shape;682;p23"/>
          <p:cNvSpPr/>
          <p:nvPr/>
        </p:nvSpPr>
        <p:spPr>
          <a:xfrm>
            <a:off x="2286000" y="4297680"/>
            <a:ext cx="1554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4D399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34D399"/>
                </a:solidFill>
                <a:latin typeface="Calibri"/>
                <a:ea typeface="Calibri"/>
                <a:cs typeface="Calibri"/>
                <a:sym typeface="Calibri"/>
              </a:rPr>
              <a:t>Jaime Osorio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3" name="Google Shape;683;p23"/>
          <p:cNvSpPr/>
          <p:nvPr/>
        </p:nvSpPr>
        <p:spPr>
          <a:xfrm>
            <a:off x="4023360" y="4297680"/>
            <a:ext cx="1554480" cy="274320"/>
          </a:xfrm>
          <a:prstGeom prst="rect">
            <a:avLst/>
          </a:prstGeom>
          <a:solidFill>
            <a:srgbClr val="60A5FA">
              <a:alpha val="20000"/>
            </a:srgbClr>
          </a:solidFill>
          <a:ln cap="flat" cmpd="sng" w="12700">
            <a:solidFill>
              <a:srgbClr val="60A5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4" name="Google Shape;684;p23"/>
          <p:cNvSpPr/>
          <p:nvPr/>
        </p:nvSpPr>
        <p:spPr>
          <a:xfrm>
            <a:off x="4023360" y="4297680"/>
            <a:ext cx="1554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0A5FA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60A5FA"/>
                </a:solidFill>
                <a:latin typeface="Calibri"/>
                <a:ea typeface="Calibri"/>
                <a:cs typeface="Calibri"/>
                <a:sym typeface="Calibri"/>
              </a:rPr>
              <a:t>Ramón Hernández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5" name="Google Shape;685;p23"/>
          <p:cNvSpPr/>
          <p:nvPr/>
        </p:nvSpPr>
        <p:spPr>
          <a:xfrm>
            <a:off x="548640" y="4754880"/>
            <a:ext cx="80467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37388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737388"/>
                </a:solidFill>
                <a:latin typeface="Calibri"/>
                <a:ea typeface="Calibri"/>
                <a:cs typeface="Calibri"/>
                <a:sym typeface="Calibri"/>
              </a:rPr>
              <a:t>TPY1101 — Taller Aplicado de Programación  |  DUOC UC  |  Grupo 10  |  2026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628"/>
          </a:xfrm>
          <a:prstGeom prst="rect">
            <a:avLst/>
          </a:prstGeom>
          <a:solidFill>
            <a:srgbClr val="0B0B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50879" cy="5143628"/>
          </a:xfrm>
          <a:prstGeom prst="rect">
            <a:avLst/>
          </a:prstGeom>
          <a:solidFill>
            <a:srgbClr val="615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1526" y="1714542"/>
            <a:ext cx="2743268" cy="8229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750" b="1" i="0">
                <a:solidFill>
                  <a:srgbClr val="1D1D21"/>
                </a:solidFill>
                <a:latin typeface="Arial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2100" y="2571814"/>
            <a:ext cx="7543988" cy="6172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300" b="1" i="0">
                <a:solidFill>
                  <a:srgbClr val="F5F5F5"/>
                </a:solidFill>
                <a:latin typeface="Arial"/>
              </a:rPr>
              <a:t>Infraestructura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17" y="3257631"/>
            <a:ext cx="891562" cy="38100"/>
          </a:xfrm>
          <a:prstGeom prst="rect">
            <a:avLst/>
          </a:prstGeom>
          <a:solidFill>
            <a:srgbClr val="615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17" y="3394794"/>
            <a:ext cx="7201080" cy="41149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A0A0A8"/>
                </a:solidFill>
                <a:latin typeface="Arial"/>
              </a:rPr>
              <a:t>Tres capas independientes: cada una se despliega, escala y falla por separado.</a:t>
            </a:r>
          </a:p>
        </p:txBody>
      </p:sp>
      <p:sp>
        <p:nvSpPr>
          <p:cNvPr id="8" name="Oval 7"/>
          <p:cNvSpPr/>
          <p:nvPr/>
        </p:nvSpPr>
        <p:spPr>
          <a:xfrm>
            <a:off x="411490" y="4841869"/>
            <a:ext cx="89156" cy="89156"/>
          </a:xfrm>
          <a:prstGeom prst="ellipse">
            <a:avLst/>
          </a:prstGeom>
          <a:solidFill>
            <a:srgbClr val="615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2370" y="4787003"/>
            <a:ext cx="4800720" cy="20574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707078"/>
                </a:solidFill>
                <a:latin typeface="Arial"/>
              </a:rPr>
              <a:t>Trackt · Infraestructura &amp; Seguridad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1152" y="4787003"/>
            <a:ext cx="1028725" cy="20574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750" b="0" i="0">
                <a:solidFill>
                  <a:srgbClr val="707078"/>
                </a:solidFill>
                <a:latin typeface="Arial"/>
              </a:rPr>
              <a:t>01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628"/>
          </a:xfrm>
          <a:prstGeom prst="rect">
            <a:avLst/>
          </a:prstGeom>
          <a:solidFill>
            <a:srgbClr val="0B0B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30" cy="5143628"/>
          </a:xfrm>
          <a:prstGeom prst="rect">
            <a:avLst/>
          </a:prstGeom>
          <a:solidFill>
            <a:srgbClr val="615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90" y="342908"/>
            <a:ext cx="7543988" cy="20574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37" b="1" i="0">
                <a:solidFill>
                  <a:srgbClr val="9B8FFF"/>
                </a:solidFill>
                <a:latin typeface="Arial"/>
              </a:rPr>
              <a:t>INFRAESTRUCTURA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90" y="562370"/>
            <a:ext cx="8229805" cy="54865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50" b="1" i="0">
                <a:solidFill>
                  <a:srgbClr val="F5F5F5"/>
                </a:solidFill>
                <a:latin typeface="Arial"/>
              </a:rPr>
              <a:t>Vista general de la arquitectura</a:t>
            </a:r>
          </a:p>
        </p:txBody>
      </p:sp>
      <p:sp>
        <p:nvSpPr>
          <p:cNvPr id="6" name="Rectangle 5"/>
          <p:cNvSpPr/>
          <p:nvPr/>
        </p:nvSpPr>
        <p:spPr>
          <a:xfrm>
            <a:off x="425206" y="1111023"/>
            <a:ext cx="617235" cy="28575"/>
          </a:xfrm>
          <a:prstGeom prst="rect">
            <a:avLst/>
          </a:prstGeom>
          <a:solidFill>
            <a:srgbClr val="615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411490" y="4841869"/>
            <a:ext cx="89156" cy="89156"/>
          </a:xfrm>
          <a:prstGeom prst="ellipse">
            <a:avLst/>
          </a:prstGeom>
          <a:solidFill>
            <a:srgbClr val="615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2370" y="4787003"/>
            <a:ext cx="4800720" cy="20574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707078"/>
                </a:solidFill>
                <a:latin typeface="Arial"/>
              </a:rPr>
              <a:t>Trackt · Infraestructura &amp; Seguridad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1152" y="4787003"/>
            <a:ext cx="1028725" cy="20574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750" b="0" i="0">
                <a:solidFill>
                  <a:srgbClr val="707078"/>
                </a:solidFill>
                <a:latin typeface="Arial"/>
              </a:rPr>
              <a:t>02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90" y="1440216"/>
            <a:ext cx="2537523" cy="2091742"/>
          </a:xfrm>
          <a:prstGeom prst="roundRect">
            <a:avLst>
              <a:gd name="adj" fmla="val 6000"/>
            </a:avLst>
          </a:prstGeom>
          <a:solidFill>
            <a:srgbClr val="151518"/>
          </a:solidFill>
          <a:ln w="9525">
            <a:solidFill>
              <a:srgbClr val="2A2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1490" y="1440216"/>
            <a:ext cx="2537523" cy="38100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2369" y="1563663"/>
            <a:ext cx="2263197" cy="27432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F5F5F5"/>
                </a:solidFill>
                <a:latin typeface="Arial"/>
              </a:rPr>
              <a:t>Frontend  ·  SSR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2369" y="1865422"/>
            <a:ext cx="2263197" cy="161167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375"/>
              </a:spcAft>
            </a:pPr>
            <a:r>
              <a:rPr sz="937">
                <a:solidFill>
                  <a:srgbClr val="A0A0A8"/>
                </a:solidFill>
                <a:latin typeface="Arial"/>
              </a:rPr>
              <a:t>Next.js 16 (App Router)</a:t>
            </a:r>
          </a:p>
          <a:p>
            <a:pPr>
              <a:lnSpc>
                <a:spcPct val="104000"/>
              </a:lnSpc>
              <a:spcAft>
                <a:spcPts val="375"/>
              </a:spcAft>
            </a:pPr>
            <a:r>
              <a:rPr sz="937">
                <a:solidFill>
                  <a:srgbClr val="A0A0A8"/>
                </a:solidFill>
                <a:latin typeface="Arial"/>
              </a:rPr>
              <a:t>React 19</a:t>
            </a:r>
          </a:p>
          <a:p>
            <a:pPr>
              <a:lnSpc>
                <a:spcPct val="104000"/>
              </a:lnSpc>
              <a:spcAft>
                <a:spcPts val="375"/>
              </a:spcAft>
            </a:pPr>
            <a:r>
              <a:rPr sz="937">
                <a:solidFill>
                  <a:srgbClr val="A0A0A8"/>
                </a:solidFill>
                <a:latin typeface="Arial"/>
              </a:rPr>
              <a:t>TanStack Query</a:t>
            </a:r>
          </a:p>
          <a:p>
            <a:pPr>
              <a:lnSpc>
                <a:spcPct val="104000"/>
              </a:lnSpc>
              <a:spcAft>
                <a:spcPts val="375"/>
              </a:spcAft>
            </a:pPr>
            <a:r>
              <a:rPr sz="937">
                <a:solidFill>
                  <a:srgbClr val="A0A0A8"/>
                </a:solidFill>
                <a:latin typeface="Arial"/>
              </a:rPr>
              <a:t>shadcn/ui + Tailwind 4</a:t>
            </a:r>
          </a:p>
          <a:p>
            <a:pPr>
              <a:lnSpc>
                <a:spcPct val="104000"/>
              </a:lnSpc>
              <a:spcAft>
                <a:spcPts val="375"/>
              </a:spcAft>
            </a:pPr>
            <a:r>
              <a:rPr sz="937">
                <a:solidFill>
                  <a:srgbClr val="A0A0A8"/>
                </a:solidFill>
                <a:latin typeface="Arial"/>
              </a:rPr>
              <a:t/>
            </a:r>
          </a:p>
          <a:p>
            <a:pPr>
              <a:lnSpc>
                <a:spcPct val="104000"/>
              </a:lnSpc>
              <a:spcAft>
                <a:spcPts val="375"/>
              </a:spcAft>
            </a:pPr>
            <a:r>
              <a:rPr sz="937">
                <a:solidFill>
                  <a:srgbClr val="A0A0A8"/>
                </a:solidFill>
                <a:latin typeface="Arial"/>
              </a:rPr>
              <a:t>Deploy: Vercel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05638" y="1440216"/>
            <a:ext cx="2537523" cy="2091742"/>
          </a:xfrm>
          <a:prstGeom prst="roundRect">
            <a:avLst>
              <a:gd name="adj" fmla="val 6000"/>
            </a:avLst>
          </a:prstGeom>
          <a:solidFill>
            <a:srgbClr val="151518"/>
          </a:solidFill>
          <a:ln w="9525">
            <a:solidFill>
              <a:srgbClr val="2A2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305638" y="1440216"/>
            <a:ext cx="2537523" cy="38100"/>
          </a:xfrm>
          <a:prstGeom prst="rect">
            <a:avLst/>
          </a:prstGeom>
          <a:solidFill>
            <a:srgbClr val="615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56517" y="1563663"/>
            <a:ext cx="2263197" cy="27432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F5F5F5"/>
                </a:solidFill>
                <a:latin typeface="Arial"/>
              </a:rPr>
              <a:t>Backend  ·  API REST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56517" y="1865422"/>
            <a:ext cx="2263197" cy="161167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375"/>
              </a:spcAft>
            </a:pPr>
            <a:r>
              <a:rPr sz="937">
                <a:solidFill>
                  <a:srgbClr val="A0A0A8"/>
                </a:solidFill>
                <a:latin typeface="Arial"/>
              </a:rPr>
              <a:t>NestJS 11 + TypeScript</a:t>
            </a:r>
          </a:p>
          <a:p>
            <a:pPr>
              <a:lnSpc>
                <a:spcPct val="104000"/>
              </a:lnSpc>
              <a:spcAft>
                <a:spcPts val="375"/>
              </a:spcAft>
            </a:pPr>
            <a:r>
              <a:rPr sz="937">
                <a:solidFill>
                  <a:srgbClr val="A0A0A8"/>
                </a:solidFill>
                <a:latin typeface="Arial"/>
              </a:rPr>
              <a:t>Prisma 6 (ORM)</a:t>
            </a:r>
          </a:p>
          <a:p>
            <a:pPr>
              <a:lnSpc>
                <a:spcPct val="104000"/>
              </a:lnSpc>
              <a:spcAft>
                <a:spcPts val="375"/>
              </a:spcAft>
            </a:pPr>
            <a:r>
              <a:rPr sz="937">
                <a:solidFill>
                  <a:srgbClr val="A0A0A8"/>
                </a:solidFill>
                <a:latin typeface="Arial"/>
              </a:rPr>
              <a:t>Auth JWT (Bearer)</a:t>
            </a:r>
          </a:p>
          <a:p>
            <a:pPr>
              <a:lnSpc>
                <a:spcPct val="104000"/>
              </a:lnSpc>
              <a:spcAft>
                <a:spcPts val="375"/>
              </a:spcAft>
            </a:pPr>
            <a:r>
              <a:rPr sz="937">
                <a:solidFill>
                  <a:srgbClr val="A0A0A8"/>
                </a:solidFill>
                <a:latin typeface="Arial"/>
              </a:rPr>
              <a:t>Validación global de DTOs</a:t>
            </a:r>
          </a:p>
          <a:p>
            <a:pPr>
              <a:lnSpc>
                <a:spcPct val="104000"/>
              </a:lnSpc>
              <a:spcAft>
                <a:spcPts val="375"/>
              </a:spcAft>
            </a:pPr>
            <a:r>
              <a:rPr sz="937">
                <a:solidFill>
                  <a:srgbClr val="A0A0A8"/>
                </a:solidFill>
                <a:latin typeface="Arial"/>
              </a:rPr>
              <a:t/>
            </a:r>
          </a:p>
          <a:p>
            <a:pPr>
              <a:lnSpc>
                <a:spcPct val="104000"/>
              </a:lnSpc>
              <a:spcAft>
                <a:spcPts val="375"/>
              </a:spcAft>
            </a:pPr>
            <a:r>
              <a:rPr sz="937">
                <a:solidFill>
                  <a:srgbClr val="A0A0A8"/>
                </a:solidFill>
                <a:latin typeface="Arial"/>
              </a:rPr>
              <a:t>Deploy: Railway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99786" y="1440216"/>
            <a:ext cx="2537523" cy="2091742"/>
          </a:xfrm>
          <a:prstGeom prst="roundRect">
            <a:avLst>
              <a:gd name="adj" fmla="val 6000"/>
            </a:avLst>
          </a:prstGeom>
          <a:solidFill>
            <a:srgbClr val="151518"/>
          </a:solidFill>
          <a:ln w="9525">
            <a:solidFill>
              <a:srgbClr val="2A2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99786" y="1440216"/>
            <a:ext cx="2537523" cy="3810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50665" y="1563663"/>
            <a:ext cx="2263197" cy="27432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F5F5F5"/>
                </a:solidFill>
                <a:latin typeface="Arial"/>
              </a:rPr>
              <a:t>Datos  ·  Servicios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0665" y="1865422"/>
            <a:ext cx="2263197" cy="161167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375"/>
              </a:spcAft>
            </a:pPr>
            <a:r>
              <a:rPr sz="937">
                <a:solidFill>
                  <a:srgbClr val="A0A0A8"/>
                </a:solidFill>
                <a:latin typeface="Arial"/>
              </a:rPr>
              <a:t>Supabase</a:t>
            </a:r>
          </a:p>
          <a:p>
            <a:pPr>
              <a:lnSpc>
                <a:spcPct val="104000"/>
              </a:lnSpc>
              <a:spcAft>
                <a:spcPts val="375"/>
              </a:spcAft>
            </a:pPr>
            <a:r>
              <a:rPr sz="937">
                <a:solidFill>
                  <a:srgbClr val="A0A0A8"/>
                </a:solidFill>
                <a:latin typeface="Arial"/>
              </a:rPr>
              <a:t>· PostgreSQL</a:t>
            </a:r>
          </a:p>
          <a:p>
            <a:pPr>
              <a:lnSpc>
                <a:spcPct val="104000"/>
              </a:lnSpc>
              <a:spcAft>
                <a:spcPts val="375"/>
              </a:spcAft>
            </a:pPr>
            <a:r>
              <a:rPr sz="937">
                <a:solidFill>
                  <a:srgbClr val="A0A0A8"/>
                </a:solidFill>
                <a:latin typeface="Arial"/>
              </a:rPr>
              <a:t>· Auth (JWT)</a:t>
            </a:r>
          </a:p>
          <a:p>
            <a:pPr>
              <a:lnSpc>
                <a:spcPct val="104000"/>
              </a:lnSpc>
              <a:spcAft>
                <a:spcPts val="375"/>
              </a:spcAft>
            </a:pPr>
            <a:r>
              <a:rPr sz="937">
                <a:solidFill>
                  <a:srgbClr val="A0A0A8"/>
                </a:solidFill>
                <a:latin typeface="Arial"/>
              </a:rPr>
              <a:t>· Storage (evidencias)</a:t>
            </a:r>
          </a:p>
          <a:p>
            <a:pPr>
              <a:lnSpc>
                <a:spcPct val="104000"/>
              </a:lnSpc>
              <a:spcAft>
                <a:spcPts val="375"/>
              </a:spcAft>
            </a:pPr>
            <a:r>
              <a:rPr sz="937">
                <a:solidFill>
                  <a:srgbClr val="A0A0A8"/>
                </a:solidFill>
                <a:latin typeface="Arial"/>
              </a:rPr>
              <a:t/>
            </a:r>
          </a:p>
          <a:p>
            <a:pPr>
              <a:lnSpc>
                <a:spcPct val="104000"/>
              </a:lnSpc>
              <a:spcAft>
                <a:spcPts val="375"/>
              </a:spcAft>
            </a:pPr>
            <a:r>
              <a:rPr sz="937">
                <a:solidFill>
                  <a:srgbClr val="A0A0A8"/>
                </a:solidFill>
                <a:latin typeface="Arial"/>
              </a:rPr>
              <a:t>Región: East US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3031311" y="2376357"/>
            <a:ext cx="233177" cy="219461"/>
          </a:xfrm>
          <a:prstGeom prst="rightArrow">
            <a:avLst/>
          </a:prstGeom>
          <a:solidFill>
            <a:srgbClr val="615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ight Arrow 22"/>
          <p:cNvSpPr/>
          <p:nvPr/>
        </p:nvSpPr>
        <p:spPr>
          <a:xfrm>
            <a:off x="5925460" y="2376357"/>
            <a:ext cx="233177" cy="219461"/>
          </a:xfrm>
          <a:prstGeom prst="rightArrow">
            <a:avLst/>
          </a:prstGeom>
          <a:solidFill>
            <a:srgbClr val="615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25206" y="3806285"/>
            <a:ext cx="8229805" cy="8229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125" b="1">
                <a:solidFill>
                  <a:srgbClr val="6152E8"/>
                </a:solidFill>
                <a:latin typeface="Arial"/>
              </a:rPr>
              <a:t>▸  </a:t>
            </a:r>
            <a:r>
              <a:rPr sz="1125">
                <a:solidFill>
                  <a:srgbClr val="F5F5F5"/>
                </a:solidFill>
                <a:latin typeface="Arial"/>
              </a:rPr>
              <a:t>El frontend nunca habla directo con la base: todo pasa por la API.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125" b="1">
                <a:solidFill>
                  <a:srgbClr val="6152E8"/>
                </a:solidFill>
                <a:latin typeface="Arial"/>
              </a:rPr>
              <a:t>▸  </a:t>
            </a:r>
            <a:r>
              <a:rPr sz="1125">
                <a:solidFill>
                  <a:srgbClr val="F5F5F5"/>
                </a:solidFill>
                <a:latin typeface="Arial"/>
              </a:rPr>
              <a:t>Comunicación HTTPS + token JWT en cada request → un único punto de entrada controlado.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628"/>
          </a:xfrm>
          <a:prstGeom prst="rect">
            <a:avLst/>
          </a:prstGeom>
          <a:solidFill>
            <a:srgbClr val="0B0B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30" cy="5143628"/>
          </a:xfrm>
          <a:prstGeom prst="rect">
            <a:avLst/>
          </a:prstGeom>
          <a:solidFill>
            <a:srgbClr val="615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90" y="342908"/>
            <a:ext cx="7543988" cy="20574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37" b="1" i="0">
                <a:solidFill>
                  <a:srgbClr val="9B8FFF"/>
                </a:solidFill>
                <a:latin typeface="Arial"/>
              </a:rPr>
              <a:t>INFRAESTRUCTURA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90" y="562370"/>
            <a:ext cx="8229805" cy="54865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50" b="1" i="0">
                <a:solidFill>
                  <a:srgbClr val="F5F5F5"/>
                </a:solidFill>
                <a:latin typeface="Arial"/>
              </a:rPr>
              <a:t>Frontend — Next.js 16 + Vercel</a:t>
            </a:r>
          </a:p>
        </p:txBody>
      </p:sp>
      <p:sp>
        <p:nvSpPr>
          <p:cNvPr id="6" name="Rectangle 5"/>
          <p:cNvSpPr/>
          <p:nvPr/>
        </p:nvSpPr>
        <p:spPr>
          <a:xfrm>
            <a:off x="425206" y="1111023"/>
            <a:ext cx="617235" cy="28575"/>
          </a:xfrm>
          <a:prstGeom prst="rect">
            <a:avLst/>
          </a:prstGeom>
          <a:solidFill>
            <a:srgbClr val="615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411490" y="4841869"/>
            <a:ext cx="89156" cy="89156"/>
          </a:xfrm>
          <a:prstGeom prst="ellipse">
            <a:avLst/>
          </a:prstGeom>
          <a:solidFill>
            <a:srgbClr val="615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2370" y="4787003"/>
            <a:ext cx="4800720" cy="20574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707078"/>
                </a:solidFill>
                <a:latin typeface="Arial"/>
              </a:rPr>
              <a:t>Trackt · Infraestructura &amp; Seguridad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1152" y="4787003"/>
            <a:ext cx="1028725" cy="20574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750" b="0" i="0">
                <a:solidFill>
                  <a:srgbClr val="707078"/>
                </a:solidFill>
                <a:latin typeface="Arial"/>
              </a:rP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5206" y="1371634"/>
            <a:ext cx="4869301" cy="315475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525"/>
              </a:spcAft>
            </a:pPr>
            <a:r>
              <a:rPr sz="1125" b="1">
                <a:solidFill>
                  <a:srgbClr val="6152E8"/>
                </a:solidFill>
                <a:latin typeface="Arial"/>
              </a:rPr>
              <a:t>▸  </a:t>
            </a:r>
            <a:r>
              <a:rPr sz="1125">
                <a:solidFill>
                  <a:srgbClr val="F5F5F5"/>
                </a:solidFill>
                <a:latin typeface="Arial"/>
              </a:rPr>
              <a:t>Next.js 16 (App Router) + React 19, rendering en servidor.</a:t>
            </a:r>
          </a:p>
          <a:p>
            <a:pPr>
              <a:lnSpc>
                <a:spcPct val="105000"/>
              </a:lnSpc>
              <a:spcAft>
                <a:spcPts val="525"/>
              </a:spcAft>
            </a:pPr>
            <a:r>
              <a:rPr sz="1125" b="1">
                <a:solidFill>
                  <a:srgbClr val="6152E8"/>
                </a:solidFill>
                <a:latin typeface="Arial"/>
              </a:rPr>
              <a:t>▸  </a:t>
            </a:r>
            <a:r>
              <a:rPr sz="1125">
                <a:solidFill>
                  <a:srgbClr val="F5F5F5"/>
                </a:solidFill>
                <a:latin typeface="Arial"/>
              </a:rPr>
              <a:t>Protección de rutas en el servidor:</a:t>
            </a:r>
          </a:p>
          <a:p>
            <a:pPr lvl="1">
              <a:lnSpc>
                <a:spcPct val="105000"/>
              </a:lnSpc>
              <a:spcAft>
                <a:spcPts val="525"/>
              </a:spcAft>
            </a:pPr>
            <a:r>
              <a:rPr sz="1050">
                <a:solidFill>
                  <a:srgbClr val="707078"/>
                </a:solidFill>
                <a:latin typeface="Arial"/>
              </a:rPr>
              <a:t>      –   </a:t>
            </a:r>
            <a:r>
              <a:rPr sz="1050">
                <a:solidFill>
                  <a:srgbClr val="A0A0A8"/>
                </a:solidFill>
                <a:latin typeface="Arial"/>
              </a:rPr>
              <a:t>middleware valida la sesión (supabase.auth.getUser) en cada request</a:t>
            </a:r>
          </a:p>
          <a:p>
            <a:pPr lvl="1">
              <a:lnSpc>
                <a:spcPct val="105000"/>
              </a:lnSpc>
              <a:spcAft>
                <a:spcPts val="525"/>
              </a:spcAft>
            </a:pPr>
            <a:r>
              <a:rPr sz="1050">
                <a:solidFill>
                  <a:srgbClr val="707078"/>
                </a:solidFill>
                <a:latin typeface="Arial"/>
              </a:rPr>
              <a:t>      –   </a:t>
            </a:r>
            <a:r>
              <a:rPr sz="1050">
                <a:solidFill>
                  <a:srgbClr val="A0A0A8"/>
                </a:solidFill>
                <a:latin typeface="Arial"/>
              </a:rPr>
              <a:t>redirige a /login si no hay sesión, antes de renderizar</a:t>
            </a:r>
          </a:p>
          <a:p>
            <a:pPr>
              <a:lnSpc>
                <a:spcPct val="105000"/>
              </a:lnSpc>
              <a:spcAft>
                <a:spcPts val="525"/>
              </a:spcAft>
            </a:pPr>
            <a:r>
              <a:rPr sz="1125" b="1">
                <a:solidFill>
                  <a:srgbClr val="6152E8"/>
                </a:solidFill>
                <a:latin typeface="Arial"/>
              </a:rPr>
              <a:t>▸  </a:t>
            </a:r>
            <a:r>
              <a:rPr sz="1125">
                <a:solidFill>
                  <a:srgbClr val="F5F5F5"/>
                </a:solidFill>
                <a:latin typeface="Arial"/>
              </a:rPr>
              <a:t>Sesión en cookies vía @supabase/ssr (no localStorage → menos XSS).</a:t>
            </a:r>
          </a:p>
          <a:p>
            <a:pPr>
              <a:lnSpc>
                <a:spcPct val="105000"/>
              </a:lnSpc>
              <a:spcAft>
                <a:spcPts val="525"/>
              </a:spcAft>
            </a:pPr>
            <a:r>
              <a:rPr sz="1125" b="1">
                <a:solidFill>
                  <a:srgbClr val="6152E8"/>
                </a:solidFill>
                <a:latin typeface="Arial"/>
              </a:rPr>
              <a:t>▸  </a:t>
            </a:r>
            <a:r>
              <a:rPr sz="1125">
                <a:solidFill>
                  <a:srgbClr val="F5F5F5"/>
                </a:solidFill>
                <a:latin typeface="Arial"/>
              </a:rPr>
              <a:t>TanStack Query para estado de servidor y caché.</a:t>
            </a:r>
          </a:p>
          <a:p>
            <a:pPr>
              <a:lnSpc>
                <a:spcPct val="105000"/>
              </a:lnSpc>
              <a:spcAft>
                <a:spcPts val="525"/>
              </a:spcAft>
            </a:pPr>
            <a:r>
              <a:rPr sz="1125" b="1">
                <a:solidFill>
                  <a:srgbClr val="6152E8"/>
                </a:solidFill>
                <a:latin typeface="Arial"/>
              </a:rPr>
              <a:t>▸  </a:t>
            </a:r>
            <a:r>
              <a:rPr sz="1125">
                <a:solidFill>
                  <a:srgbClr val="F5F5F5"/>
                </a:solidFill>
                <a:latin typeface="Arial"/>
              </a:rPr>
              <a:t>shadcn + Tailwind 4 · formularios validados con zod.</a:t>
            </a:r>
          </a:p>
          <a:p>
            <a:pPr>
              <a:lnSpc>
                <a:spcPct val="105000"/>
              </a:lnSpc>
              <a:spcAft>
                <a:spcPts val="525"/>
              </a:spcAft>
            </a:pPr>
            <a:r>
              <a:rPr sz="1125" b="1">
                <a:solidFill>
                  <a:srgbClr val="6152E8"/>
                </a:solidFill>
                <a:latin typeface="Arial"/>
              </a:rPr>
              <a:t>▸  </a:t>
            </a:r>
            <a:r>
              <a:rPr sz="1125">
                <a:solidFill>
                  <a:srgbClr val="F5F5F5"/>
                </a:solidFill>
                <a:latin typeface="Arial"/>
              </a:rPr>
              <a:t>authFetch adjunta el token como Bearer (auto-refresh + retry en 401).</a:t>
            </a:r>
          </a:p>
          <a:p>
            <a:pPr>
              <a:lnSpc>
                <a:spcPct val="105000"/>
              </a:lnSpc>
              <a:spcAft>
                <a:spcPts val="525"/>
              </a:spcAft>
            </a:pPr>
            <a:r>
              <a:rPr sz="1125" b="1">
                <a:solidFill>
                  <a:srgbClr val="6152E8"/>
                </a:solidFill>
                <a:latin typeface="Arial"/>
              </a:rPr>
              <a:t>▸  </a:t>
            </a:r>
            <a:r>
              <a:rPr sz="1125">
                <a:solidFill>
                  <a:srgbClr val="F5F5F5"/>
                </a:solidFill>
                <a:latin typeface="Arial"/>
              </a:rPr>
              <a:t>El build de producción falla si faltan las env vars de Supabase.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520828" y="1371634"/>
            <a:ext cx="3223340" cy="3086177"/>
          </a:xfrm>
          <a:prstGeom prst="roundRect">
            <a:avLst>
              <a:gd name="adj" fmla="val 6000"/>
            </a:avLst>
          </a:prstGeom>
          <a:solidFill>
            <a:srgbClr val="151518"/>
          </a:solidFill>
          <a:ln w="9525">
            <a:solidFill>
              <a:srgbClr val="2A2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520828" y="1371634"/>
            <a:ext cx="3223340" cy="38100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71707" y="1495081"/>
            <a:ext cx="2949014" cy="27432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F5F5F5"/>
                </a:solidFill>
                <a:latin typeface="Arial"/>
              </a:rPr>
              <a:t>Por qué importa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71707" y="1796840"/>
            <a:ext cx="2949014" cy="260610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375"/>
              </a:spcAft>
            </a:pPr>
            <a:r>
              <a:rPr sz="937">
                <a:solidFill>
                  <a:srgbClr val="A0A0A8"/>
                </a:solidFill>
                <a:latin typeface="Arial"/>
              </a:rPr>
              <a:t>Sin lógica de negocio ni llaves secretas en el cliente.</a:t>
            </a:r>
          </a:p>
          <a:p>
            <a:pPr>
              <a:lnSpc>
                <a:spcPct val="104000"/>
              </a:lnSpc>
              <a:spcAft>
                <a:spcPts val="375"/>
              </a:spcAft>
            </a:pPr>
            <a:r>
              <a:rPr sz="937">
                <a:solidFill>
                  <a:srgbClr val="A0A0A8"/>
                </a:solidFill>
                <a:latin typeface="Arial"/>
              </a:rPr>
              <a:t>Protección server-side: no depende de 'esconder un botón'.</a:t>
            </a:r>
          </a:p>
          <a:p>
            <a:pPr>
              <a:lnSpc>
                <a:spcPct val="104000"/>
              </a:lnSpc>
              <a:spcAft>
                <a:spcPts val="375"/>
              </a:spcAft>
            </a:pPr>
            <a:r>
              <a:rPr sz="937">
                <a:solidFill>
                  <a:srgbClr val="A0A0A8"/>
                </a:solidFill>
                <a:latin typeface="Arial"/>
              </a:rPr>
              <a:t>Cookies &gt; localStorage para la sesión.</a:t>
            </a:r>
          </a:p>
          <a:p>
            <a:pPr>
              <a:lnSpc>
                <a:spcPct val="104000"/>
              </a:lnSpc>
              <a:spcAft>
                <a:spcPts val="375"/>
              </a:spcAft>
            </a:pPr>
            <a:r>
              <a:rPr sz="937">
                <a:solidFill>
                  <a:srgbClr val="A0A0A8"/>
                </a:solidFill>
                <a:latin typeface="Arial"/>
              </a:rPr>
              <a:t>Token refrescado de forma transparente.</a:t>
            </a:r>
          </a:p>
          <a:p>
            <a:pPr>
              <a:lnSpc>
                <a:spcPct val="104000"/>
              </a:lnSpc>
              <a:spcAft>
                <a:spcPts val="375"/>
              </a:spcAft>
            </a:pPr>
            <a:r>
              <a:rPr sz="937">
                <a:solidFill>
                  <a:srgbClr val="A0A0A8"/>
                </a:solidFill>
                <a:latin typeface="Arial"/>
              </a:rPr>
              <a:t/>
            </a:r>
          </a:p>
          <a:p>
            <a:pPr>
              <a:lnSpc>
                <a:spcPct val="104000"/>
              </a:lnSpc>
              <a:spcAft>
                <a:spcPts val="375"/>
              </a:spcAft>
            </a:pPr>
            <a:r>
              <a:rPr sz="937">
                <a:solidFill>
                  <a:srgbClr val="A0A0A8"/>
                </a:solidFill>
                <a:latin typeface="Arial"/>
              </a:rPr>
              <a:t>producto/tract-front  (paquete trackt-front)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628"/>
          </a:xfrm>
          <a:prstGeom prst="rect">
            <a:avLst/>
          </a:prstGeom>
          <a:solidFill>
            <a:srgbClr val="0B0B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30" cy="5143628"/>
          </a:xfrm>
          <a:prstGeom prst="rect">
            <a:avLst/>
          </a:prstGeom>
          <a:solidFill>
            <a:srgbClr val="615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90" y="342908"/>
            <a:ext cx="7543988" cy="20574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37" b="1" i="0">
                <a:solidFill>
                  <a:srgbClr val="9B8FFF"/>
                </a:solidFill>
                <a:latin typeface="Arial"/>
              </a:rPr>
              <a:t>INFRAESTRUCTURA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90" y="562370"/>
            <a:ext cx="8229805" cy="54865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50" b="1" i="0">
                <a:solidFill>
                  <a:srgbClr val="F5F5F5"/>
                </a:solidFill>
                <a:latin typeface="Arial"/>
              </a:rPr>
              <a:t>Backend / API — NestJS 11</a:t>
            </a:r>
          </a:p>
        </p:txBody>
      </p:sp>
      <p:sp>
        <p:nvSpPr>
          <p:cNvPr id="6" name="Rectangle 5"/>
          <p:cNvSpPr/>
          <p:nvPr/>
        </p:nvSpPr>
        <p:spPr>
          <a:xfrm>
            <a:off x="425206" y="1111023"/>
            <a:ext cx="617235" cy="28575"/>
          </a:xfrm>
          <a:prstGeom prst="rect">
            <a:avLst/>
          </a:prstGeom>
          <a:solidFill>
            <a:srgbClr val="615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411490" y="4841869"/>
            <a:ext cx="89156" cy="89156"/>
          </a:xfrm>
          <a:prstGeom prst="ellipse">
            <a:avLst/>
          </a:prstGeom>
          <a:solidFill>
            <a:srgbClr val="615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2370" y="4787003"/>
            <a:ext cx="4800720" cy="20574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707078"/>
                </a:solidFill>
                <a:latin typeface="Arial"/>
              </a:rPr>
              <a:t>Trackt · Infraestructura &amp; Seguridad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1152" y="4787003"/>
            <a:ext cx="1028725" cy="20574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750" b="0" i="0">
                <a:solidFill>
                  <a:srgbClr val="707078"/>
                </a:solidFill>
                <a:latin typeface="Arial"/>
              </a:rPr>
              <a:t>04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5206" y="1371634"/>
            <a:ext cx="4869301" cy="315475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125" b="1">
                <a:solidFill>
                  <a:srgbClr val="6152E8"/>
                </a:solidFill>
                <a:latin typeface="Arial"/>
              </a:rPr>
              <a:t>▸  </a:t>
            </a:r>
            <a:r>
              <a:rPr sz="1125">
                <a:solidFill>
                  <a:srgbClr val="F5F5F5"/>
                </a:solidFill>
                <a:latin typeface="Arial"/>
              </a:rPr>
              <a:t>NestJS 11 + TypeScript: arquitectura modular (un módulo por dominio).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125" b="1">
                <a:solidFill>
                  <a:srgbClr val="6152E8"/>
                </a:solidFill>
                <a:latin typeface="Arial"/>
              </a:rPr>
              <a:t>▸  </a:t>
            </a:r>
            <a:r>
              <a:rPr sz="1125">
                <a:solidFill>
                  <a:srgbClr val="F5F5F5"/>
                </a:solidFill>
                <a:latin typeface="Arial"/>
              </a:rPr>
              <a:t>Prisma 6 como ORM → PostgreSQL (queries tipadas, anti-inyección).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125" b="1">
                <a:solidFill>
                  <a:srgbClr val="6152E8"/>
                </a:solidFill>
                <a:latin typeface="Arial"/>
              </a:rPr>
              <a:t>▸  </a:t>
            </a:r>
            <a:r>
              <a:rPr sz="1125">
                <a:solidFill>
                  <a:srgbClr val="F5F5F5"/>
                </a:solidFill>
                <a:latin typeface="Arial"/>
              </a:rPr>
              <a:t>Validación global con ValidationPipe:</a:t>
            </a:r>
          </a:p>
          <a:p>
            <a:pPr lvl="1">
              <a:lnSpc>
                <a:spcPct val="105000"/>
              </a:lnSpc>
              <a:spcAft>
                <a:spcPts val="600"/>
              </a:spcAft>
            </a:pPr>
            <a:r>
              <a:rPr sz="1050">
                <a:solidFill>
                  <a:srgbClr val="707078"/>
                </a:solidFill>
                <a:latin typeface="Arial"/>
              </a:rPr>
              <a:t>      –   </a:t>
            </a:r>
            <a:r>
              <a:rPr sz="1050">
                <a:solidFill>
                  <a:srgbClr val="A0A0A8"/>
                </a:solidFill>
                <a:latin typeface="Arial"/>
              </a:rPr>
              <a:t>whitelist → descarta campos no declarados en el DTO</a:t>
            </a:r>
          </a:p>
          <a:p>
            <a:pPr lvl="1">
              <a:lnSpc>
                <a:spcPct val="105000"/>
              </a:lnSpc>
              <a:spcAft>
                <a:spcPts val="600"/>
              </a:spcAft>
            </a:pPr>
            <a:r>
              <a:rPr sz="1050">
                <a:solidFill>
                  <a:srgbClr val="707078"/>
                </a:solidFill>
                <a:latin typeface="Arial"/>
              </a:rPr>
              <a:t>      –   </a:t>
            </a:r>
            <a:r>
              <a:rPr sz="1050">
                <a:solidFill>
                  <a:srgbClr val="A0A0A8"/>
                </a:solidFill>
                <a:latin typeface="Arial"/>
              </a:rPr>
              <a:t>transform → convierte y valida tipos antes de la lógica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125" b="1">
                <a:solidFill>
                  <a:srgbClr val="6152E8"/>
                </a:solidFill>
                <a:latin typeface="Arial"/>
              </a:rPr>
              <a:t>▸  </a:t>
            </a:r>
            <a:r>
              <a:rPr sz="1125">
                <a:solidFill>
                  <a:srgbClr val="F5F5F5"/>
                </a:solidFill>
                <a:latin typeface="Arial"/>
              </a:rPr>
              <a:t>Ningún dato entra a la API sin pasar por un filtro.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125" b="1">
                <a:solidFill>
                  <a:srgbClr val="6152E8"/>
                </a:solidFill>
                <a:latin typeface="Arial"/>
              </a:rPr>
              <a:t>▸  </a:t>
            </a:r>
            <a:r>
              <a:rPr sz="1125">
                <a:solidFill>
                  <a:srgbClr val="F5F5F5"/>
                </a:solidFill>
                <a:latin typeface="Arial"/>
              </a:rPr>
              <a:t>Deploy en Railway (Node).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520828" y="1371634"/>
            <a:ext cx="3223340" cy="3086177"/>
          </a:xfrm>
          <a:prstGeom prst="roundRect">
            <a:avLst>
              <a:gd name="adj" fmla="val 6000"/>
            </a:avLst>
          </a:prstGeom>
          <a:solidFill>
            <a:srgbClr val="151518"/>
          </a:solidFill>
          <a:ln w="9525">
            <a:solidFill>
              <a:srgbClr val="2A2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520828" y="1371634"/>
            <a:ext cx="3223340" cy="38100"/>
          </a:xfrm>
          <a:prstGeom prst="rect">
            <a:avLst/>
          </a:prstGeom>
          <a:solidFill>
            <a:srgbClr val="615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71707" y="1495081"/>
            <a:ext cx="2949014" cy="27432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F5F5F5"/>
                </a:solidFill>
                <a:latin typeface="Arial"/>
              </a:rPr>
              <a:t>Módulos de dominio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71707" y="1796840"/>
            <a:ext cx="2949014" cy="260610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375"/>
              </a:spcAft>
            </a:pPr>
            <a:r>
              <a:rPr sz="937">
                <a:solidFill>
                  <a:srgbClr val="A0A0A8"/>
                </a:solidFill>
                <a:latin typeface="Arial"/>
              </a:rPr>
              <a:t>auth · tenant</a:t>
            </a:r>
          </a:p>
          <a:p>
            <a:pPr>
              <a:lnSpc>
                <a:spcPct val="104000"/>
              </a:lnSpc>
              <a:spcAft>
                <a:spcPts val="375"/>
              </a:spcAft>
            </a:pPr>
            <a:r>
              <a:rPr sz="937">
                <a:solidFill>
                  <a:srgbClr val="A0A0A8"/>
                </a:solidFill>
                <a:latin typeface="Arial"/>
              </a:rPr>
              <a:t>equipos · usuarios</a:t>
            </a:r>
          </a:p>
          <a:p>
            <a:pPr>
              <a:lnSpc>
                <a:spcPct val="104000"/>
              </a:lnSpc>
              <a:spcAft>
                <a:spcPts val="375"/>
              </a:spcAft>
            </a:pPr>
            <a:r>
              <a:rPr sz="937">
                <a:solidFill>
                  <a:srgbClr val="A0A0A8"/>
                </a:solidFill>
                <a:latin typeface="Arial"/>
              </a:rPr>
              <a:t>ordenes · tickets</a:t>
            </a:r>
          </a:p>
          <a:p>
            <a:pPr>
              <a:lnSpc>
                <a:spcPct val="104000"/>
              </a:lnSpc>
              <a:spcAft>
                <a:spcPts val="375"/>
              </a:spcAft>
            </a:pPr>
            <a:r>
              <a:rPr sz="937">
                <a:solidFill>
                  <a:srgbClr val="A0A0A8"/>
                </a:solidFill>
                <a:latin typeface="Arial"/>
              </a:rPr>
              <a:t>evidencias</a:t>
            </a:r>
          </a:p>
          <a:p>
            <a:pPr>
              <a:lnSpc>
                <a:spcPct val="104000"/>
              </a:lnSpc>
              <a:spcAft>
                <a:spcPts val="375"/>
              </a:spcAft>
            </a:pPr>
            <a:r>
              <a:rPr sz="937">
                <a:solidFill>
                  <a:srgbClr val="A0A0A8"/>
                </a:solidFill>
                <a:latin typeface="Arial"/>
              </a:rPr>
              <a:t>inventario</a:t>
            </a:r>
          </a:p>
          <a:p>
            <a:pPr>
              <a:lnSpc>
                <a:spcPct val="104000"/>
              </a:lnSpc>
              <a:spcAft>
                <a:spcPts val="375"/>
              </a:spcAft>
            </a:pPr>
            <a:r>
              <a:rPr sz="937">
                <a:solidFill>
                  <a:srgbClr val="A0A0A8"/>
                </a:solidFill>
                <a:latin typeface="Arial"/>
              </a:rPr>
              <a:t>notificaciones</a:t>
            </a:r>
          </a:p>
          <a:p>
            <a:pPr>
              <a:lnSpc>
                <a:spcPct val="104000"/>
              </a:lnSpc>
              <a:spcAft>
                <a:spcPts val="375"/>
              </a:spcAft>
            </a:pPr>
            <a:r>
              <a:rPr sz="937">
                <a:solidFill>
                  <a:srgbClr val="A0A0A8"/>
                </a:solidFill>
                <a:latin typeface="Arial"/>
              </a:rPr>
              <a:t/>
            </a:r>
          </a:p>
          <a:p>
            <a:pPr>
              <a:lnSpc>
                <a:spcPct val="104000"/>
              </a:lnSpc>
              <a:spcAft>
                <a:spcPts val="375"/>
              </a:spcAft>
            </a:pPr>
            <a:r>
              <a:rPr sz="937">
                <a:solidFill>
                  <a:srgbClr val="A0A0A8"/>
                </a:solidFill>
                <a:latin typeface="Arial"/>
              </a:rPr>
              <a:t>9 módulos aislados → reglas de seguridad por módulo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628"/>
          </a:xfrm>
          <a:prstGeom prst="rect">
            <a:avLst/>
          </a:prstGeom>
          <a:solidFill>
            <a:srgbClr val="0B0B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30" cy="5143628"/>
          </a:xfrm>
          <a:prstGeom prst="rect">
            <a:avLst/>
          </a:prstGeom>
          <a:solidFill>
            <a:srgbClr val="615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90" y="342908"/>
            <a:ext cx="7543988" cy="20574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37" b="1" i="0">
                <a:solidFill>
                  <a:srgbClr val="9B8FFF"/>
                </a:solidFill>
                <a:latin typeface="Arial"/>
              </a:rPr>
              <a:t>INFRAESTRUCTURA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90" y="562370"/>
            <a:ext cx="8229805" cy="54865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50" b="1" i="0">
                <a:solidFill>
                  <a:srgbClr val="F5F5F5"/>
                </a:solidFill>
                <a:latin typeface="Arial"/>
              </a:rPr>
              <a:t>Base de datos — Supabase PostgreSQL</a:t>
            </a:r>
          </a:p>
        </p:txBody>
      </p:sp>
      <p:sp>
        <p:nvSpPr>
          <p:cNvPr id="6" name="Rectangle 5"/>
          <p:cNvSpPr/>
          <p:nvPr/>
        </p:nvSpPr>
        <p:spPr>
          <a:xfrm>
            <a:off x="425206" y="1111023"/>
            <a:ext cx="617235" cy="28575"/>
          </a:xfrm>
          <a:prstGeom prst="rect">
            <a:avLst/>
          </a:prstGeom>
          <a:solidFill>
            <a:srgbClr val="615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411490" y="4841869"/>
            <a:ext cx="89156" cy="89156"/>
          </a:xfrm>
          <a:prstGeom prst="ellipse">
            <a:avLst/>
          </a:prstGeom>
          <a:solidFill>
            <a:srgbClr val="615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2370" y="4787003"/>
            <a:ext cx="4800720" cy="20574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707078"/>
                </a:solidFill>
                <a:latin typeface="Arial"/>
              </a:rPr>
              <a:t>Trackt · Infraestructura &amp; Seguridad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1152" y="4787003"/>
            <a:ext cx="1028725" cy="20574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750" b="0" i="0">
                <a:solidFill>
                  <a:srgbClr val="707078"/>
                </a:solidFill>
                <a:latin typeface="Arial"/>
              </a:rPr>
              <a:t>05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5206" y="1371634"/>
            <a:ext cx="4869301" cy="315475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675"/>
              </a:spcAft>
            </a:pPr>
            <a:r>
              <a:rPr sz="1125" b="1">
                <a:solidFill>
                  <a:srgbClr val="6152E8"/>
                </a:solidFill>
                <a:latin typeface="Arial"/>
              </a:rPr>
              <a:t>▸  </a:t>
            </a:r>
            <a:r>
              <a:rPr sz="1125">
                <a:solidFill>
                  <a:srgbClr val="F5F5F5"/>
                </a:solidFill>
                <a:latin typeface="Arial"/>
              </a:rPr>
              <a:t>PostgreSQL administrada por Supabase (región East US).</a:t>
            </a:r>
          </a:p>
          <a:p>
            <a:pPr>
              <a:lnSpc>
                <a:spcPct val="105000"/>
              </a:lnSpc>
              <a:spcAft>
                <a:spcPts val="675"/>
              </a:spcAft>
            </a:pPr>
            <a:r>
              <a:rPr sz="1125" b="1">
                <a:solidFill>
                  <a:srgbClr val="6152E8"/>
                </a:solidFill>
                <a:latin typeface="Arial"/>
              </a:rPr>
              <a:t>▸  </a:t>
            </a:r>
            <a:r>
              <a:rPr sz="1125">
                <a:solidFill>
                  <a:srgbClr val="F5F5F5"/>
                </a:solidFill>
                <a:latin typeface="Arial"/>
              </a:rPr>
              <a:t>Conexión vía pooler (modo transacción, 6543) en runtime.</a:t>
            </a:r>
          </a:p>
          <a:p>
            <a:pPr>
              <a:lnSpc>
                <a:spcPct val="105000"/>
              </a:lnSpc>
              <a:spcAft>
                <a:spcPts val="675"/>
              </a:spcAft>
            </a:pPr>
            <a:r>
              <a:rPr sz="1125" b="1">
                <a:solidFill>
                  <a:srgbClr val="6152E8"/>
                </a:solidFill>
                <a:latin typeface="Arial"/>
              </a:rPr>
              <a:t>▸  </a:t>
            </a:r>
            <a:r>
              <a:rPr sz="1125">
                <a:solidFill>
                  <a:srgbClr val="F5F5F5"/>
                </a:solidFill>
                <a:latin typeface="Arial"/>
              </a:rPr>
              <a:t>Conexión directa (5432) sólo para migraciones.</a:t>
            </a:r>
          </a:p>
          <a:p>
            <a:pPr>
              <a:lnSpc>
                <a:spcPct val="105000"/>
              </a:lnSpc>
              <a:spcAft>
                <a:spcPts val="675"/>
              </a:spcAft>
            </a:pPr>
            <a:r>
              <a:rPr sz="1125" b="1">
                <a:solidFill>
                  <a:srgbClr val="6152E8"/>
                </a:solidFill>
                <a:latin typeface="Arial"/>
              </a:rPr>
              <a:t>▸  </a:t>
            </a:r>
            <a:r>
              <a:rPr sz="1125">
                <a:solidFill>
                  <a:srgbClr val="F5F5F5"/>
                </a:solidFill>
                <a:latin typeface="Arial"/>
              </a:rPr>
              <a:t>sslmode=require → tráfico a la DB siempre cifrado.</a:t>
            </a:r>
          </a:p>
          <a:p>
            <a:pPr>
              <a:lnSpc>
                <a:spcPct val="105000"/>
              </a:lnSpc>
              <a:spcAft>
                <a:spcPts val="675"/>
              </a:spcAft>
            </a:pPr>
            <a:r>
              <a:rPr sz="1125" b="1">
                <a:solidFill>
                  <a:srgbClr val="6152E8"/>
                </a:solidFill>
                <a:latin typeface="Arial"/>
              </a:rPr>
              <a:t>▸  </a:t>
            </a:r>
            <a:r>
              <a:rPr sz="1125">
                <a:solidFill>
                  <a:srgbClr val="9B8FFF"/>
                </a:solidFill>
                <a:latin typeface="Arial"/>
              </a:rPr>
              <a:t>tenant_id en TODAS las tablas de negocio → multi-tenant desde el diseño.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520828" y="1371634"/>
            <a:ext cx="3223340" cy="3086177"/>
          </a:xfrm>
          <a:prstGeom prst="roundRect">
            <a:avLst>
              <a:gd name="adj" fmla="val 6000"/>
            </a:avLst>
          </a:prstGeom>
          <a:solidFill>
            <a:srgbClr val="151518"/>
          </a:solidFill>
          <a:ln w="9525">
            <a:solidFill>
              <a:srgbClr val="2A2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520828" y="1371634"/>
            <a:ext cx="3223340" cy="3810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71707" y="1495081"/>
            <a:ext cx="2949014" cy="27432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F5F5F5"/>
                </a:solidFill>
                <a:latin typeface="Arial"/>
              </a:rPr>
              <a:t>Modelo de datos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71707" y="1796840"/>
            <a:ext cx="2949014" cy="260610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375"/>
              </a:spcAft>
            </a:pPr>
            <a:r>
              <a:rPr sz="937">
                <a:solidFill>
                  <a:srgbClr val="A0A0A8"/>
                </a:solidFill>
                <a:latin typeface="Arial"/>
              </a:rPr>
              <a:t>Tenant · Equipo</a:t>
            </a:r>
          </a:p>
          <a:p>
            <a:pPr>
              <a:lnSpc>
                <a:spcPct val="104000"/>
              </a:lnSpc>
              <a:spcAft>
                <a:spcPts val="375"/>
              </a:spcAft>
            </a:pPr>
            <a:r>
              <a:rPr sz="937">
                <a:solidFill>
                  <a:srgbClr val="A0A0A8"/>
                </a:solidFill>
                <a:latin typeface="Arial"/>
              </a:rPr>
              <a:t>OrdenTrabajo · Ticket</a:t>
            </a:r>
          </a:p>
          <a:p>
            <a:pPr>
              <a:lnSpc>
                <a:spcPct val="104000"/>
              </a:lnSpc>
              <a:spcAft>
                <a:spcPts val="375"/>
              </a:spcAft>
            </a:pPr>
            <a:r>
              <a:rPr sz="937">
                <a:solidFill>
                  <a:srgbClr val="A0A0A8"/>
                </a:solidFill>
                <a:latin typeface="Arial"/>
              </a:rPr>
              <a:t>Evidencia</a:t>
            </a:r>
          </a:p>
          <a:p>
            <a:pPr>
              <a:lnSpc>
                <a:spcPct val="104000"/>
              </a:lnSpc>
              <a:spcAft>
                <a:spcPts val="375"/>
              </a:spcAft>
            </a:pPr>
            <a:r>
              <a:rPr sz="937">
                <a:solidFill>
                  <a:srgbClr val="A0A0A8"/>
                </a:solidFill>
                <a:latin typeface="Arial"/>
              </a:rPr>
              <a:t>Repuesto · InventarioStock</a:t>
            </a:r>
          </a:p>
          <a:p>
            <a:pPr>
              <a:lnSpc>
                <a:spcPct val="104000"/>
              </a:lnSpc>
              <a:spcAft>
                <a:spcPts val="375"/>
              </a:spcAft>
            </a:pPr>
            <a:r>
              <a:rPr sz="937">
                <a:solidFill>
                  <a:srgbClr val="A0A0A8"/>
                </a:solidFill>
                <a:latin typeface="Arial"/>
              </a:rPr>
              <a:t>ReservaRepuesto</a:t>
            </a:r>
          </a:p>
          <a:p>
            <a:pPr>
              <a:lnSpc>
                <a:spcPct val="104000"/>
              </a:lnSpc>
              <a:spcAft>
                <a:spcPts val="375"/>
              </a:spcAft>
            </a:pPr>
            <a:r>
              <a:rPr sz="937">
                <a:solidFill>
                  <a:srgbClr val="A0A0A8"/>
                </a:solidFill>
                <a:latin typeface="Arial"/>
              </a:rPr>
              <a:t>MovimientoInventario</a:t>
            </a:r>
          </a:p>
          <a:p>
            <a:pPr>
              <a:lnSpc>
                <a:spcPct val="104000"/>
              </a:lnSpc>
              <a:spcAft>
                <a:spcPts val="375"/>
              </a:spcAft>
            </a:pPr>
            <a:r>
              <a:rPr sz="937">
                <a:solidFill>
                  <a:srgbClr val="A0A0A8"/>
                </a:solidFill>
                <a:latin typeface="Arial"/>
              </a:rPr>
              <a:t>Notificacion</a:t>
            </a:r>
          </a:p>
          <a:p>
            <a:pPr>
              <a:lnSpc>
                <a:spcPct val="104000"/>
              </a:lnSpc>
              <a:spcAft>
                <a:spcPts val="375"/>
              </a:spcAft>
            </a:pPr>
            <a:r>
              <a:rPr sz="937">
                <a:solidFill>
                  <a:srgbClr val="A0A0A8"/>
                </a:solidFill>
                <a:latin typeface="Arial"/>
              </a:rPr>
              <a:t/>
            </a:r>
          </a:p>
          <a:p>
            <a:pPr>
              <a:lnSpc>
                <a:spcPct val="104000"/>
              </a:lnSpc>
              <a:spcAft>
                <a:spcPts val="375"/>
              </a:spcAft>
            </a:pPr>
            <a:r>
              <a:rPr sz="937">
                <a:solidFill>
                  <a:srgbClr val="A0A0A8"/>
                </a:solidFill>
                <a:latin typeface="Arial"/>
              </a:rPr>
              <a:t>Cubre todo el flujo del taller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628"/>
          </a:xfrm>
          <a:prstGeom prst="rect">
            <a:avLst/>
          </a:prstGeom>
          <a:solidFill>
            <a:srgbClr val="0B0B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50879" cy="5143628"/>
          </a:xfrm>
          <a:prstGeom prst="rect">
            <a:avLst/>
          </a:prstGeom>
          <a:solidFill>
            <a:srgbClr val="615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1526" y="1714542"/>
            <a:ext cx="2743268" cy="8229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750" b="1" i="0">
                <a:solidFill>
                  <a:srgbClr val="1D1D21"/>
                </a:solidFill>
                <a:latin typeface="Arial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2100" y="2571814"/>
            <a:ext cx="7543988" cy="6172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300" b="1" i="0">
                <a:solidFill>
                  <a:srgbClr val="F5F5F5"/>
                </a:solidFill>
                <a:latin typeface="Arial"/>
              </a:rPr>
              <a:t>Seguridad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17" y="3257631"/>
            <a:ext cx="891562" cy="38100"/>
          </a:xfrm>
          <a:prstGeom prst="rect">
            <a:avLst/>
          </a:prstGeom>
          <a:solidFill>
            <a:srgbClr val="615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17" y="3394794"/>
            <a:ext cx="7201080" cy="41149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A0A0A8"/>
                </a:solidFill>
                <a:latin typeface="Arial"/>
              </a:rPr>
              <a:t>Defensa en profundidad: varias capas, no una sola.</a:t>
            </a:r>
          </a:p>
        </p:txBody>
      </p:sp>
      <p:sp>
        <p:nvSpPr>
          <p:cNvPr id="8" name="Oval 7"/>
          <p:cNvSpPr/>
          <p:nvPr/>
        </p:nvSpPr>
        <p:spPr>
          <a:xfrm>
            <a:off x="411490" y="4841869"/>
            <a:ext cx="89156" cy="89156"/>
          </a:xfrm>
          <a:prstGeom prst="ellipse">
            <a:avLst/>
          </a:prstGeom>
          <a:solidFill>
            <a:srgbClr val="615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2370" y="4787003"/>
            <a:ext cx="4800720" cy="20574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707078"/>
                </a:solidFill>
                <a:latin typeface="Arial"/>
              </a:rPr>
              <a:t>Trackt · Infraestructura &amp; Seguridad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1152" y="4787003"/>
            <a:ext cx="1028725" cy="20574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750" b="0" i="0">
                <a:solidFill>
                  <a:srgbClr val="707078"/>
                </a:solidFill>
                <a:latin typeface="Arial"/>
              </a:rPr>
              <a:t>06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628"/>
          </a:xfrm>
          <a:prstGeom prst="rect">
            <a:avLst/>
          </a:prstGeom>
          <a:solidFill>
            <a:srgbClr val="0B0B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30" cy="5143628"/>
          </a:xfrm>
          <a:prstGeom prst="rect">
            <a:avLst/>
          </a:prstGeom>
          <a:solidFill>
            <a:srgbClr val="615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90" y="342908"/>
            <a:ext cx="7543988" cy="20574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37" b="1" i="0">
                <a:solidFill>
                  <a:srgbClr val="9B8FFF"/>
                </a:solidFill>
                <a:latin typeface="Arial"/>
              </a:rPr>
              <a:t>SEGURIDAD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90" y="562370"/>
            <a:ext cx="8229805" cy="54865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50" b="1" i="0">
                <a:solidFill>
                  <a:srgbClr val="F5F5F5"/>
                </a:solidFill>
                <a:latin typeface="Arial"/>
              </a:rPr>
              <a:t>Autenticación — ¿quién eres?</a:t>
            </a:r>
          </a:p>
        </p:txBody>
      </p:sp>
      <p:sp>
        <p:nvSpPr>
          <p:cNvPr id="6" name="Rectangle 5"/>
          <p:cNvSpPr/>
          <p:nvPr/>
        </p:nvSpPr>
        <p:spPr>
          <a:xfrm>
            <a:off x="425206" y="1111023"/>
            <a:ext cx="617235" cy="28575"/>
          </a:xfrm>
          <a:prstGeom prst="rect">
            <a:avLst/>
          </a:prstGeom>
          <a:solidFill>
            <a:srgbClr val="615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411490" y="4841869"/>
            <a:ext cx="89156" cy="89156"/>
          </a:xfrm>
          <a:prstGeom prst="ellipse">
            <a:avLst/>
          </a:prstGeom>
          <a:solidFill>
            <a:srgbClr val="615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2370" y="4787003"/>
            <a:ext cx="4800720" cy="20574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707078"/>
                </a:solidFill>
                <a:latin typeface="Arial"/>
              </a:rPr>
              <a:t>Trackt · Infraestructura &amp; Seguridad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1152" y="4787003"/>
            <a:ext cx="1028725" cy="20574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750" b="0" i="0">
                <a:solidFill>
                  <a:srgbClr val="707078"/>
                </a:solidFill>
                <a:latin typeface="Arial"/>
              </a:rPr>
              <a:t>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5206" y="1371634"/>
            <a:ext cx="4800720" cy="315475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450"/>
              </a:spcAft>
            </a:pPr>
            <a:r>
              <a:rPr sz="1087" b="1">
                <a:solidFill>
                  <a:srgbClr val="6152E8"/>
                </a:solidFill>
                <a:latin typeface="Arial"/>
              </a:rPr>
              <a:t>▸  </a:t>
            </a:r>
            <a:r>
              <a:rPr sz="1087">
                <a:solidFill>
                  <a:srgbClr val="F5F5F5"/>
                </a:solidFill>
                <a:latin typeface="Arial"/>
              </a:rPr>
              <a:t>Auth delegada a Supabase Auth (no manejamos passwords).</a:t>
            </a:r>
          </a:p>
          <a:p>
            <a:pPr>
              <a:lnSpc>
                <a:spcPct val="105000"/>
              </a:lnSpc>
              <a:spcAft>
                <a:spcPts val="450"/>
              </a:spcAft>
            </a:pPr>
            <a:r>
              <a:rPr sz="1087" b="1">
                <a:solidFill>
                  <a:srgbClr val="6152E8"/>
                </a:solidFill>
                <a:latin typeface="Arial"/>
              </a:rPr>
              <a:t>▸  </a:t>
            </a:r>
            <a:r>
              <a:rPr sz="1087">
                <a:solidFill>
                  <a:srgbClr val="F5F5F5"/>
                </a:solidFill>
                <a:latin typeface="Arial"/>
              </a:rPr>
              <a:t>Cada request trae Authorization: Bearer &lt;JWT&gt;.</a:t>
            </a:r>
          </a:p>
          <a:p>
            <a:pPr>
              <a:lnSpc>
                <a:spcPct val="105000"/>
              </a:lnSpc>
              <a:spcAft>
                <a:spcPts val="450"/>
              </a:spcAft>
            </a:pPr>
            <a:r>
              <a:rPr sz="1087" b="1">
                <a:solidFill>
                  <a:srgbClr val="6152E8"/>
                </a:solidFill>
                <a:latin typeface="Arial"/>
              </a:rPr>
              <a:t>▸  </a:t>
            </a:r>
            <a:r>
              <a:rPr sz="1087">
                <a:solidFill>
                  <a:srgbClr val="F5F5F5"/>
                </a:solidFill>
                <a:latin typeface="Arial"/>
              </a:rPr>
              <a:t>AuthGuard en la API valida antes de cualquier endpoint:</a:t>
            </a:r>
          </a:p>
          <a:p>
            <a:pPr lvl="1">
              <a:lnSpc>
                <a:spcPct val="105000"/>
              </a:lnSpc>
              <a:spcAft>
                <a:spcPts val="450"/>
              </a:spcAft>
            </a:pPr>
            <a:r>
              <a:rPr sz="1012">
                <a:solidFill>
                  <a:srgbClr val="707078"/>
                </a:solidFill>
                <a:latin typeface="Arial"/>
              </a:rPr>
              <a:t>      –   </a:t>
            </a:r>
            <a:r>
              <a:rPr sz="1012">
                <a:solidFill>
                  <a:srgbClr val="A0A0A8"/>
                </a:solidFill>
                <a:latin typeface="Arial"/>
              </a:rPr>
              <a:t>extrae el token del header</a:t>
            </a:r>
          </a:p>
          <a:p>
            <a:pPr lvl="1">
              <a:lnSpc>
                <a:spcPct val="105000"/>
              </a:lnSpc>
              <a:spcAft>
                <a:spcPts val="450"/>
              </a:spcAft>
            </a:pPr>
            <a:r>
              <a:rPr sz="1012">
                <a:solidFill>
                  <a:srgbClr val="707078"/>
                </a:solidFill>
                <a:latin typeface="Arial"/>
              </a:rPr>
              <a:t>      –   </a:t>
            </a:r>
            <a:r>
              <a:rPr sz="1012">
                <a:solidFill>
                  <a:srgbClr val="A0A0A8"/>
                </a:solidFill>
                <a:latin typeface="Arial"/>
              </a:rPr>
              <a:t>lo valida contra Supabase (auth.getUser)</a:t>
            </a:r>
          </a:p>
          <a:p>
            <a:pPr lvl="1">
              <a:lnSpc>
                <a:spcPct val="105000"/>
              </a:lnSpc>
              <a:spcAft>
                <a:spcPts val="450"/>
              </a:spcAft>
            </a:pPr>
            <a:r>
              <a:rPr sz="1012">
                <a:solidFill>
                  <a:srgbClr val="707078"/>
                </a:solidFill>
                <a:latin typeface="Arial"/>
              </a:rPr>
              <a:t>      –   </a:t>
            </a:r>
            <a:r>
              <a:rPr sz="1012">
                <a:solidFill>
                  <a:srgbClr val="A0A0A8"/>
                </a:solidFill>
                <a:latin typeface="Arial"/>
              </a:rPr>
              <a:t>carga el perfil: rol + tenant desde 'profiles'</a:t>
            </a:r>
          </a:p>
          <a:p>
            <a:pPr lvl="1">
              <a:lnSpc>
                <a:spcPct val="105000"/>
              </a:lnSpc>
              <a:spcAft>
                <a:spcPts val="450"/>
              </a:spcAft>
            </a:pPr>
            <a:r>
              <a:rPr sz="1012">
                <a:solidFill>
                  <a:srgbClr val="707078"/>
                </a:solidFill>
                <a:latin typeface="Arial"/>
              </a:rPr>
              <a:t>      –   </a:t>
            </a:r>
            <a:r>
              <a:rPr sz="1012">
                <a:solidFill>
                  <a:srgbClr val="A0A0A8"/>
                </a:solidFill>
                <a:latin typeface="Arial"/>
              </a:rPr>
              <a:t>inyecta el usuario en el request</a:t>
            </a:r>
          </a:p>
          <a:p>
            <a:pPr>
              <a:lnSpc>
                <a:spcPct val="105000"/>
              </a:lnSpc>
              <a:spcAft>
                <a:spcPts val="450"/>
              </a:spcAft>
            </a:pPr>
            <a:r>
              <a:rPr sz="1087" b="1">
                <a:solidFill>
                  <a:srgbClr val="6152E8"/>
                </a:solidFill>
                <a:latin typeface="Arial"/>
              </a:rPr>
              <a:t>▸  </a:t>
            </a:r>
            <a:r>
              <a:rPr sz="1087">
                <a:solidFill>
                  <a:srgbClr val="F87171"/>
                </a:solidFill>
                <a:latin typeface="Arial"/>
              </a:rPr>
              <a:t>Sin token válido o sin perfil → 401.</a:t>
            </a:r>
          </a:p>
          <a:p>
            <a:pPr>
              <a:lnSpc>
                <a:spcPct val="105000"/>
              </a:lnSpc>
              <a:spcAft>
                <a:spcPts val="450"/>
              </a:spcAft>
            </a:pPr>
            <a:r>
              <a:rPr sz="1087" b="1">
                <a:solidFill>
                  <a:srgbClr val="6152E8"/>
                </a:solidFill>
                <a:latin typeface="Arial"/>
              </a:rPr>
              <a:t>▸  </a:t>
            </a:r>
            <a:r>
              <a:rPr sz="1087">
                <a:solidFill>
                  <a:srgbClr val="F5F5F5"/>
                </a:solidFill>
                <a:latin typeface="Arial"/>
              </a:rPr>
              <a:t>Caché de perfiles en memoria (TTL 5 min).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520828" y="1371634"/>
            <a:ext cx="3223340" cy="3086177"/>
          </a:xfrm>
          <a:prstGeom prst="roundRect">
            <a:avLst>
              <a:gd name="adj" fmla="val 6000"/>
            </a:avLst>
          </a:prstGeom>
          <a:solidFill>
            <a:srgbClr val="151518"/>
          </a:solidFill>
          <a:ln w="9525">
            <a:solidFill>
              <a:srgbClr val="2A2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520828" y="1371634"/>
            <a:ext cx="3223340" cy="38100"/>
          </a:xfrm>
          <a:prstGeom prst="rect">
            <a:avLst/>
          </a:prstGeom>
          <a:solidFill>
            <a:srgbClr val="615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71707" y="1495081"/>
            <a:ext cx="2949014" cy="27432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F5F5F5"/>
                </a:solidFill>
                <a:latin typeface="Arial"/>
              </a:rPr>
              <a:t>Flujo del token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71707" y="1796840"/>
            <a:ext cx="2949014" cy="260610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375"/>
              </a:spcAft>
            </a:pPr>
            <a:r>
              <a:rPr sz="937">
                <a:solidFill>
                  <a:srgbClr val="A0A0A8"/>
                </a:solidFill>
                <a:latin typeface="Arial"/>
              </a:rPr>
              <a:t>1 · Login en Supabase → JWT firmado</a:t>
            </a:r>
          </a:p>
          <a:p>
            <a:pPr>
              <a:lnSpc>
                <a:spcPct val="104000"/>
              </a:lnSpc>
              <a:spcAft>
                <a:spcPts val="375"/>
              </a:spcAft>
            </a:pPr>
            <a:r>
              <a:rPr sz="937">
                <a:solidFill>
                  <a:srgbClr val="A0A0A8"/>
                </a:solidFill>
                <a:latin typeface="Arial"/>
              </a:rPr>
              <a:t>2 · Front guarda sesión en cookie</a:t>
            </a:r>
          </a:p>
          <a:p>
            <a:pPr>
              <a:lnSpc>
                <a:spcPct val="104000"/>
              </a:lnSpc>
              <a:spcAft>
                <a:spcPts val="375"/>
              </a:spcAft>
            </a:pPr>
            <a:r>
              <a:rPr sz="937">
                <a:solidFill>
                  <a:srgbClr val="A0A0A8"/>
                </a:solidFill>
                <a:latin typeface="Arial"/>
              </a:rPr>
              <a:t>3 · authFetch envía Bearer a la API</a:t>
            </a:r>
          </a:p>
          <a:p>
            <a:pPr>
              <a:lnSpc>
                <a:spcPct val="104000"/>
              </a:lnSpc>
              <a:spcAft>
                <a:spcPts val="375"/>
              </a:spcAft>
            </a:pPr>
            <a:r>
              <a:rPr sz="937">
                <a:solidFill>
                  <a:srgbClr val="A0A0A8"/>
                </a:solidFill>
                <a:latin typeface="Arial"/>
              </a:rPr>
              <a:t>4 · AuthGuard valida y resuelve perfil</a:t>
            </a:r>
          </a:p>
          <a:p>
            <a:pPr>
              <a:lnSpc>
                <a:spcPct val="104000"/>
              </a:lnSpc>
              <a:spcAft>
                <a:spcPts val="375"/>
              </a:spcAft>
            </a:pPr>
            <a:r>
              <a:rPr sz="937">
                <a:solidFill>
                  <a:srgbClr val="A0A0A8"/>
                </a:solidFill>
                <a:latin typeface="Arial"/>
              </a:rPr>
              <a:t>5 · Endpoint se ejecuta con el usuario</a:t>
            </a:r>
          </a:p>
          <a:p>
            <a:pPr>
              <a:lnSpc>
                <a:spcPct val="104000"/>
              </a:lnSpc>
              <a:spcAft>
                <a:spcPts val="375"/>
              </a:spcAft>
            </a:pPr>
            <a:r>
              <a:rPr sz="937">
                <a:solidFill>
                  <a:srgbClr val="A0A0A8"/>
                </a:solidFill>
                <a:latin typeface="Arial"/>
              </a:rPr>
              <a:t/>
            </a:r>
          </a:p>
          <a:p>
            <a:pPr>
              <a:lnSpc>
                <a:spcPct val="104000"/>
              </a:lnSpc>
              <a:spcAft>
                <a:spcPts val="375"/>
              </a:spcAft>
            </a:pPr>
            <a:r>
              <a:rPr sz="937">
                <a:solidFill>
                  <a:srgbClr val="A0A0A8"/>
                </a:solidFill>
                <a:latin typeface="Arial"/>
              </a:rPr>
              <a:t>No inventamos criptografía propia.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628"/>
          </a:xfrm>
          <a:prstGeom prst="rect">
            <a:avLst/>
          </a:prstGeom>
          <a:solidFill>
            <a:srgbClr val="0B0B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30" cy="5143628"/>
          </a:xfrm>
          <a:prstGeom prst="rect">
            <a:avLst/>
          </a:prstGeom>
          <a:solidFill>
            <a:srgbClr val="615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90" y="342908"/>
            <a:ext cx="7543988" cy="20574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37" b="1" i="0">
                <a:solidFill>
                  <a:srgbClr val="9B8FFF"/>
                </a:solidFill>
                <a:latin typeface="Arial"/>
              </a:rPr>
              <a:t>SEGURIDAD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90" y="562370"/>
            <a:ext cx="8229805" cy="54865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50" b="1" i="0">
                <a:solidFill>
                  <a:srgbClr val="F5F5F5"/>
                </a:solidFill>
                <a:latin typeface="Arial"/>
              </a:rPr>
              <a:t>Autorización — ¿qué puedes hacer?</a:t>
            </a:r>
          </a:p>
        </p:txBody>
      </p:sp>
      <p:sp>
        <p:nvSpPr>
          <p:cNvPr id="6" name="Rectangle 5"/>
          <p:cNvSpPr/>
          <p:nvPr/>
        </p:nvSpPr>
        <p:spPr>
          <a:xfrm>
            <a:off x="425206" y="1111023"/>
            <a:ext cx="617235" cy="28575"/>
          </a:xfrm>
          <a:prstGeom prst="rect">
            <a:avLst/>
          </a:prstGeom>
          <a:solidFill>
            <a:srgbClr val="615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411490" y="4841869"/>
            <a:ext cx="89156" cy="89156"/>
          </a:xfrm>
          <a:prstGeom prst="ellipse">
            <a:avLst/>
          </a:prstGeom>
          <a:solidFill>
            <a:srgbClr val="615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2370" y="4787003"/>
            <a:ext cx="4800720" cy="20574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707078"/>
                </a:solidFill>
                <a:latin typeface="Arial"/>
              </a:rPr>
              <a:t>Trackt · Infraestructura &amp; Seguridad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1152" y="4787003"/>
            <a:ext cx="1028725" cy="20574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750" b="0" i="0">
                <a:solidFill>
                  <a:srgbClr val="707078"/>
                </a:solidFill>
                <a:latin typeface="Arial"/>
              </a:rPr>
              <a:t>08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5206" y="1337343"/>
            <a:ext cx="8229805" cy="68581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450"/>
              </a:spcAft>
            </a:pPr>
            <a:r>
              <a:rPr sz="1125" b="1">
                <a:solidFill>
                  <a:srgbClr val="6152E8"/>
                </a:solidFill>
                <a:latin typeface="Arial"/>
              </a:rPr>
              <a:t>▸  </a:t>
            </a:r>
            <a:r>
              <a:rPr sz="1125">
                <a:solidFill>
                  <a:srgbClr val="F5F5F5"/>
                </a:solidFill>
                <a:latin typeface="Arial"/>
              </a:rPr>
              <a:t>3 roles: admin · jefe_taller · mechanic. RolesGuard + @Roles(...) por endpoint.</a:t>
            </a:r>
          </a:p>
          <a:p>
            <a:pPr>
              <a:lnSpc>
                <a:spcPct val="105000"/>
              </a:lnSpc>
              <a:spcAft>
                <a:spcPts val="450"/>
              </a:spcAft>
            </a:pPr>
            <a:r>
              <a:rPr sz="1125" b="1">
                <a:solidFill>
                  <a:srgbClr val="6152E8"/>
                </a:solidFill>
                <a:latin typeface="Arial"/>
              </a:rPr>
              <a:t>▸  </a:t>
            </a:r>
            <a:r>
              <a:rPr sz="1125">
                <a:solidFill>
                  <a:srgbClr val="F5F5F5"/>
                </a:solidFill>
                <a:latin typeface="Arial"/>
              </a:rPr>
              <a:t>Modelo de mínimo privilegio — reglas en el código, no en la UI.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5206" y="2160324"/>
            <a:ext cx="3703412" cy="425206"/>
          </a:xfrm>
          <a:prstGeom prst="rect">
            <a:avLst/>
          </a:prstGeom>
          <a:solidFill>
            <a:srgbClr val="3D31B0"/>
          </a:solidFill>
          <a:ln w="7143">
            <a:solidFill>
              <a:srgbClr val="2A2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28618" y="2160324"/>
            <a:ext cx="4594974" cy="425206"/>
          </a:xfrm>
          <a:prstGeom prst="rect">
            <a:avLst/>
          </a:prstGeom>
          <a:solidFill>
            <a:srgbClr val="3D31B0"/>
          </a:solidFill>
          <a:ln w="7143">
            <a:solidFill>
              <a:srgbClr val="2A2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2369" y="2160324"/>
            <a:ext cx="3497667" cy="42520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5F5F5"/>
                </a:solidFill>
                <a:latin typeface="Arial"/>
              </a:rPr>
              <a:t>Acción sobre un ticket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65781" y="2160324"/>
            <a:ext cx="4389229" cy="42520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5F5F5"/>
                </a:solidFill>
                <a:latin typeface="Arial"/>
              </a:rPr>
              <a:t>Roles permitidos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5206" y="2585530"/>
            <a:ext cx="3703412" cy="425206"/>
          </a:xfrm>
          <a:prstGeom prst="rect">
            <a:avLst/>
          </a:prstGeom>
          <a:solidFill>
            <a:srgbClr val="151518"/>
          </a:solidFill>
          <a:ln w="7143">
            <a:solidFill>
              <a:srgbClr val="2A2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128618" y="2585530"/>
            <a:ext cx="4594974" cy="425206"/>
          </a:xfrm>
          <a:prstGeom prst="rect">
            <a:avLst/>
          </a:prstGeom>
          <a:solidFill>
            <a:srgbClr val="151518"/>
          </a:solidFill>
          <a:ln w="7143">
            <a:solidFill>
              <a:srgbClr val="2A2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2369" y="2585530"/>
            <a:ext cx="3497667" cy="42520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F5F5F5"/>
                </a:solidFill>
                <a:latin typeface="Arial"/>
              </a:rPr>
              <a:t>Listar / ver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65781" y="2585530"/>
            <a:ext cx="4389229" cy="42520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9B8FFF"/>
                </a:solidFill>
                <a:latin typeface="Consolas"/>
              </a:rPr>
              <a:t>admin · jefe_taller · mechanic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5206" y="3010736"/>
            <a:ext cx="3703412" cy="425206"/>
          </a:xfrm>
          <a:prstGeom prst="rect">
            <a:avLst/>
          </a:prstGeom>
          <a:solidFill>
            <a:srgbClr val="1D1D21"/>
          </a:solidFill>
          <a:ln w="7143">
            <a:solidFill>
              <a:srgbClr val="2A2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128618" y="3010736"/>
            <a:ext cx="4594974" cy="425206"/>
          </a:xfrm>
          <a:prstGeom prst="rect">
            <a:avLst/>
          </a:prstGeom>
          <a:solidFill>
            <a:srgbClr val="1D1D21"/>
          </a:solidFill>
          <a:ln w="7143">
            <a:solidFill>
              <a:srgbClr val="2A2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2369" y="3010736"/>
            <a:ext cx="3497667" cy="42520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F5F5F5"/>
                </a:solidFill>
                <a:latin typeface="Arial"/>
              </a:rPr>
              <a:t>Asignar / reasignar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65781" y="3010736"/>
            <a:ext cx="4389229" cy="42520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9B8FFF"/>
                </a:solidFill>
                <a:latin typeface="Consolas"/>
              </a:rPr>
              <a:t>admin · jefe_taller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5206" y="3435942"/>
            <a:ext cx="3703412" cy="425206"/>
          </a:xfrm>
          <a:prstGeom prst="rect">
            <a:avLst/>
          </a:prstGeom>
          <a:solidFill>
            <a:srgbClr val="151518"/>
          </a:solidFill>
          <a:ln w="7143">
            <a:solidFill>
              <a:srgbClr val="2A2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128618" y="3435942"/>
            <a:ext cx="4594974" cy="425206"/>
          </a:xfrm>
          <a:prstGeom prst="rect">
            <a:avLst/>
          </a:prstGeom>
          <a:solidFill>
            <a:srgbClr val="151518"/>
          </a:solidFill>
          <a:ln w="7143">
            <a:solidFill>
              <a:srgbClr val="2A2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2369" y="3435942"/>
            <a:ext cx="3497667" cy="42520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F5F5F5"/>
                </a:solidFill>
                <a:latin typeface="Arial"/>
              </a:rPr>
              <a:t>Iniciar / finalizar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65781" y="3435942"/>
            <a:ext cx="4389229" cy="42520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9B8FFF"/>
                </a:solidFill>
                <a:latin typeface="Consolas"/>
              </a:rPr>
              <a:t>mechanic (el asignado)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5206" y="3861148"/>
            <a:ext cx="3703412" cy="425206"/>
          </a:xfrm>
          <a:prstGeom prst="rect">
            <a:avLst/>
          </a:prstGeom>
          <a:solidFill>
            <a:srgbClr val="1D1D21"/>
          </a:solidFill>
          <a:ln w="7143">
            <a:solidFill>
              <a:srgbClr val="2A2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128618" y="3861148"/>
            <a:ext cx="4594974" cy="425206"/>
          </a:xfrm>
          <a:prstGeom prst="rect">
            <a:avLst/>
          </a:prstGeom>
          <a:solidFill>
            <a:srgbClr val="1D1D21"/>
          </a:solidFill>
          <a:ln w="7143">
            <a:solidFill>
              <a:srgbClr val="2A2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62369" y="3861148"/>
            <a:ext cx="3497667" cy="42520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F5F5F5"/>
                </a:solidFill>
                <a:latin typeface="Arial"/>
              </a:rPr>
              <a:t>Validar / cerrar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65781" y="3861148"/>
            <a:ext cx="4389229" cy="42520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9B8FFF"/>
                </a:solidFill>
                <a:latin typeface="Consolas"/>
              </a:rPr>
              <a:t>admin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628"/>
          </a:xfrm>
          <a:prstGeom prst="rect">
            <a:avLst/>
          </a:prstGeom>
          <a:solidFill>
            <a:srgbClr val="0B0B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30" cy="5143628"/>
          </a:xfrm>
          <a:prstGeom prst="rect">
            <a:avLst/>
          </a:prstGeom>
          <a:solidFill>
            <a:srgbClr val="615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90" y="342908"/>
            <a:ext cx="7543988" cy="20574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37" b="1" i="0">
                <a:solidFill>
                  <a:srgbClr val="9B8FFF"/>
                </a:solidFill>
                <a:latin typeface="Arial"/>
              </a:rPr>
              <a:t>SEGURIDAD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90" y="562370"/>
            <a:ext cx="8229805" cy="54865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50" b="1" i="0">
                <a:solidFill>
                  <a:srgbClr val="F5F5F5"/>
                </a:solidFill>
                <a:latin typeface="Arial"/>
              </a:rPr>
              <a:t>Aislamiento multi-tenant</a:t>
            </a:r>
          </a:p>
        </p:txBody>
      </p:sp>
      <p:sp>
        <p:nvSpPr>
          <p:cNvPr id="6" name="Rectangle 5"/>
          <p:cNvSpPr/>
          <p:nvPr/>
        </p:nvSpPr>
        <p:spPr>
          <a:xfrm>
            <a:off x="425206" y="1111023"/>
            <a:ext cx="617235" cy="28575"/>
          </a:xfrm>
          <a:prstGeom prst="rect">
            <a:avLst/>
          </a:prstGeom>
          <a:solidFill>
            <a:srgbClr val="615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411490" y="4841869"/>
            <a:ext cx="89156" cy="89156"/>
          </a:xfrm>
          <a:prstGeom prst="ellipse">
            <a:avLst/>
          </a:prstGeom>
          <a:solidFill>
            <a:srgbClr val="615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2370" y="4787003"/>
            <a:ext cx="4800720" cy="20574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707078"/>
                </a:solidFill>
                <a:latin typeface="Arial"/>
              </a:rPr>
              <a:t>Trackt · Infraestructura &amp; Seguridad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1152" y="4787003"/>
            <a:ext cx="1028725" cy="20574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750" b="0" i="0">
                <a:solidFill>
                  <a:srgbClr val="707078"/>
                </a:solidFill>
                <a:latin typeface="Arial"/>
              </a:rPr>
              <a:t>09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5206" y="1371634"/>
            <a:ext cx="4800720" cy="308617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750"/>
              </a:spcAft>
            </a:pPr>
            <a:r>
              <a:rPr sz="1200" b="1">
                <a:solidFill>
                  <a:srgbClr val="6152E8"/>
                </a:solidFill>
                <a:latin typeface="Arial"/>
              </a:rPr>
              <a:t>▸  </a:t>
            </a:r>
            <a:r>
              <a:rPr sz="1200">
                <a:solidFill>
                  <a:srgbClr val="F5F5F5"/>
                </a:solidFill>
                <a:latin typeface="Arial"/>
              </a:rPr>
              <a:t>Cada usuario pertenece a un tenant (taller).</a:t>
            </a:r>
          </a:p>
          <a:p>
            <a:pPr>
              <a:lnSpc>
                <a:spcPct val="105000"/>
              </a:lnSpc>
              <a:spcAft>
                <a:spcPts val="750"/>
              </a:spcAft>
            </a:pPr>
            <a:r>
              <a:rPr sz="1200" b="1">
                <a:solidFill>
                  <a:srgbClr val="6152E8"/>
                </a:solidFill>
                <a:latin typeface="Arial"/>
              </a:rPr>
              <a:t>▸  </a:t>
            </a:r>
            <a:r>
              <a:rPr sz="1200">
                <a:solidFill>
                  <a:srgbClr val="F5F5F5"/>
                </a:solidFill>
                <a:latin typeface="Arial"/>
              </a:rPr>
              <a:t>TenantService resuelve el tenant_id desde el TOKEN…</a:t>
            </a:r>
          </a:p>
          <a:p>
            <a:pPr>
              <a:lnSpc>
                <a:spcPct val="105000"/>
              </a:lnSpc>
              <a:spcAft>
                <a:spcPts val="750"/>
              </a:spcAft>
            </a:pPr>
            <a:r>
              <a:rPr sz="1200" b="1">
                <a:solidFill>
                  <a:srgbClr val="6152E8"/>
                </a:solidFill>
                <a:latin typeface="Arial"/>
              </a:rPr>
              <a:t>▸  </a:t>
            </a:r>
            <a:r>
              <a:rPr sz="1200">
                <a:solidFill>
                  <a:srgbClr val="9B8FFF"/>
                </a:solidFill>
                <a:latin typeface="Arial"/>
              </a:rPr>
              <a:t>…nunca desde lo que mande el cliente.</a:t>
            </a:r>
          </a:p>
          <a:p>
            <a:pPr>
              <a:lnSpc>
                <a:spcPct val="105000"/>
              </a:lnSpc>
              <a:spcAft>
                <a:spcPts val="750"/>
              </a:spcAft>
            </a:pPr>
            <a:r>
              <a:rPr sz="1200" b="1">
                <a:solidFill>
                  <a:srgbClr val="6152E8"/>
                </a:solidFill>
                <a:latin typeface="Arial"/>
              </a:rPr>
              <a:t>▸  </a:t>
            </a:r>
            <a:r>
              <a:rPr sz="1200">
                <a:solidFill>
                  <a:srgbClr val="F5F5F5"/>
                </a:solidFill>
                <a:latin typeface="Arial"/>
              </a:rPr>
              <a:t>Toda consulta filtra por tenant_id.</a:t>
            </a:r>
          </a:p>
          <a:p>
            <a:pPr>
              <a:lnSpc>
                <a:spcPct val="105000"/>
              </a:lnSpc>
              <a:spcAft>
                <a:spcPts val="750"/>
              </a:spcAft>
            </a:pPr>
            <a:r>
              <a:rPr sz="1200" b="1">
                <a:solidFill>
                  <a:srgbClr val="6152E8"/>
                </a:solidFill>
                <a:latin typeface="Arial"/>
              </a:rPr>
              <a:t>▸  </a:t>
            </a:r>
            <a:r>
              <a:rPr sz="1200">
                <a:solidFill>
                  <a:srgbClr val="4ADE80"/>
                </a:solidFill>
                <a:latin typeface="Arial"/>
              </a:rPr>
              <a:t>Un taller jamás ve datos de otro.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520828" y="1371634"/>
            <a:ext cx="3223340" cy="3086177"/>
          </a:xfrm>
          <a:prstGeom prst="roundRect">
            <a:avLst>
              <a:gd name="adj" fmla="val 6000"/>
            </a:avLst>
          </a:prstGeom>
          <a:solidFill>
            <a:srgbClr val="151518"/>
          </a:solidFill>
          <a:ln w="9525">
            <a:solidFill>
              <a:srgbClr val="2A2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520828" y="1371634"/>
            <a:ext cx="3223340" cy="38100"/>
          </a:xfrm>
          <a:prstGeom prst="rect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71707" y="1495081"/>
            <a:ext cx="2949014" cy="27432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F87171"/>
                </a:solidFill>
                <a:latin typeface="Arial"/>
              </a:rPr>
              <a:t>Ataque que cierra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71707" y="1796840"/>
            <a:ext cx="2949014" cy="260610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375"/>
              </a:spcAft>
            </a:pPr>
            <a:r>
              <a:rPr sz="937">
                <a:solidFill>
                  <a:srgbClr val="A0A0A8"/>
                </a:solidFill>
                <a:latin typeface="Arial"/>
              </a:rPr>
              <a:t>Cambiar un ID en la URL para ver datos de otro taller.</a:t>
            </a:r>
          </a:p>
          <a:p>
            <a:pPr>
              <a:lnSpc>
                <a:spcPct val="104000"/>
              </a:lnSpc>
              <a:spcAft>
                <a:spcPts val="375"/>
              </a:spcAft>
            </a:pPr>
            <a:r>
              <a:rPr sz="937">
                <a:solidFill>
                  <a:srgbClr val="A0A0A8"/>
                </a:solidFill>
                <a:latin typeface="Arial"/>
              </a:rPr>
              <a:t/>
            </a:r>
          </a:p>
          <a:p>
            <a:pPr>
              <a:lnSpc>
                <a:spcPct val="104000"/>
              </a:lnSpc>
              <a:spcAft>
                <a:spcPts val="375"/>
              </a:spcAft>
            </a:pPr>
            <a:r>
              <a:rPr sz="937">
                <a:solidFill>
                  <a:srgbClr val="A0A0A8"/>
                </a:solidFill>
                <a:latin typeface="Arial"/>
              </a:rPr>
              <a:t>Aunque lo intenten, la API siempre filtra por el tenant de la sesión autenticada.</a:t>
            </a:r>
          </a:p>
          <a:p>
            <a:pPr>
              <a:lnSpc>
                <a:spcPct val="104000"/>
              </a:lnSpc>
              <a:spcAft>
                <a:spcPts val="375"/>
              </a:spcAft>
            </a:pPr>
            <a:r>
              <a:rPr sz="937">
                <a:solidFill>
                  <a:srgbClr val="A0A0A8"/>
                </a:solidFill>
                <a:latin typeface="Arial"/>
              </a:rPr>
              <a:t/>
            </a:r>
          </a:p>
          <a:p>
            <a:pPr>
              <a:lnSpc>
                <a:spcPct val="104000"/>
              </a:lnSpc>
              <a:spcAft>
                <a:spcPts val="375"/>
              </a:spcAft>
            </a:pPr>
            <a:r>
              <a:rPr sz="937">
                <a:solidFill>
                  <a:srgbClr val="A0A0A8"/>
                </a:solidFill>
                <a:latin typeface="Arial"/>
              </a:rPr>
              <a:t>El tenant no es un parámetro: se deriva del token.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628"/>
          </a:xfrm>
          <a:prstGeom prst="rect">
            <a:avLst/>
          </a:prstGeom>
          <a:solidFill>
            <a:srgbClr val="0B0B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30" cy="5143628"/>
          </a:xfrm>
          <a:prstGeom prst="rect">
            <a:avLst/>
          </a:prstGeom>
          <a:solidFill>
            <a:srgbClr val="615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90" y="342908"/>
            <a:ext cx="7543988" cy="20574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37" b="1" i="0">
                <a:solidFill>
                  <a:srgbClr val="9B8FFF"/>
                </a:solidFill>
                <a:latin typeface="Arial"/>
              </a:rPr>
              <a:t>SEGURIDAD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90" y="562370"/>
            <a:ext cx="8229805" cy="54865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50" b="1" i="0">
                <a:solidFill>
                  <a:srgbClr val="F5F5F5"/>
                </a:solidFill>
                <a:latin typeface="Arial"/>
              </a:rPr>
              <a:t>Evidencias / archivos — signed URLs</a:t>
            </a:r>
          </a:p>
        </p:txBody>
      </p:sp>
      <p:sp>
        <p:nvSpPr>
          <p:cNvPr id="6" name="Rectangle 5"/>
          <p:cNvSpPr/>
          <p:nvPr/>
        </p:nvSpPr>
        <p:spPr>
          <a:xfrm>
            <a:off x="425206" y="1111023"/>
            <a:ext cx="617235" cy="28575"/>
          </a:xfrm>
          <a:prstGeom prst="rect">
            <a:avLst/>
          </a:prstGeom>
          <a:solidFill>
            <a:srgbClr val="615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411490" y="4841869"/>
            <a:ext cx="89156" cy="89156"/>
          </a:xfrm>
          <a:prstGeom prst="ellipse">
            <a:avLst/>
          </a:prstGeom>
          <a:solidFill>
            <a:srgbClr val="615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2370" y="4787003"/>
            <a:ext cx="4800720" cy="20574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707078"/>
                </a:solidFill>
                <a:latin typeface="Arial"/>
              </a:rPr>
              <a:t>Trackt · Infraestructura &amp; Seguridad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1152" y="4787003"/>
            <a:ext cx="1028725" cy="20574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750" b="0" i="0">
                <a:solidFill>
                  <a:srgbClr val="707078"/>
                </a:solidFill>
                <a:latin typeface="Arial"/>
              </a:rPr>
              <a:t>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5206" y="1371634"/>
            <a:ext cx="4800720" cy="315475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525"/>
              </a:spcAft>
            </a:pPr>
            <a:r>
              <a:rPr sz="1125" b="1">
                <a:solidFill>
                  <a:srgbClr val="6152E8"/>
                </a:solidFill>
                <a:latin typeface="Arial"/>
              </a:rPr>
              <a:t>▸  </a:t>
            </a:r>
            <a:r>
              <a:rPr sz="1125">
                <a:solidFill>
                  <a:srgbClr val="9B8FFF"/>
                </a:solidFill>
                <a:latin typeface="Arial"/>
              </a:rPr>
              <a:t>El archivo nunca pasa por nuestra API.</a:t>
            </a:r>
          </a:p>
          <a:p>
            <a:pPr>
              <a:lnSpc>
                <a:spcPct val="105000"/>
              </a:lnSpc>
              <a:spcAft>
                <a:spcPts val="525"/>
              </a:spcAft>
            </a:pPr>
            <a:r>
              <a:rPr sz="1125" b="1">
                <a:solidFill>
                  <a:srgbClr val="6152E8"/>
                </a:solidFill>
                <a:latin typeface="Arial"/>
              </a:rPr>
              <a:t>▸  </a:t>
            </a:r>
            <a:r>
              <a:rPr sz="1125">
                <a:solidFill>
                  <a:srgbClr val="F5F5F5"/>
                </a:solidFill>
                <a:latin typeface="Arial"/>
              </a:rPr>
              <a:t>1 · Cliente pide URL → API valida rol, tamaño y tipo</a:t>
            </a:r>
          </a:p>
          <a:p>
            <a:pPr lvl="1">
              <a:lnSpc>
                <a:spcPct val="105000"/>
              </a:lnSpc>
              <a:spcAft>
                <a:spcPts val="525"/>
              </a:spcAft>
            </a:pPr>
            <a:r>
              <a:rPr sz="1050">
                <a:solidFill>
                  <a:srgbClr val="707078"/>
                </a:solidFill>
                <a:latin typeface="Arial"/>
              </a:rPr>
              <a:t>      –   </a:t>
            </a:r>
            <a:r>
              <a:rPr sz="1050">
                <a:solidFill>
                  <a:srgbClr val="A0A0A8"/>
                </a:solidFill>
                <a:latin typeface="Arial"/>
              </a:rPr>
              <a:t>genera URL firmada (TTL 60 s)</a:t>
            </a:r>
          </a:p>
          <a:p>
            <a:pPr>
              <a:lnSpc>
                <a:spcPct val="105000"/>
              </a:lnSpc>
              <a:spcAft>
                <a:spcPts val="525"/>
              </a:spcAft>
            </a:pPr>
            <a:r>
              <a:rPr sz="1125" b="1">
                <a:solidFill>
                  <a:srgbClr val="6152E8"/>
                </a:solidFill>
                <a:latin typeface="Arial"/>
              </a:rPr>
              <a:t>▸  </a:t>
            </a:r>
            <a:r>
              <a:rPr sz="1125">
                <a:solidFill>
                  <a:srgbClr val="F5F5F5"/>
                </a:solidFill>
                <a:latin typeface="Arial"/>
              </a:rPr>
              <a:t>2 · Cliente sube directo a Supabase Storage</a:t>
            </a:r>
          </a:p>
          <a:p>
            <a:pPr>
              <a:lnSpc>
                <a:spcPct val="105000"/>
              </a:lnSpc>
              <a:spcAft>
                <a:spcPts val="525"/>
              </a:spcAft>
            </a:pPr>
            <a:r>
              <a:rPr sz="1125" b="1">
                <a:solidFill>
                  <a:srgbClr val="6152E8"/>
                </a:solidFill>
                <a:latin typeface="Arial"/>
              </a:rPr>
              <a:t>▸  </a:t>
            </a:r>
            <a:r>
              <a:rPr sz="1125">
                <a:solidFill>
                  <a:srgbClr val="F5F5F5"/>
                </a:solidFill>
                <a:latin typeface="Arial"/>
              </a:rPr>
              <a:t>3 · Cliente confirma → API verifica que existe y registra</a:t>
            </a:r>
          </a:p>
          <a:p>
            <a:pPr>
              <a:lnSpc>
                <a:spcPct val="105000"/>
              </a:lnSpc>
              <a:spcAft>
                <a:spcPts val="525"/>
              </a:spcAft>
            </a:pPr>
            <a:r>
              <a:rPr sz="1125" b="1">
                <a:solidFill>
                  <a:srgbClr val="6152E8"/>
                </a:solidFill>
                <a:latin typeface="Arial"/>
              </a:rPr>
              <a:t>▸  </a:t>
            </a:r>
            <a:r>
              <a:rPr sz="1125">
                <a:solidFill>
                  <a:srgbClr val="F5F5F5"/>
                </a:solidFill>
                <a:latin typeface="Arial"/>
              </a:rPr>
              <a:t>Descarga con URL firmada temporal (TTL 5 min).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520828" y="1371634"/>
            <a:ext cx="3223340" cy="3086177"/>
          </a:xfrm>
          <a:prstGeom prst="roundRect">
            <a:avLst>
              <a:gd name="adj" fmla="val 6000"/>
            </a:avLst>
          </a:prstGeom>
          <a:solidFill>
            <a:srgbClr val="151518"/>
          </a:solidFill>
          <a:ln w="9525">
            <a:solidFill>
              <a:srgbClr val="2A2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520828" y="1371634"/>
            <a:ext cx="3223340" cy="3810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71707" y="1495081"/>
            <a:ext cx="2949014" cy="27432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FBBF24"/>
                </a:solidFill>
                <a:latin typeface="Arial"/>
              </a:rPr>
              <a:t>Controles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71707" y="1796840"/>
            <a:ext cx="2949014" cy="260610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375"/>
              </a:spcAft>
            </a:pPr>
            <a:r>
              <a:rPr sz="937">
                <a:solidFill>
                  <a:srgbClr val="A0A0A8"/>
                </a:solidFill>
                <a:latin typeface="Arial"/>
              </a:rPr>
              <a:t>MIME whitelist: jpg · png · webp</a:t>
            </a:r>
          </a:p>
          <a:p>
            <a:pPr>
              <a:lnSpc>
                <a:spcPct val="104000"/>
              </a:lnSpc>
              <a:spcAft>
                <a:spcPts val="375"/>
              </a:spcAft>
            </a:pPr>
            <a:r>
              <a:rPr sz="937">
                <a:solidFill>
                  <a:srgbClr val="A0A0A8"/>
                </a:solidFill>
                <a:latin typeface="Arial"/>
              </a:rPr>
              <a:t>Tamaño máximo: 5 MB</a:t>
            </a:r>
          </a:p>
          <a:p>
            <a:pPr>
              <a:lnSpc>
                <a:spcPct val="104000"/>
              </a:lnSpc>
              <a:spcAft>
                <a:spcPts val="375"/>
              </a:spcAft>
            </a:pPr>
            <a:r>
              <a:rPr sz="937">
                <a:solidFill>
                  <a:srgbClr val="A0A0A8"/>
                </a:solidFill>
                <a:latin typeface="Arial"/>
              </a:rPr>
              <a:t>Ruta scopeada: tenant_id/ticket_id/uuid.ext</a:t>
            </a:r>
          </a:p>
          <a:p>
            <a:pPr>
              <a:lnSpc>
                <a:spcPct val="104000"/>
              </a:lnSpc>
              <a:spcAft>
                <a:spcPts val="375"/>
              </a:spcAft>
            </a:pPr>
            <a:r>
              <a:rPr sz="937">
                <a:solidFill>
                  <a:srgbClr val="A0A0A8"/>
                </a:solidFill>
                <a:latin typeface="Arial"/>
              </a:rPr>
              <a:t>Descarga firmada y temporal (5 min)</a:t>
            </a:r>
          </a:p>
          <a:p>
            <a:pPr>
              <a:lnSpc>
                <a:spcPct val="104000"/>
              </a:lnSpc>
              <a:spcAft>
                <a:spcPts val="375"/>
              </a:spcAft>
            </a:pPr>
            <a:r>
              <a:rPr sz="937">
                <a:solidFill>
                  <a:srgbClr val="A0A0A8"/>
                </a:solidFill>
                <a:latin typeface="Arial"/>
              </a:rPr>
              <a:t>Service-role key SÓLO en el servidor</a:t>
            </a:r>
          </a:p>
          <a:p>
            <a:pPr>
              <a:lnSpc>
                <a:spcPct val="104000"/>
              </a:lnSpc>
              <a:spcAft>
                <a:spcPts val="375"/>
              </a:spcAft>
            </a:pPr>
            <a:r>
              <a:rPr sz="937">
                <a:solidFill>
                  <a:srgbClr val="A0A0A8"/>
                </a:solidFill>
                <a:latin typeface="Arial"/>
              </a:rPr>
              <a:t/>
            </a:r>
          </a:p>
          <a:p>
            <a:pPr>
              <a:lnSpc>
                <a:spcPct val="104000"/>
              </a:lnSpc>
              <a:spcAft>
                <a:spcPts val="375"/>
              </a:spcAft>
            </a:pPr>
            <a:r>
              <a:rPr sz="937">
                <a:solidFill>
                  <a:srgbClr val="A0A0A8"/>
                </a:solidFill>
                <a:latin typeface="Arial"/>
              </a:rPr>
              <a:t>Acceso por rol + asignación al ticket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628"/>
          </a:xfrm>
          <a:prstGeom prst="rect">
            <a:avLst/>
          </a:prstGeom>
          <a:solidFill>
            <a:srgbClr val="0B0B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30" cy="5143628"/>
          </a:xfrm>
          <a:prstGeom prst="rect">
            <a:avLst/>
          </a:prstGeom>
          <a:solidFill>
            <a:srgbClr val="615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90" y="342908"/>
            <a:ext cx="7543988" cy="20574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37" b="1" i="0">
                <a:solidFill>
                  <a:srgbClr val="9B8FFF"/>
                </a:solidFill>
                <a:latin typeface="Arial"/>
              </a:rPr>
              <a:t>SEGURIDAD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90" y="562370"/>
            <a:ext cx="8229805" cy="54865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50" b="1" i="0">
                <a:solidFill>
                  <a:srgbClr val="F5F5F5"/>
                </a:solidFill>
                <a:latin typeface="Arial"/>
              </a:rPr>
              <a:t>Secretos, red y RLS</a:t>
            </a:r>
          </a:p>
        </p:txBody>
      </p:sp>
      <p:sp>
        <p:nvSpPr>
          <p:cNvPr id="6" name="Rectangle 5"/>
          <p:cNvSpPr/>
          <p:nvPr/>
        </p:nvSpPr>
        <p:spPr>
          <a:xfrm>
            <a:off x="425206" y="1111023"/>
            <a:ext cx="617235" cy="28575"/>
          </a:xfrm>
          <a:prstGeom prst="rect">
            <a:avLst/>
          </a:prstGeom>
          <a:solidFill>
            <a:srgbClr val="615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411490" y="4841869"/>
            <a:ext cx="89156" cy="89156"/>
          </a:xfrm>
          <a:prstGeom prst="ellipse">
            <a:avLst/>
          </a:prstGeom>
          <a:solidFill>
            <a:srgbClr val="615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2370" y="4787003"/>
            <a:ext cx="4800720" cy="20574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707078"/>
                </a:solidFill>
                <a:latin typeface="Arial"/>
              </a:rPr>
              <a:t>Trackt · Infraestructura &amp; Seguridad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1152" y="4787003"/>
            <a:ext cx="1028725" cy="20574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750" b="0" i="0">
                <a:solidFill>
                  <a:srgbClr val="707078"/>
                </a:solidFill>
                <a:latin typeface="Arial"/>
              </a:rPr>
              <a:t>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5206" y="1371634"/>
            <a:ext cx="4800720" cy="315475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675"/>
              </a:spcAft>
            </a:pPr>
            <a:r>
              <a:rPr sz="1125" b="1">
                <a:solidFill>
                  <a:srgbClr val="6152E8"/>
                </a:solidFill>
                <a:latin typeface="Arial"/>
              </a:rPr>
              <a:t>▸  </a:t>
            </a:r>
            <a:r>
              <a:rPr sz="1125">
                <a:solidFill>
                  <a:srgbClr val="F5F5F5"/>
                </a:solidFill>
                <a:latin typeface="Arial"/>
              </a:rPr>
              <a:t>.env en .gitignore; sólo se versiona .env.example sin valores.</a:t>
            </a:r>
          </a:p>
          <a:p>
            <a:pPr>
              <a:lnSpc>
                <a:spcPct val="105000"/>
              </a:lnSpc>
              <a:spcAft>
                <a:spcPts val="675"/>
              </a:spcAft>
            </a:pPr>
            <a:r>
              <a:rPr sz="1125" b="1">
                <a:solidFill>
                  <a:srgbClr val="6152E8"/>
                </a:solidFill>
                <a:latin typeface="Arial"/>
              </a:rPr>
              <a:t>▸  </a:t>
            </a:r>
            <a:r>
              <a:rPr sz="1125">
                <a:solidFill>
                  <a:srgbClr val="F5F5F5"/>
                </a:solidFill>
                <a:latin typeface="Arial"/>
              </a:rPr>
              <a:t>Service-role key y DB password sólo en el entorno del servidor.</a:t>
            </a:r>
          </a:p>
          <a:p>
            <a:pPr>
              <a:lnSpc>
                <a:spcPct val="105000"/>
              </a:lnSpc>
              <a:spcAft>
                <a:spcPts val="675"/>
              </a:spcAft>
            </a:pPr>
            <a:r>
              <a:rPr sz="1125" b="1">
                <a:solidFill>
                  <a:srgbClr val="6152E8"/>
                </a:solidFill>
                <a:latin typeface="Arial"/>
              </a:rPr>
              <a:t>▸  </a:t>
            </a:r>
            <a:r>
              <a:rPr sz="1125">
                <a:solidFill>
                  <a:srgbClr val="F5F5F5"/>
                </a:solidFill>
                <a:latin typeface="Arial"/>
              </a:rPr>
              <a:t>RLS habilitado en Supabase → segunda capa a nivel de base.</a:t>
            </a:r>
          </a:p>
          <a:p>
            <a:pPr>
              <a:lnSpc>
                <a:spcPct val="105000"/>
              </a:lnSpc>
              <a:spcAft>
                <a:spcPts val="675"/>
              </a:spcAft>
            </a:pPr>
            <a:r>
              <a:rPr sz="1125" b="1">
                <a:solidFill>
                  <a:srgbClr val="6152E8"/>
                </a:solidFill>
                <a:latin typeface="Arial"/>
              </a:rPr>
              <a:t>▸  </a:t>
            </a:r>
            <a:r>
              <a:rPr sz="1125">
                <a:solidFill>
                  <a:srgbClr val="F5F5F5"/>
                </a:solidFill>
                <a:latin typeface="Arial"/>
              </a:rPr>
              <a:t>HTTPS extremo a extremo · SSL obligatorio hacia la DB.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520828" y="1371634"/>
            <a:ext cx="3223340" cy="3086177"/>
          </a:xfrm>
          <a:prstGeom prst="roundRect">
            <a:avLst>
              <a:gd name="adj" fmla="val 6000"/>
            </a:avLst>
          </a:prstGeom>
          <a:solidFill>
            <a:srgbClr val="151518"/>
          </a:solidFill>
          <a:ln w="9525">
            <a:solidFill>
              <a:srgbClr val="2A2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520828" y="1371634"/>
            <a:ext cx="3223340" cy="38100"/>
          </a:xfrm>
          <a:prstGeom prst="rect">
            <a:avLst/>
          </a:prstGeom>
          <a:solidFill>
            <a:srgbClr val="9B8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71707" y="1495081"/>
            <a:ext cx="2949014" cy="27432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9B8FFF"/>
                </a:solidFill>
                <a:latin typeface="Arial"/>
              </a:rPr>
              <a:t>Defensa en profundidad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71707" y="1796840"/>
            <a:ext cx="2949014" cy="260610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375"/>
              </a:spcAft>
            </a:pPr>
            <a:r>
              <a:rPr sz="937">
                <a:solidFill>
                  <a:srgbClr val="A0A0A8"/>
                </a:solidFill>
                <a:latin typeface="Arial"/>
              </a:rPr>
              <a:t>Para que un dato salga indebidamente tendría que fallar TODO:</a:t>
            </a:r>
          </a:p>
          <a:p>
            <a:pPr>
              <a:lnSpc>
                <a:spcPct val="104000"/>
              </a:lnSpc>
              <a:spcAft>
                <a:spcPts val="375"/>
              </a:spcAft>
            </a:pPr>
            <a:r>
              <a:rPr sz="937">
                <a:solidFill>
                  <a:srgbClr val="A0A0A8"/>
                </a:solidFill>
                <a:latin typeface="Arial"/>
              </a:rPr>
              <a:t>1 · validación de input</a:t>
            </a:r>
          </a:p>
          <a:p>
            <a:pPr>
              <a:lnSpc>
                <a:spcPct val="104000"/>
              </a:lnSpc>
              <a:spcAft>
                <a:spcPts val="375"/>
              </a:spcAft>
            </a:pPr>
            <a:r>
              <a:rPr sz="937">
                <a:solidFill>
                  <a:srgbClr val="A0A0A8"/>
                </a:solidFill>
                <a:latin typeface="Arial"/>
              </a:rPr>
              <a:t>2 · guard de auth (JWT)</a:t>
            </a:r>
          </a:p>
          <a:p>
            <a:pPr>
              <a:lnSpc>
                <a:spcPct val="104000"/>
              </a:lnSpc>
              <a:spcAft>
                <a:spcPts val="375"/>
              </a:spcAft>
            </a:pPr>
            <a:r>
              <a:rPr sz="937">
                <a:solidFill>
                  <a:srgbClr val="A0A0A8"/>
                </a:solidFill>
                <a:latin typeface="Arial"/>
              </a:rPr>
              <a:t>3 · guard de roles</a:t>
            </a:r>
          </a:p>
          <a:p>
            <a:pPr>
              <a:lnSpc>
                <a:spcPct val="104000"/>
              </a:lnSpc>
              <a:spcAft>
                <a:spcPts val="375"/>
              </a:spcAft>
            </a:pPr>
            <a:r>
              <a:rPr sz="937">
                <a:solidFill>
                  <a:srgbClr val="A0A0A8"/>
                </a:solidFill>
                <a:latin typeface="Arial"/>
              </a:rPr>
              <a:t>4 · filtro de tenant</a:t>
            </a:r>
          </a:p>
          <a:p>
            <a:pPr>
              <a:lnSpc>
                <a:spcPct val="104000"/>
              </a:lnSpc>
              <a:spcAft>
                <a:spcPts val="375"/>
              </a:spcAft>
            </a:pPr>
            <a:r>
              <a:rPr sz="937">
                <a:solidFill>
                  <a:srgbClr val="A0A0A8"/>
                </a:solidFill>
                <a:latin typeface="Arial"/>
              </a:rPr>
              <a:t>5 · RLS en la base</a:t>
            </a:r>
          </a:p>
          <a:p>
            <a:pPr>
              <a:lnSpc>
                <a:spcPct val="104000"/>
              </a:lnSpc>
              <a:spcAft>
                <a:spcPts val="375"/>
              </a:spcAft>
            </a:pPr>
            <a:r>
              <a:rPr sz="937">
                <a:solidFill>
                  <a:srgbClr val="A0A0A8"/>
                </a:solidFill>
                <a:latin typeface="Arial"/>
              </a:rPr>
              <a:t/>
            </a:r>
          </a:p>
          <a:p>
            <a:pPr>
              <a:lnSpc>
                <a:spcPct val="104000"/>
              </a:lnSpc>
              <a:spcAft>
                <a:spcPts val="375"/>
              </a:spcAft>
            </a:pPr>
            <a:r>
              <a:rPr sz="937">
                <a:solidFill>
                  <a:srgbClr val="A0A0A8"/>
                </a:solidFill>
                <a:latin typeface="Arial"/>
              </a:rPr>
              <a:t>Varias rejas, no una sola.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628"/>
          </a:xfrm>
          <a:prstGeom prst="rect">
            <a:avLst/>
          </a:prstGeom>
          <a:solidFill>
            <a:srgbClr val="0B0B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30" cy="5143628"/>
          </a:xfrm>
          <a:prstGeom prst="rect">
            <a:avLst/>
          </a:prstGeom>
          <a:solidFill>
            <a:srgbClr val="615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90" y="342908"/>
            <a:ext cx="7543988" cy="20574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37" b="1" i="0">
                <a:solidFill>
                  <a:srgbClr val="9B8FFF"/>
                </a:solidFill>
                <a:latin typeface="Arial"/>
              </a:rPr>
              <a:t>SEGURIDAD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90" y="562370"/>
            <a:ext cx="8229805" cy="54865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50" b="1" i="0">
                <a:solidFill>
                  <a:srgbClr val="F5F5F5"/>
                </a:solidFill>
                <a:latin typeface="Arial"/>
              </a:rPr>
              <a:t>Proceso — Gitflow &amp; PRs</a:t>
            </a:r>
          </a:p>
        </p:txBody>
      </p:sp>
      <p:sp>
        <p:nvSpPr>
          <p:cNvPr id="6" name="Rectangle 5"/>
          <p:cNvSpPr/>
          <p:nvPr/>
        </p:nvSpPr>
        <p:spPr>
          <a:xfrm>
            <a:off x="425206" y="1111023"/>
            <a:ext cx="617235" cy="28575"/>
          </a:xfrm>
          <a:prstGeom prst="rect">
            <a:avLst/>
          </a:prstGeom>
          <a:solidFill>
            <a:srgbClr val="615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411490" y="4841869"/>
            <a:ext cx="89156" cy="89156"/>
          </a:xfrm>
          <a:prstGeom prst="ellipse">
            <a:avLst/>
          </a:prstGeom>
          <a:solidFill>
            <a:srgbClr val="615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2370" y="4787003"/>
            <a:ext cx="4800720" cy="20574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707078"/>
                </a:solidFill>
                <a:latin typeface="Arial"/>
              </a:rPr>
              <a:t>Trackt · Infraestructura &amp; Seguridad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1152" y="4787003"/>
            <a:ext cx="1028725" cy="20574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750" b="0" i="0">
                <a:solidFill>
                  <a:srgbClr val="707078"/>
                </a:solidFill>
                <a:latin typeface="Arial"/>
              </a:rPr>
              <a:t>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5206" y="1371634"/>
            <a:ext cx="8229805" cy="27432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25"/>
              </a:spcAft>
            </a:pPr>
            <a:r>
              <a:rPr sz="1200" b="1">
                <a:solidFill>
                  <a:srgbClr val="6152E8"/>
                </a:solidFill>
                <a:latin typeface="Arial"/>
              </a:rPr>
              <a:t>▸  </a:t>
            </a:r>
            <a:r>
              <a:rPr sz="1200">
                <a:solidFill>
                  <a:srgbClr val="F5F5F5"/>
                </a:solidFill>
                <a:latin typeface="Arial"/>
              </a:rPr>
              <a:t>main protegida: nada se mergea sin Pull Request revisado.</a:t>
            </a:r>
          </a:p>
          <a:p>
            <a:pPr>
              <a:lnSpc>
                <a:spcPct val="105000"/>
              </a:lnSpc>
              <a:spcAft>
                <a:spcPts val="825"/>
              </a:spcAft>
            </a:pPr>
            <a:r>
              <a:rPr sz="1200" b="1">
                <a:solidFill>
                  <a:srgbClr val="6152E8"/>
                </a:solidFill>
                <a:latin typeface="Arial"/>
              </a:rPr>
              <a:t>▸  </a:t>
            </a:r>
            <a:r>
              <a:rPr sz="1200">
                <a:solidFill>
                  <a:srgbClr val="F5F5F5"/>
                </a:solidFill>
                <a:latin typeface="Arial"/>
              </a:rPr>
              <a:t>Una rama = un ticket de Linear = un PR · squash merge.</a:t>
            </a:r>
          </a:p>
          <a:p>
            <a:pPr>
              <a:lnSpc>
                <a:spcPct val="105000"/>
              </a:lnSpc>
              <a:spcAft>
                <a:spcPts val="825"/>
              </a:spcAft>
            </a:pPr>
            <a:r>
              <a:rPr sz="1200" b="1">
                <a:solidFill>
                  <a:srgbClr val="6152E8"/>
                </a:solidFill>
                <a:latin typeface="Arial"/>
              </a:rPr>
              <a:t>▸  </a:t>
            </a:r>
            <a:r>
              <a:rPr sz="1200">
                <a:solidFill>
                  <a:srgbClr val="F5F5F5"/>
                </a:solidFill>
                <a:latin typeface="Arial"/>
              </a:rPr>
              <a:t>Conventional Commits + Conventional Branches con ID de Linear.</a:t>
            </a:r>
          </a:p>
          <a:p>
            <a:pPr>
              <a:lnSpc>
                <a:spcPct val="105000"/>
              </a:lnSpc>
              <a:spcAft>
                <a:spcPts val="825"/>
              </a:spcAft>
            </a:pPr>
            <a:r>
              <a:rPr sz="1200" b="1">
                <a:solidFill>
                  <a:srgbClr val="6152E8"/>
                </a:solidFill>
                <a:latin typeface="Arial"/>
              </a:rPr>
              <a:t>▸  </a:t>
            </a:r>
            <a:r>
              <a:rPr sz="1200">
                <a:solidFill>
                  <a:srgbClr val="F5F5F5"/>
                </a:solidFill>
                <a:latin typeface="Arial"/>
              </a:rPr>
              <a:t>Trazabilidad automática: la rama mueve el estado del ticket.</a:t>
            </a:r>
          </a:p>
          <a:p>
            <a:pPr>
              <a:lnSpc>
                <a:spcPct val="105000"/>
              </a:lnSpc>
              <a:spcAft>
                <a:spcPts val="825"/>
              </a:spcAft>
            </a:pPr>
            <a:r>
              <a:rPr sz="1200" b="1">
                <a:solidFill>
                  <a:srgbClr val="6152E8"/>
                </a:solidFill>
                <a:latin typeface="Arial"/>
              </a:rPr>
              <a:t>▸  </a:t>
            </a:r>
            <a:r>
              <a:rPr sz="1200">
                <a:solidFill>
                  <a:srgbClr val="9B8FFF"/>
                </a:solidFill>
                <a:latin typeface="Arial"/>
              </a:rPr>
              <a:t>La seguridad también es proceso: reduce el riesgo de código sin revisar en producción.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