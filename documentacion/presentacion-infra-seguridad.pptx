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 ~10 min: primero infraestructura (tecnologías y dónde corre cada cosa) y luego seguridad (auth, roles, aislamiento, archivos). Trackt = sistema de gestión de taller / mantenimiento industrial: equipos, órdenes de trabajo, tickets, inventario y evidencias. (0:30)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de la charla. Dos bloques: infraestructura y seguridad. La seguridad es donde pusimos más cuidado y le dedicamos más tiempo. (0:20)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al bloque de infraestructura. (transición, 0:05)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capas independientes. Front en Next.js (Vercel) sólo dibuja UI y protege rutas. API NestJS (Railway) tiene toda la lógica. Supabase da Postgres + Auth + Storage en uno. Lo desacoplado permite desplegar/escalar/fallar por separado. Primera decisión de seguridad: el front nunca toca la DB; todo pasa por la API por HTTPS con token. (1:15)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Next.js 16 con App Router en Vercel. A diferencia de una SPA, hay protección de rutas server-side: un middleware valida la sesión contra Supabase en cada request y manda a login si no estás autenticado. La sesión va en cookies (SSR), no en localStorage → menos XSS. Datos con TanStack Query, UI shadcn/Tailwind, forms con zod. authFetch pone el token Bearer y refresca/reintenta en 401. Si faltan env vars, el build de prod falla a propósito.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NestJS obliga a estructura modular: cada dominio (tickets, órdenes, inventario, evidencias…) es un módulo. Prisma como ORM con queries tipadas nos protege de inyección SQL. Pieza clave: ValidationPipe global — whitelist descarta campos no declarados, transform valida tipos antes de tocar la lógica. Nada entra sin filtro. Deploy en Railway. (1:15)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Postgres gestionada por Supabase. En runtime usamos un pooler en modo transacción que aguanta mucha concurrencia; la conexión directa sólo para migraciones. Todo el tráfico a la DB va cifrado (SSL obligatorio). El modelo cubre el flujo completo del taller. Detalle clave: TODAS las tablas llevan tenant_id → multi-tenant por diseño.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Entramos a seguridad, el núcleo de la charla. (transición, 0:05)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Autenticación = saber quién eres. No inventamos sistema de passwords: lo delega Supabase. El usuario se loguea, recibe un JWT firmado que viaja en Authorization en cada llamada. El AuthGuard es un portero antes de cada endpoint: saca el token, lo valida contra Supabase, busca el perfil (rol + tenant). Si falla → 401. Cacheamos perfiles 5 min para no golpear la DB. (1:15)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Autenticado no es autorizado. Tres roles: admin, jefe de taller, mecánico. Cada endpoint lleva @Roles que el RolesGuard hace cumplir. Mínimo privilegio: en un ticket, cualquiera lo ve, pero sólo jefe/admin asigna; sólo el mecánico asignado inicia y finaliza; sólo admin valida y cierra. Un mecánico no se auto-asigna ni se cierra sus tickets. Reglas en el código, no en esconder botones. (1:15)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 pilar: aislamiento entre clientes. Todo lleva tenant_id. La clave es de dónde sale: TenantService lo lee del token autenticado, NUNCA de un parámetro del cliente. Eso cierra el ataque clásico de cambiar un ID en la URL para ver datos de otro taller. La API siempre filtra por el tenant de tu sesión. (0:50)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evidencias son fotos de los mecánicos; los archivos siempre son delicados. Patrón de URLs firmadas: el archivo NO pasa por la API. El cliente pide permiso, la API valida rol, tipo (sólo imágenes) y tamaño (máx 5MB) y entrega una URL firmada de 60s. Sube directo a Supabase, confirma, y la API verifica que exista antes de registrar. Descarga: URLs firmadas que expiran en 5 min, no enlaces públicos. La llave de admin de Supabase vive sólo en el servidor, nunca en el navegador. (1:15)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técnico: los secretos nunca van al repo; sólo subimos una plantilla vacía. Las llaves viven en Railway/Supabase. Encima, Supabase tiene RLS activado = segunda reja en la base. Todo es HTTPS. La idea: defensa en profundidad — para filtrar un dato tendría que fallar la validación Y auth Y roles Y tenant Y RLS. (0:45)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seguridad también es proceso. main está protegida: nadie sube directo, todo entra por PR con revisión. Cada cambio se ata a un ticket de Linear → trazabilidad de quién cambió qué y por qué. Reduce el riesgo de meter código malo o sin revisar a producción. (0:30)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tres capas independientes, mantenibles y escalables. Seguridad en capas: validamos todo lo que entra, verificamos quién eres (JWT), qué puedes hacer (roles), aislamos por tenant, archivos con URLs firmadas temporales, y RLS como red final. Sin secretos en el código, todo cifrado. Abro preguntas. (0:30)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051560"/>
            <a:ext cx="566928" cy="566928"/>
          </a:xfrm>
          <a:prstGeom prst="roundRect">
            <a:avLst>
              <a:gd name="adj" fmla="val 28000"/>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566928" cy="566928"/>
          </a:xfrm>
          <a:prstGeom prst="rect">
            <a:avLst/>
          </a:prstGeom>
          <a:noFill/>
        </p:spPr>
        <p:txBody>
          <a:bodyPr wrap="square" anchor="ctr" lIns="0" rIns="0" tIns="0" bIns="0">
            <a:spAutoFit/>
          </a:bodyPr>
          <a:lstStyle/>
          <a:p>
            <a:pPr algn="ctr">
              <a:lnSpc>
                <a:spcPct val="100000"/>
              </a:lnSpc>
            </a:pPr>
            <a:r>
              <a:rPr sz="3000" b="1" i="0">
                <a:solidFill>
                  <a:srgbClr val="FFFFFF"/>
                </a:solidFill>
                <a:latin typeface="Arial"/>
              </a:rPr>
              <a:t>T</a:t>
            </a:r>
          </a:p>
        </p:txBody>
      </p:sp>
      <p:sp>
        <p:nvSpPr>
          <p:cNvPr id="6" name="TextBox 5"/>
          <p:cNvSpPr txBox="1"/>
          <p:nvPr/>
        </p:nvSpPr>
        <p:spPr>
          <a:xfrm>
            <a:off x="1554480" y="1078992"/>
            <a:ext cx="5486400" cy="548640"/>
          </a:xfrm>
          <a:prstGeom prst="rect">
            <a:avLst/>
          </a:prstGeom>
          <a:noFill/>
        </p:spPr>
        <p:txBody>
          <a:bodyPr wrap="square" anchor="t" lIns="0" rIns="0" tIns="0" bIns="0">
            <a:spAutoFit/>
          </a:bodyPr>
          <a:lstStyle/>
          <a:p>
            <a:pPr algn="l">
              <a:lnSpc>
                <a:spcPct val="100000"/>
              </a:lnSpc>
            </a:pPr>
            <a:r>
              <a:rPr sz="4000" b="1" i="0">
                <a:solidFill>
                  <a:srgbClr val="F5F5F5"/>
                </a:solidFill>
                <a:latin typeface="Arial"/>
              </a:rPr>
              <a:t>Trackt</a:t>
            </a:r>
          </a:p>
        </p:txBody>
      </p:sp>
      <p:sp>
        <p:nvSpPr>
          <p:cNvPr id="7" name="TextBox 6"/>
          <p:cNvSpPr txBox="1"/>
          <p:nvPr/>
        </p:nvSpPr>
        <p:spPr>
          <a:xfrm>
            <a:off x="841248" y="2331720"/>
            <a:ext cx="10058400" cy="914400"/>
          </a:xfrm>
          <a:prstGeom prst="rect">
            <a:avLst/>
          </a:prstGeom>
          <a:noFill/>
        </p:spPr>
        <p:txBody>
          <a:bodyPr wrap="square" anchor="t" lIns="0" rIns="0" tIns="0" bIns="0">
            <a:spAutoFit/>
          </a:bodyPr>
          <a:lstStyle/>
          <a:p>
            <a:pPr algn="l">
              <a:lnSpc>
                <a:spcPct val="100000"/>
              </a:lnSpc>
            </a:pPr>
            <a:r>
              <a:rPr sz="4600" b="1" i="0">
                <a:solidFill>
                  <a:srgbClr val="F5F5F5"/>
                </a:solidFill>
                <a:latin typeface="Arial"/>
              </a:rPr>
              <a:t>Infraestructura &amp; Seguridad</a:t>
            </a:r>
          </a:p>
        </p:txBody>
      </p:sp>
      <p:sp>
        <p:nvSpPr>
          <p:cNvPr id="8" name="Rectangle 7"/>
          <p:cNvSpPr/>
          <p:nvPr/>
        </p:nvSpPr>
        <p:spPr>
          <a:xfrm>
            <a:off x="868680" y="3383280"/>
            <a:ext cx="118872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611880"/>
            <a:ext cx="10058400" cy="457200"/>
          </a:xfrm>
          <a:prstGeom prst="rect">
            <a:avLst/>
          </a:prstGeom>
          <a:noFill/>
        </p:spPr>
        <p:txBody>
          <a:bodyPr wrap="square" anchor="t" lIns="0" rIns="0" tIns="0" bIns="0">
            <a:spAutoFit/>
          </a:bodyPr>
          <a:lstStyle/>
          <a:p>
            <a:pPr algn="l">
              <a:lnSpc>
                <a:spcPct val="100000"/>
              </a:lnSpc>
            </a:pPr>
            <a:r>
              <a:rPr sz="1600" b="0" i="0">
                <a:solidFill>
                  <a:srgbClr val="A0A0A8"/>
                </a:solidFill>
                <a:latin typeface="Arial"/>
              </a:rPr>
              <a:t>Plataforma de mantenimiento industrial — cómo está montado el sistema por dentro</a:t>
            </a:r>
          </a:p>
        </p:txBody>
      </p:sp>
      <p:sp>
        <p:nvSpPr>
          <p:cNvPr id="10" name="Rounded Rectangle 9"/>
          <p:cNvSpPr/>
          <p:nvPr/>
        </p:nvSpPr>
        <p:spPr>
          <a:xfrm>
            <a:off x="868680" y="4434840"/>
            <a:ext cx="1627632" cy="384048"/>
          </a:xfrm>
          <a:prstGeom prst="roundRect">
            <a:avLst>
              <a:gd name="adj" fmla="val 50000"/>
            </a:avLst>
          </a:prstGeom>
          <a:solidFill>
            <a:srgbClr val="1D1D21"/>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4984" y="4562856"/>
            <a:ext cx="128016" cy="128016"/>
          </a:xfrm>
          <a:prstGeom prst="ellipse">
            <a:avLst/>
          </a:prstGeom>
          <a:solidFill>
            <a:srgbClr val="707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4434840"/>
            <a:ext cx="1216152" cy="384048"/>
          </a:xfrm>
          <a:prstGeom prst="rect">
            <a:avLst/>
          </a:prstGeom>
          <a:noFill/>
        </p:spPr>
        <p:txBody>
          <a:bodyPr wrap="square" anchor="ctr" lIns="0" rIns="0" tIns="0" bIns="0">
            <a:spAutoFit/>
          </a:bodyPr>
          <a:lstStyle/>
          <a:p>
            <a:pPr algn="l">
              <a:lnSpc>
                <a:spcPct val="100000"/>
              </a:lnSpc>
            </a:pPr>
            <a:r>
              <a:rPr sz="1150" b="0" i="0">
                <a:solidFill>
                  <a:srgbClr val="F5F5F5"/>
                </a:solidFill>
                <a:latin typeface="Arial"/>
              </a:rPr>
              <a:t>Pendiente</a:t>
            </a:r>
          </a:p>
        </p:txBody>
      </p:sp>
      <p:sp>
        <p:nvSpPr>
          <p:cNvPr id="13" name="Rounded Rectangle 12"/>
          <p:cNvSpPr/>
          <p:nvPr/>
        </p:nvSpPr>
        <p:spPr>
          <a:xfrm>
            <a:off x="2606040" y="4434840"/>
            <a:ext cx="1627632" cy="384048"/>
          </a:xfrm>
          <a:prstGeom prst="roundRect">
            <a:avLst>
              <a:gd name="adj" fmla="val 50000"/>
            </a:avLst>
          </a:prstGeom>
          <a:solidFill>
            <a:srgbClr val="1D1D21"/>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52344" y="4562856"/>
            <a:ext cx="128016" cy="128016"/>
          </a:xfrm>
          <a:prstGeom prst="ellipse">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4434840"/>
            <a:ext cx="1216152" cy="384048"/>
          </a:xfrm>
          <a:prstGeom prst="rect">
            <a:avLst/>
          </a:prstGeom>
          <a:noFill/>
        </p:spPr>
        <p:txBody>
          <a:bodyPr wrap="square" anchor="ctr" lIns="0" rIns="0" tIns="0" bIns="0">
            <a:spAutoFit/>
          </a:bodyPr>
          <a:lstStyle/>
          <a:p>
            <a:pPr algn="l">
              <a:lnSpc>
                <a:spcPct val="100000"/>
              </a:lnSpc>
            </a:pPr>
            <a:r>
              <a:rPr sz="1150" b="0" i="0">
                <a:solidFill>
                  <a:srgbClr val="F5F5F5"/>
                </a:solidFill>
                <a:latin typeface="Arial"/>
              </a:rPr>
              <a:t>Asignado</a:t>
            </a:r>
          </a:p>
        </p:txBody>
      </p:sp>
      <p:sp>
        <p:nvSpPr>
          <p:cNvPr id="16" name="Rounded Rectangle 15"/>
          <p:cNvSpPr/>
          <p:nvPr/>
        </p:nvSpPr>
        <p:spPr>
          <a:xfrm>
            <a:off x="4343400" y="4434840"/>
            <a:ext cx="1627632" cy="384048"/>
          </a:xfrm>
          <a:prstGeom prst="roundRect">
            <a:avLst>
              <a:gd name="adj" fmla="val 50000"/>
            </a:avLst>
          </a:prstGeom>
          <a:solidFill>
            <a:srgbClr val="1D1D21"/>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89704" y="4562856"/>
            <a:ext cx="128016" cy="128016"/>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4434840"/>
            <a:ext cx="1216152" cy="384048"/>
          </a:xfrm>
          <a:prstGeom prst="rect">
            <a:avLst/>
          </a:prstGeom>
          <a:noFill/>
        </p:spPr>
        <p:txBody>
          <a:bodyPr wrap="square" anchor="ctr" lIns="0" rIns="0" tIns="0" bIns="0">
            <a:spAutoFit/>
          </a:bodyPr>
          <a:lstStyle/>
          <a:p>
            <a:pPr algn="l">
              <a:lnSpc>
                <a:spcPct val="100000"/>
              </a:lnSpc>
            </a:pPr>
            <a:r>
              <a:rPr sz="1150" b="0" i="0">
                <a:solidFill>
                  <a:srgbClr val="F5F5F5"/>
                </a:solidFill>
                <a:latin typeface="Arial"/>
              </a:rPr>
              <a:t>En ejecución</a:t>
            </a:r>
          </a:p>
        </p:txBody>
      </p:sp>
      <p:sp>
        <p:nvSpPr>
          <p:cNvPr id="19" name="Rounded Rectangle 18"/>
          <p:cNvSpPr/>
          <p:nvPr/>
        </p:nvSpPr>
        <p:spPr>
          <a:xfrm>
            <a:off x="6080760" y="4434840"/>
            <a:ext cx="1627632" cy="384048"/>
          </a:xfrm>
          <a:prstGeom prst="roundRect">
            <a:avLst>
              <a:gd name="adj" fmla="val 50000"/>
            </a:avLst>
          </a:prstGeom>
          <a:solidFill>
            <a:srgbClr val="1D1D21"/>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27064" y="4562856"/>
            <a:ext cx="128016" cy="128016"/>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434840"/>
            <a:ext cx="1216152" cy="384048"/>
          </a:xfrm>
          <a:prstGeom prst="rect">
            <a:avLst/>
          </a:prstGeom>
          <a:noFill/>
        </p:spPr>
        <p:txBody>
          <a:bodyPr wrap="square" anchor="ctr" lIns="0" rIns="0" tIns="0" bIns="0">
            <a:spAutoFit/>
          </a:bodyPr>
          <a:lstStyle/>
          <a:p>
            <a:pPr algn="l">
              <a:lnSpc>
                <a:spcPct val="100000"/>
              </a:lnSpc>
            </a:pPr>
            <a:r>
              <a:rPr sz="1150" b="0" i="0">
                <a:solidFill>
                  <a:srgbClr val="F5F5F5"/>
                </a:solidFill>
                <a:latin typeface="Arial"/>
              </a:rPr>
              <a:t>Ejecutado</a:t>
            </a:r>
          </a:p>
        </p:txBody>
      </p:sp>
      <p:sp>
        <p:nvSpPr>
          <p:cNvPr id="22" name="Rounded Rectangle 21"/>
          <p:cNvSpPr/>
          <p:nvPr/>
        </p:nvSpPr>
        <p:spPr>
          <a:xfrm>
            <a:off x="7818120" y="4434840"/>
            <a:ext cx="1627632" cy="384048"/>
          </a:xfrm>
          <a:prstGeom prst="roundRect">
            <a:avLst>
              <a:gd name="adj" fmla="val 50000"/>
            </a:avLst>
          </a:prstGeom>
          <a:solidFill>
            <a:srgbClr val="1D1D21"/>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64424" y="4562856"/>
            <a:ext cx="128016" cy="128016"/>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4434840"/>
            <a:ext cx="1216152" cy="384048"/>
          </a:xfrm>
          <a:prstGeom prst="rect">
            <a:avLst/>
          </a:prstGeom>
          <a:noFill/>
        </p:spPr>
        <p:txBody>
          <a:bodyPr wrap="square" anchor="ctr" lIns="0" rIns="0" tIns="0" bIns="0">
            <a:spAutoFit/>
          </a:bodyPr>
          <a:lstStyle/>
          <a:p>
            <a:pPr algn="l">
              <a:lnSpc>
                <a:spcPct val="100000"/>
              </a:lnSpc>
            </a:pPr>
            <a:r>
              <a:rPr sz="1150" b="0" i="0">
                <a:solidFill>
                  <a:srgbClr val="F5F5F5"/>
                </a:solidFill>
                <a:latin typeface="Arial"/>
              </a:rPr>
              <a:t>Cerrado</a:t>
            </a:r>
          </a:p>
        </p:txBody>
      </p:sp>
      <p:sp>
        <p:nvSpPr>
          <p:cNvPr id="25" name="TextBox 24"/>
          <p:cNvSpPr txBox="1"/>
          <p:nvPr/>
        </p:nvSpPr>
        <p:spPr>
          <a:xfrm>
            <a:off x="868680" y="5394960"/>
            <a:ext cx="10058400" cy="365760"/>
          </a:xfrm>
          <a:prstGeom prst="rect">
            <a:avLst/>
          </a:prstGeom>
          <a:noFill/>
        </p:spPr>
        <p:txBody>
          <a:bodyPr wrap="square" anchor="t" lIns="0" rIns="0" tIns="0" bIns="0">
            <a:spAutoFit/>
          </a:bodyPr>
          <a:lstStyle/>
          <a:p>
            <a:pPr algn="l">
              <a:lnSpc>
                <a:spcPct val="100000"/>
              </a:lnSpc>
            </a:pPr>
            <a:r>
              <a:rPr sz="1400" b="0" i="0">
                <a:solidFill>
                  <a:srgbClr val="707078"/>
                </a:solidFill>
                <a:latin typeface="Arial"/>
              </a:rPr>
              <a:t>Equipo:  </a:t>
            </a:r>
            <a:r>
              <a:rPr sz="1400" b="1" i="0">
                <a:solidFill>
                  <a:srgbClr val="F5F5F5"/>
                </a:solidFill>
                <a:latin typeface="Arial"/>
              </a:rPr>
              <a:t>Rosio Ametller · Jaime Osorio · Ramón Hernández</a:t>
            </a:r>
          </a:p>
        </p:txBody>
      </p:sp>
      <p:sp>
        <p:nvSpPr>
          <p:cNvPr id="26" name="TextBox 25"/>
          <p:cNvSpPr txBox="1"/>
          <p:nvPr/>
        </p:nvSpPr>
        <p:spPr>
          <a:xfrm>
            <a:off x="868680" y="5806440"/>
            <a:ext cx="10058400" cy="365760"/>
          </a:xfrm>
          <a:prstGeom prst="rect">
            <a:avLst/>
          </a:prstGeom>
          <a:noFill/>
        </p:spPr>
        <p:txBody>
          <a:bodyPr wrap="square" anchor="t" lIns="0" rIns="0" tIns="0" bIns="0">
            <a:spAutoFit/>
          </a:bodyPr>
          <a:lstStyle/>
          <a:p>
            <a:pPr algn="l">
              <a:lnSpc>
                <a:spcPct val="100000"/>
              </a:lnSpc>
            </a:pPr>
            <a:r>
              <a:rPr sz="1300" b="0" i="0">
                <a:solidFill>
                  <a:srgbClr val="707078"/>
                </a:solidFill>
                <a:latin typeface="Arial"/>
              </a:rPr>
              <a:t>Duración objetivo:  </a:t>
            </a:r>
            <a:r>
              <a:rPr sz="1300" b="1" i="0">
                <a:solidFill>
                  <a:srgbClr val="9B8FFF"/>
                </a:solidFill>
                <a:latin typeface="Arial"/>
              </a:rPr>
              <a:t>~10 minutos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RECORRIDO</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Agenda</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02</a:t>
            </a:r>
          </a:p>
        </p:txBody>
      </p:sp>
      <p:sp>
        <p:nvSpPr>
          <p:cNvPr id="10" name="Rounded Rectangle 9"/>
          <p:cNvSpPr/>
          <p:nvPr/>
        </p:nvSpPr>
        <p:spPr>
          <a:xfrm>
            <a:off x="548640" y="1828800"/>
            <a:ext cx="5440680" cy="402336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544068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93392"/>
            <a:ext cx="50749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01 · Infraestructura</a:t>
            </a:r>
          </a:p>
        </p:txBody>
      </p:sp>
      <p:sp>
        <p:nvSpPr>
          <p:cNvPr id="13" name="TextBox 12"/>
          <p:cNvSpPr txBox="1"/>
          <p:nvPr/>
        </p:nvSpPr>
        <p:spPr>
          <a:xfrm>
            <a:off x="749808" y="2395728"/>
            <a:ext cx="5074920" cy="338328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Vista general — 3 capas desacopladas</a:t>
            </a:r>
          </a:p>
          <a:p>
            <a:pPr>
              <a:lnSpc>
                <a:spcPct val="104000"/>
              </a:lnSpc>
              <a:spcAft>
                <a:spcPts val="500"/>
              </a:spcAft>
            </a:pPr>
            <a:r>
              <a:rPr sz="1250">
                <a:solidFill>
                  <a:srgbClr val="A0A0A8"/>
                </a:solidFill>
                <a:latin typeface="Arial"/>
              </a:rPr>
              <a:t>Frontend — Next.js 16 en Vercel</a:t>
            </a:r>
          </a:p>
          <a:p>
            <a:pPr>
              <a:lnSpc>
                <a:spcPct val="104000"/>
              </a:lnSpc>
              <a:spcAft>
                <a:spcPts val="500"/>
              </a:spcAft>
            </a:pPr>
            <a:r>
              <a:rPr sz="1250">
                <a:solidFill>
                  <a:srgbClr val="A0A0A8"/>
                </a:solidFill>
                <a:latin typeface="Arial"/>
              </a:rPr>
              <a:t>Backend / API — NestJS 11 en Railway</a:t>
            </a:r>
          </a:p>
          <a:p>
            <a:pPr>
              <a:lnSpc>
                <a:spcPct val="104000"/>
              </a:lnSpc>
              <a:spcAft>
                <a:spcPts val="500"/>
              </a:spcAft>
            </a:pPr>
            <a:r>
              <a:rPr sz="1250">
                <a:solidFill>
                  <a:srgbClr val="A0A0A8"/>
                </a:solidFill>
                <a:latin typeface="Arial"/>
              </a:rPr>
              <a:t>Base de datos — Supabase PostgreSQL</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Qué tecnología usamos y dónde corre cada pieza.</a:t>
            </a:r>
          </a:p>
        </p:txBody>
      </p:sp>
      <p:sp>
        <p:nvSpPr>
          <p:cNvPr id="14" name="Rounded Rectangle 13"/>
          <p:cNvSpPr/>
          <p:nvPr/>
        </p:nvSpPr>
        <p:spPr>
          <a:xfrm>
            <a:off x="6199632" y="1828800"/>
            <a:ext cx="5440680" cy="402336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828800"/>
            <a:ext cx="5440680" cy="50800"/>
          </a:xfrm>
          <a:prstGeom prst="rect">
            <a:avLst/>
          </a:prstGeom>
          <a:solidFill>
            <a:srgbClr val="9B8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93392"/>
            <a:ext cx="5074920" cy="365760"/>
          </a:xfrm>
          <a:prstGeom prst="rect">
            <a:avLst/>
          </a:prstGeom>
          <a:noFill/>
        </p:spPr>
        <p:txBody>
          <a:bodyPr wrap="square" anchor="t" lIns="0" rIns="0" tIns="0" bIns="0">
            <a:spAutoFit/>
          </a:bodyPr>
          <a:lstStyle/>
          <a:p>
            <a:pPr algn="l">
              <a:lnSpc>
                <a:spcPct val="100000"/>
              </a:lnSpc>
            </a:pPr>
            <a:r>
              <a:rPr sz="1500" b="1" i="0">
                <a:solidFill>
                  <a:srgbClr val="9B8FFF"/>
                </a:solidFill>
                <a:latin typeface="Arial"/>
              </a:rPr>
              <a:t>02 · Seguridad</a:t>
            </a:r>
          </a:p>
        </p:txBody>
      </p:sp>
      <p:sp>
        <p:nvSpPr>
          <p:cNvPr id="17" name="TextBox 16"/>
          <p:cNvSpPr txBox="1"/>
          <p:nvPr/>
        </p:nvSpPr>
        <p:spPr>
          <a:xfrm>
            <a:off x="6400800" y="2395728"/>
            <a:ext cx="5074920" cy="338328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Autenticación — JWT de Supabase</a:t>
            </a:r>
          </a:p>
          <a:p>
            <a:pPr>
              <a:lnSpc>
                <a:spcPct val="104000"/>
              </a:lnSpc>
              <a:spcAft>
                <a:spcPts val="500"/>
              </a:spcAft>
            </a:pPr>
            <a:r>
              <a:rPr sz="1250">
                <a:solidFill>
                  <a:srgbClr val="A0A0A8"/>
                </a:solidFill>
                <a:latin typeface="Arial"/>
              </a:rPr>
              <a:t>Autorización — roles y mínimo privilegio</a:t>
            </a:r>
          </a:p>
          <a:p>
            <a:pPr>
              <a:lnSpc>
                <a:spcPct val="104000"/>
              </a:lnSpc>
              <a:spcAft>
                <a:spcPts val="500"/>
              </a:spcAft>
            </a:pPr>
            <a:r>
              <a:rPr sz="1250">
                <a:solidFill>
                  <a:srgbClr val="A0A0A8"/>
                </a:solidFill>
                <a:latin typeface="Arial"/>
              </a:rPr>
              <a:t>Aislamiento multi-tenant</a:t>
            </a:r>
          </a:p>
          <a:p>
            <a:pPr>
              <a:lnSpc>
                <a:spcPct val="104000"/>
              </a:lnSpc>
              <a:spcAft>
                <a:spcPts val="500"/>
              </a:spcAft>
            </a:pPr>
            <a:r>
              <a:rPr sz="1250">
                <a:solidFill>
                  <a:srgbClr val="A0A0A8"/>
                </a:solidFill>
                <a:latin typeface="Arial"/>
              </a:rPr>
              <a:t>Evidencias — signed URLs</a:t>
            </a:r>
          </a:p>
          <a:p>
            <a:pPr>
              <a:lnSpc>
                <a:spcPct val="104000"/>
              </a:lnSpc>
              <a:spcAft>
                <a:spcPts val="500"/>
              </a:spcAft>
            </a:pPr>
            <a:r>
              <a:rPr sz="1250">
                <a:solidFill>
                  <a:srgbClr val="A0A0A8"/>
                </a:solidFill>
                <a:latin typeface="Arial"/>
              </a:rPr>
              <a:t>Secretos, red y RLS</a:t>
            </a:r>
          </a:p>
          <a:p>
            <a:pPr>
              <a:lnSpc>
                <a:spcPct val="104000"/>
              </a:lnSpc>
              <a:spcAft>
                <a:spcPts val="500"/>
              </a:spcAft>
            </a:pPr>
            <a:r>
              <a:rPr sz="1250">
                <a:solidFill>
                  <a:srgbClr val="A0A0A8"/>
                </a:solidFill>
                <a:latin typeface="Arial"/>
              </a:rPr>
              <a:t>Proceso — Gitflow y PRs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286000"/>
            <a:ext cx="3657600" cy="1097280"/>
          </a:xfrm>
          <a:prstGeom prst="rect">
            <a:avLst/>
          </a:prstGeom>
          <a:noFill/>
        </p:spPr>
        <p:txBody>
          <a:bodyPr wrap="square" anchor="t" lIns="0" rIns="0" tIns="0" bIns="0">
            <a:spAutoFit/>
          </a:bodyPr>
          <a:lstStyle/>
          <a:p>
            <a:pPr algn="l">
              <a:lnSpc>
                <a:spcPct val="100000"/>
              </a:lnSpc>
            </a:pPr>
            <a:r>
              <a:rPr sz="9000" b="1" i="0">
                <a:solidFill>
                  <a:srgbClr val="1D1D21"/>
                </a:solidFill>
                <a:latin typeface="Arial"/>
              </a:rPr>
              <a:t>01</a:t>
            </a:r>
          </a:p>
        </p:txBody>
      </p:sp>
      <p:sp>
        <p:nvSpPr>
          <p:cNvPr id="5" name="TextBox 4"/>
          <p:cNvSpPr txBox="1"/>
          <p:nvPr/>
        </p:nvSpPr>
        <p:spPr>
          <a:xfrm>
            <a:off x="896112" y="3429000"/>
            <a:ext cx="10058400" cy="822960"/>
          </a:xfrm>
          <a:prstGeom prst="rect">
            <a:avLst/>
          </a:prstGeom>
          <a:noFill/>
        </p:spPr>
        <p:txBody>
          <a:bodyPr wrap="square" anchor="t" lIns="0" rIns="0" tIns="0" bIns="0">
            <a:spAutoFit/>
          </a:bodyPr>
          <a:lstStyle/>
          <a:p>
            <a:pPr algn="l">
              <a:lnSpc>
                <a:spcPct val="100000"/>
              </a:lnSpc>
            </a:pPr>
            <a:r>
              <a:rPr sz="4400" b="1" i="0">
                <a:solidFill>
                  <a:srgbClr val="F5F5F5"/>
                </a:solidFill>
                <a:latin typeface="Arial"/>
              </a:rPr>
              <a:t>Infraestructura</a:t>
            </a:r>
          </a:p>
        </p:txBody>
      </p:sp>
      <p:sp>
        <p:nvSpPr>
          <p:cNvPr id="6" name="Rectangle 5"/>
          <p:cNvSpPr/>
          <p:nvPr/>
        </p:nvSpPr>
        <p:spPr>
          <a:xfrm>
            <a:off x="914400" y="4343400"/>
            <a:ext cx="118872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26280"/>
            <a:ext cx="9601200" cy="548640"/>
          </a:xfrm>
          <a:prstGeom prst="rect">
            <a:avLst/>
          </a:prstGeom>
          <a:noFill/>
        </p:spPr>
        <p:txBody>
          <a:bodyPr wrap="square" anchor="t" lIns="0" rIns="0" tIns="0" bIns="0">
            <a:spAutoFit/>
          </a:bodyPr>
          <a:lstStyle/>
          <a:p>
            <a:pPr algn="l">
              <a:lnSpc>
                <a:spcPct val="100000"/>
              </a:lnSpc>
            </a:pPr>
            <a:r>
              <a:rPr sz="1600" b="0" i="0">
                <a:solidFill>
                  <a:srgbClr val="A0A0A8"/>
                </a:solidFill>
                <a:latin typeface="Arial"/>
              </a:rPr>
              <a:t>Tres capas independientes: cada una se despliega, escala y falla por separado.</a:t>
            </a:r>
          </a:p>
        </p:txBody>
      </p:sp>
      <p:sp>
        <p:nvSpPr>
          <p:cNvPr id="8" name="Oval 7"/>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10" name="TextBox 9"/>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INFRAESTRUCTURA</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Vista general de la arquitectura</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04</a:t>
            </a:r>
          </a:p>
        </p:txBody>
      </p:sp>
      <p:sp>
        <p:nvSpPr>
          <p:cNvPr id="10" name="Rounded Rectangle 9"/>
          <p:cNvSpPr/>
          <p:nvPr/>
        </p:nvSpPr>
        <p:spPr>
          <a:xfrm>
            <a:off x="548640" y="1920240"/>
            <a:ext cx="3383280" cy="278892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20240"/>
            <a:ext cx="3383280" cy="508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084832"/>
            <a:ext cx="30175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Frontend  ·  SSR</a:t>
            </a:r>
          </a:p>
        </p:txBody>
      </p:sp>
      <p:sp>
        <p:nvSpPr>
          <p:cNvPr id="13" name="TextBox 12"/>
          <p:cNvSpPr txBox="1"/>
          <p:nvPr/>
        </p:nvSpPr>
        <p:spPr>
          <a:xfrm>
            <a:off x="749808" y="2487168"/>
            <a:ext cx="3017520" cy="214884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Next.js 16 (App Router)</a:t>
            </a:r>
          </a:p>
          <a:p>
            <a:pPr>
              <a:lnSpc>
                <a:spcPct val="104000"/>
              </a:lnSpc>
              <a:spcAft>
                <a:spcPts val="500"/>
              </a:spcAft>
            </a:pPr>
            <a:r>
              <a:rPr sz="1250">
                <a:solidFill>
                  <a:srgbClr val="A0A0A8"/>
                </a:solidFill>
                <a:latin typeface="Arial"/>
              </a:rPr>
              <a:t>React 19</a:t>
            </a:r>
          </a:p>
          <a:p>
            <a:pPr>
              <a:lnSpc>
                <a:spcPct val="104000"/>
              </a:lnSpc>
              <a:spcAft>
                <a:spcPts val="500"/>
              </a:spcAft>
            </a:pPr>
            <a:r>
              <a:rPr sz="1250">
                <a:solidFill>
                  <a:srgbClr val="A0A0A8"/>
                </a:solidFill>
                <a:latin typeface="Arial"/>
              </a:rPr>
              <a:t>TanStack Query</a:t>
            </a:r>
          </a:p>
          <a:p>
            <a:pPr>
              <a:lnSpc>
                <a:spcPct val="104000"/>
              </a:lnSpc>
              <a:spcAft>
                <a:spcPts val="500"/>
              </a:spcAft>
            </a:pPr>
            <a:r>
              <a:rPr sz="1250">
                <a:solidFill>
                  <a:srgbClr val="A0A0A8"/>
                </a:solidFill>
                <a:latin typeface="Arial"/>
              </a:rPr>
              <a:t>shadcn/ui + Tailwind 4</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Deploy: Vercel</a:t>
            </a:r>
          </a:p>
        </p:txBody>
      </p:sp>
      <p:sp>
        <p:nvSpPr>
          <p:cNvPr id="14" name="Rounded Rectangle 13"/>
          <p:cNvSpPr/>
          <p:nvPr/>
        </p:nvSpPr>
        <p:spPr>
          <a:xfrm>
            <a:off x="4407408" y="1920240"/>
            <a:ext cx="3383280" cy="278892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07408" y="1920240"/>
            <a:ext cx="338328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6" y="2084832"/>
            <a:ext cx="30175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Backend  ·  API REST</a:t>
            </a:r>
          </a:p>
        </p:txBody>
      </p:sp>
      <p:sp>
        <p:nvSpPr>
          <p:cNvPr id="17" name="TextBox 16"/>
          <p:cNvSpPr txBox="1"/>
          <p:nvPr/>
        </p:nvSpPr>
        <p:spPr>
          <a:xfrm>
            <a:off x="4608576" y="2487168"/>
            <a:ext cx="3017520" cy="214884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NestJS 11 + TypeScript</a:t>
            </a:r>
          </a:p>
          <a:p>
            <a:pPr>
              <a:lnSpc>
                <a:spcPct val="104000"/>
              </a:lnSpc>
              <a:spcAft>
                <a:spcPts val="500"/>
              </a:spcAft>
            </a:pPr>
            <a:r>
              <a:rPr sz="1250">
                <a:solidFill>
                  <a:srgbClr val="A0A0A8"/>
                </a:solidFill>
                <a:latin typeface="Arial"/>
              </a:rPr>
              <a:t>Prisma 6 (ORM)</a:t>
            </a:r>
          </a:p>
          <a:p>
            <a:pPr>
              <a:lnSpc>
                <a:spcPct val="104000"/>
              </a:lnSpc>
              <a:spcAft>
                <a:spcPts val="500"/>
              </a:spcAft>
            </a:pPr>
            <a:r>
              <a:rPr sz="1250">
                <a:solidFill>
                  <a:srgbClr val="A0A0A8"/>
                </a:solidFill>
                <a:latin typeface="Arial"/>
              </a:rPr>
              <a:t>Auth JWT (Bearer)</a:t>
            </a:r>
          </a:p>
          <a:p>
            <a:pPr>
              <a:lnSpc>
                <a:spcPct val="104000"/>
              </a:lnSpc>
              <a:spcAft>
                <a:spcPts val="500"/>
              </a:spcAft>
            </a:pPr>
            <a:r>
              <a:rPr sz="1250">
                <a:solidFill>
                  <a:srgbClr val="A0A0A8"/>
                </a:solidFill>
                <a:latin typeface="Arial"/>
              </a:rPr>
              <a:t>Validación global de DTOs</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Deploy: Railway</a:t>
            </a:r>
          </a:p>
        </p:txBody>
      </p:sp>
      <p:sp>
        <p:nvSpPr>
          <p:cNvPr id="18" name="Rounded Rectangle 17"/>
          <p:cNvSpPr/>
          <p:nvPr/>
        </p:nvSpPr>
        <p:spPr>
          <a:xfrm>
            <a:off x="8266175" y="1920240"/>
            <a:ext cx="3383280" cy="278892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66175" y="1920240"/>
            <a:ext cx="3383280" cy="508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3" y="2084832"/>
            <a:ext cx="30175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Datos  ·  Servicios</a:t>
            </a:r>
          </a:p>
        </p:txBody>
      </p:sp>
      <p:sp>
        <p:nvSpPr>
          <p:cNvPr id="21" name="TextBox 20"/>
          <p:cNvSpPr txBox="1"/>
          <p:nvPr/>
        </p:nvSpPr>
        <p:spPr>
          <a:xfrm>
            <a:off x="8467343" y="2487168"/>
            <a:ext cx="3017520" cy="214884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Supabase</a:t>
            </a:r>
          </a:p>
          <a:p>
            <a:pPr>
              <a:lnSpc>
                <a:spcPct val="104000"/>
              </a:lnSpc>
              <a:spcAft>
                <a:spcPts val="500"/>
              </a:spcAft>
            </a:pPr>
            <a:r>
              <a:rPr sz="1250">
                <a:solidFill>
                  <a:srgbClr val="A0A0A8"/>
                </a:solidFill>
                <a:latin typeface="Arial"/>
              </a:rPr>
              <a:t>· PostgreSQL</a:t>
            </a:r>
          </a:p>
          <a:p>
            <a:pPr>
              <a:lnSpc>
                <a:spcPct val="104000"/>
              </a:lnSpc>
              <a:spcAft>
                <a:spcPts val="500"/>
              </a:spcAft>
            </a:pPr>
            <a:r>
              <a:rPr sz="1250">
                <a:solidFill>
                  <a:srgbClr val="A0A0A8"/>
                </a:solidFill>
                <a:latin typeface="Arial"/>
              </a:rPr>
              <a:t>· Auth (JWT)</a:t>
            </a:r>
          </a:p>
          <a:p>
            <a:pPr>
              <a:lnSpc>
                <a:spcPct val="104000"/>
              </a:lnSpc>
              <a:spcAft>
                <a:spcPts val="500"/>
              </a:spcAft>
            </a:pPr>
            <a:r>
              <a:rPr sz="1250">
                <a:solidFill>
                  <a:srgbClr val="A0A0A8"/>
                </a:solidFill>
                <a:latin typeface="Arial"/>
              </a:rPr>
              <a:t>· Storage (evidencias)</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Región: East US</a:t>
            </a:r>
          </a:p>
        </p:txBody>
      </p:sp>
      <p:sp>
        <p:nvSpPr>
          <p:cNvPr id="22" name="Right Arrow 21"/>
          <p:cNvSpPr/>
          <p:nvPr/>
        </p:nvSpPr>
        <p:spPr>
          <a:xfrm>
            <a:off x="4041648" y="3168396"/>
            <a:ext cx="310896" cy="292608"/>
          </a:xfrm>
          <a:prstGeom prst="rightArrow">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900416" y="3168396"/>
            <a:ext cx="310896" cy="292608"/>
          </a:xfrm>
          <a:prstGeom prst="rightArrow">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5074920"/>
            <a:ext cx="10972800" cy="1097280"/>
          </a:xfrm>
          <a:prstGeom prst="rect">
            <a:avLst/>
          </a:prstGeom>
          <a:noFill/>
        </p:spPr>
        <p:txBody>
          <a:bodyPr wrap="square" lIns="0" rIns="0" tIns="0" bIns="0">
            <a:spAutoFit/>
          </a:bodyPr>
          <a:lstStyle/>
          <a:p>
            <a:pPr>
              <a:lnSpc>
                <a:spcPct val="105000"/>
              </a:lnSpc>
              <a:spcAft>
                <a:spcPts val="800"/>
              </a:spcAft>
            </a:pPr>
            <a:r>
              <a:rPr sz="1500" b="1">
                <a:solidFill>
                  <a:srgbClr val="6152E8"/>
                </a:solidFill>
                <a:latin typeface="Arial"/>
              </a:rPr>
              <a:t>▸  </a:t>
            </a:r>
            <a:r>
              <a:rPr sz="1500">
                <a:solidFill>
                  <a:srgbClr val="F5F5F5"/>
                </a:solidFill>
                <a:latin typeface="Arial"/>
              </a:rPr>
              <a:t>El frontend nunca habla directo con la base: todo pasa por la API.</a:t>
            </a:r>
          </a:p>
          <a:p>
            <a:pPr>
              <a:lnSpc>
                <a:spcPct val="105000"/>
              </a:lnSpc>
              <a:spcAft>
                <a:spcPts val="800"/>
              </a:spcAft>
            </a:pPr>
            <a:r>
              <a:rPr sz="1500" b="1">
                <a:solidFill>
                  <a:srgbClr val="6152E8"/>
                </a:solidFill>
                <a:latin typeface="Arial"/>
              </a:rPr>
              <a:t>▸  </a:t>
            </a:r>
            <a:r>
              <a:rPr sz="1500">
                <a:solidFill>
                  <a:srgbClr val="F5F5F5"/>
                </a:solidFill>
                <a:latin typeface="Arial"/>
              </a:rPr>
              <a:t>Comunicación HTTPS + token JWT en cada request → un único punto de entrada controlado.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INFRAESTRUCTURA</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Frontend — Next.js 16 + Vercel</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05</a:t>
            </a:r>
          </a:p>
        </p:txBody>
      </p:sp>
      <p:sp>
        <p:nvSpPr>
          <p:cNvPr id="10" name="TextBox 9"/>
          <p:cNvSpPr txBox="1"/>
          <p:nvPr/>
        </p:nvSpPr>
        <p:spPr>
          <a:xfrm>
            <a:off x="566928" y="1828800"/>
            <a:ext cx="6492240" cy="4206240"/>
          </a:xfrm>
          <a:prstGeom prst="rect">
            <a:avLst/>
          </a:prstGeom>
          <a:noFill/>
        </p:spPr>
        <p:txBody>
          <a:bodyPr wrap="square" lIns="0" rIns="0" tIns="0" bIns="0">
            <a:spAutoFit/>
          </a:bodyPr>
          <a:lstStyle/>
          <a:p>
            <a:pPr>
              <a:lnSpc>
                <a:spcPct val="105000"/>
              </a:lnSpc>
              <a:spcAft>
                <a:spcPts val="700"/>
              </a:spcAft>
            </a:pPr>
            <a:r>
              <a:rPr sz="1500" b="1">
                <a:solidFill>
                  <a:srgbClr val="6152E8"/>
                </a:solidFill>
                <a:latin typeface="Arial"/>
              </a:rPr>
              <a:t>▸  </a:t>
            </a:r>
            <a:r>
              <a:rPr sz="1500">
                <a:solidFill>
                  <a:srgbClr val="F5F5F5"/>
                </a:solidFill>
                <a:latin typeface="Arial"/>
              </a:rPr>
              <a:t>Next.js 16 (App Router) + React 19, rendering en servidor.</a:t>
            </a:r>
          </a:p>
          <a:p>
            <a:pPr>
              <a:lnSpc>
                <a:spcPct val="105000"/>
              </a:lnSpc>
              <a:spcAft>
                <a:spcPts val="700"/>
              </a:spcAft>
            </a:pPr>
            <a:r>
              <a:rPr sz="1500" b="1">
                <a:solidFill>
                  <a:srgbClr val="6152E8"/>
                </a:solidFill>
                <a:latin typeface="Arial"/>
              </a:rPr>
              <a:t>▸  </a:t>
            </a:r>
            <a:r>
              <a:rPr sz="1500">
                <a:solidFill>
                  <a:srgbClr val="F5F5F5"/>
                </a:solidFill>
                <a:latin typeface="Arial"/>
              </a:rPr>
              <a:t>Protección de rutas en el servidor:</a:t>
            </a:r>
          </a:p>
          <a:p>
            <a:pPr lvl="1">
              <a:lnSpc>
                <a:spcPct val="105000"/>
              </a:lnSpc>
              <a:spcAft>
                <a:spcPts val="700"/>
              </a:spcAft>
            </a:pPr>
            <a:r>
              <a:rPr sz="1400">
                <a:solidFill>
                  <a:srgbClr val="707078"/>
                </a:solidFill>
                <a:latin typeface="Arial"/>
              </a:rPr>
              <a:t>      –   </a:t>
            </a:r>
            <a:r>
              <a:rPr sz="1400">
                <a:solidFill>
                  <a:srgbClr val="A0A0A8"/>
                </a:solidFill>
                <a:latin typeface="Arial"/>
              </a:rPr>
              <a:t>middleware valida la sesión (supabase.auth.getUser) en cada request</a:t>
            </a:r>
          </a:p>
          <a:p>
            <a:pPr lvl="1">
              <a:lnSpc>
                <a:spcPct val="105000"/>
              </a:lnSpc>
              <a:spcAft>
                <a:spcPts val="700"/>
              </a:spcAft>
            </a:pPr>
            <a:r>
              <a:rPr sz="1400">
                <a:solidFill>
                  <a:srgbClr val="707078"/>
                </a:solidFill>
                <a:latin typeface="Arial"/>
              </a:rPr>
              <a:t>      –   </a:t>
            </a:r>
            <a:r>
              <a:rPr sz="1400">
                <a:solidFill>
                  <a:srgbClr val="A0A0A8"/>
                </a:solidFill>
                <a:latin typeface="Arial"/>
              </a:rPr>
              <a:t>redirige a /login si no hay sesión, antes de renderizar</a:t>
            </a:r>
          </a:p>
          <a:p>
            <a:pPr>
              <a:lnSpc>
                <a:spcPct val="105000"/>
              </a:lnSpc>
              <a:spcAft>
                <a:spcPts val="700"/>
              </a:spcAft>
            </a:pPr>
            <a:r>
              <a:rPr sz="1500" b="1">
                <a:solidFill>
                  <a:srgbClr val="6152E8"/>
                </a:solidFill>
                <a:latin typeface="Arial"/>
              </a:rPr>
              <a:t>▸  </a:t>
            </a:r>
            <a:r>
              <a:rPr sz="1500">
                <a:solidFill>
                  <a:srgbClr val="F5F5F5"/>
                </a:solidFill>
                <a:latin typeface="Arial"/>
              </a:rPr>
              <a:t>Sesión en cookies vía @supabase/ssr (no localStorage → menos XSS).</a:t>
            </a:r>
          </a:p>
          <a:p>
            <a:pPr>
              <a:lnSpc>
                <a:spcPct val="105000"/>
              </a:lnSpc>
              <a:spcAft>
                <a:spcPts val="700"/>
              </a:spcAft>
            </a:pPr>
            <a:r>
              <a:rPr sz="1500" b="1">
                <a:solidFill>
                  <a:srgbClr val="6152E8"/>
                </a:solidFill>
                <a:latin typeface="Arial"/>
              </a:rPr>
              <a:t>▸  </a:t>
            </a:r>
            <a:r>
              <a:rPr sz="1500">
                <a:solidFill>
                  <a:srgbClr val="F5F5F5"/>
                </a:solidFill>
                <a:latin typeface="Arial"/>
              </a:rPr>
              <a:t>TanStack Query para estado de servidor y caché.</a:t>
            </a:r>
          </a:p>
          <a:p>
            <a:pPr>
              <a:lnSpc>
                <a:spcPct val="105000"/>
              </a:lnSpc>
              <a:spcAft>
                <a:spcPts val="700"/>
              </a:spcAft>
            </a:pPr>
            <a:r>
              <a:rPr sz="1500" b="1">
                <a:solidFill>
                  <a:srgbClr val="6152E8"/>
                </a:solidFill>
                <a:latin typeface="Arial"/>
              </a:rPr>
              <a:t>▸  </a:t>
            </a:r>
            <a:r>
              <a:rPr sz="1500">
                <a:solidFill>
                  <a:srgbClr val="F5F5F5"/>
                </a:solidFill>
                <a:latin typeface="Arial"/>
              </a:rPr>
              <a:t>shadcn + Tailwind 4 · formularios validados con zod.</a:t>
            </a:r>
          </a:p>
          <a:p>
            <a:pPr>
              <a:lnSpc>
                <a:spcPct val="105000"/>
              </a:lnSpc>
              <a:spcAft>
                <a:spcPts val="700"/>
              </a:spcAft>
            </a:pPr>
            <a:r>
              <a:rPr sz="1500" b="1">
                <a:solidFill>
                  <a:srgbClr val="6152E8"/>
                </a:solidFill>
                <a:latin typeface="Arial"/>
              </a:rPr>
              <a:t>▸  </a:t>
            </a:r>
            <a:r>
              <a:rPr sz="1500">
                <a:solidFill>
                  <a:srgbClr val="F5F5F5"/>
                </a:solidFill>
                <a:latin typeface="Arial"/>
              </a:rPr>
              <a:t>authFetch adjunta el token como Bearer (auto-refresh + retry en 401).</a:t>
            </a:r>
          </a:p>
          <a:p>
            <a:pPr>
              <a:lnSpc>
                <a:spcPct val="105000"/>
              </a:lnSpc>
              <a:spcAft>
                <a:spcPts val="700"/>
              </a:spcAft>
            </a:pPr>
            <a:r>
              <a:rPr sz="1500" b="1">
                <a:solidFill>
                  <a:srgbClr val="6152E8"/>
                </a:solidFill>
                <a:latin typeface="Arial"/>
              </a:rPr>
              <a:t>▸  </a:t>
            </a:r>
            <a:r>
              <a:rPr sz="1500">
                <a:solidFill>
                  <a:srgbClr val="F5F5F5"/>
                </a:solidFill>
                <a:latin typeface="Arial"/>
              </a:rPr>
              <a:t>El build de producción falla si faltan las env vars de Supabase.</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Por qué importa</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Sin lógica de negocio ni llaves secretas en el cliente.</a:t>
            </a:r>
          </a:p>
          <a:p>
            <a:pPr>
              <a:lnSpc>
                <a:spcPct val="104000"/>
              </a:lnSpc>
              <a:spcAft>
                <a:spcPts val="500"/>
              </a:spcAft>
            </a:pPr>
            <a:r>
              <a:rPr sz="1250">
                <a:solidFill>
                  <a:srgbClr val="A0A0A8"/>
                </a:solidFill>
                <a:latin typeface="Arial"/>
              </a:rPr>
              <a:t>Protección server-side: no depende de 'esconder un botón'.</a:t>
            </a:r>
          </a:p>
          <a:p>
            <a:pPr>
              <a:lnSpc>
                <a:spcPct val="104000"/>
              </a:lnSpc>
              <a:spcAft>
                <a:spcPts val="500"/>
              </a:spcAft>
            </a:pPr>
            <a:r>
              <a:rPr sz="1250">
                <a:solidFill>
                  <a:srgbClr val="A0A0A8"/>
                </a:solidFill>
                <a:latin typeface="Arial"/>
              </a:rPr>
              <a:t>Cookies &gt; localStorage para la sesión.</a:t>
            </a:r>
          </a:p>
          <a:p>
            <a:pPr>
              <a:lnSpc>
                <a:spcPct val="104000"/>
              </a:lnSpc>
              <a:spcAft>
                <a:spcPts val="500"/>
              </a:spcAft>
            </a:pPr>
            <a:r>
              <a:rPr sz="1250">
                <a:solidFill>
                  <a:srgbClr val="A0A0A8"/>
                </a:solidFill>
                <a:latin typeface="Arial"/>
              </a:rPr>
              <a:t>Token refrescado de forma transparente.</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producto/tract-front  (paquete trackt-front)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INFRAESTRUCTURA</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Backend / API — NestJS 11</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06</a:t>
            </a:r>
          </a:p>
        </p:txBody>
      </p:sp>
      <p:sp>
        <p:nvSpPr>
          <p:cNvPr id="10" name="TextBox 9"/>
          <p:cNvSpPr txBox="1"/>
          <p:nvPr/>
        </p:nvSpPr>
        <p:spPr>
          <a:xfrm>
            <a:off x="566928" y="1828800"/>
            <a:ext cx="6492240" cy="4206240"/>
          </a:xfrm>
          <a:prstGeom prst="rect">
            <a:avLst/>
          </a:prstGeom>
          <a:noFill/>
        </p:spPr>
        <p:txBody>
          <a:bodyPr wrap="square" lIns="0" rIns="0" tIns="0" bIns="0">
            <a:spAutoFit/>
          </a:bodyPr>
          <a:lstStyle/>
          <a:p>
            <a:pPr>
              <a:lnSpc>
                <a:spcPct val="105000"/>
              </a:lnSpc>
              <a:spcAft>
                <a:spcPts val="800"/>
              </a:spcAft>
            </a:pPr>
            <a:r>
              <a:rPr sz="1500" b="1">
                <a:solidFill>
                  <a:srgbClr val="6152E8"/>
                </a:solidFill>
                <a:latin typeface="Arial"/>
              </a:rPr>
              <a:t>▸  </a:t>
            </a:r>
            <a:r>
              <a:rPr sz="1500">
                <a:solidFill>
                  <a:srgbClr val="F5F5F5"/>
                </a:solidFill>
                <a:latin typeface="Arial"/>
              </a:rPr>
              <a:t>NestJS 11 + TypeScript: arquitectura modular (un módulo por dominio).</a:t>
            </a:r>
          </a:p>
          <a:p>
            <a:pPr>
              <a:lnSpc>
                <a:spcPct val="105000"/>
              </a:lnSpc>
              <a:spcAft>
                <a:spcPts val="800"/>
              </a:spcAft>
            </a:pPr>
            <a:r>
              <a:rPr sz="1500" b="1">
                <a:solidFill>
                  <a:srgbClr val="6152E8"/>
                </a:solidFill>
                <a:latin typeface="Arial"/>
              </a:rPr>
              <a:t>▸  </a:t>
            </a:r>
            <a:r>
              <a:rPr sz="1500">
                <a:solidFill>
                  <a:srgbClr val="F5F5F5"/>
                </a:solidFill>
                <a:latin typeface="Arial"/>
              </a:rPr>
              <a:t>Prisma 6 como ORM → PostgreSQL (queries tipadas, anti-inyección).</a:t>
            </a:r>
          </a:p>
          <a:p>
            <a:pPr>
              <a:lnSpc>
                <a:spcPct val="105000"/>
              </a:lnSpc>
              <a:spcAft>
                <a:spcPts val="800"/>
              </a:spcAft>
            </a:pPr>
            <a:r>
              <a:rPr sz="1500" b="1">
                <a:solidFill>
                  <a:srgbClr val="6152E8"/>
                </a:solidFill>
                <a:latin typeface="Arial"/>
              </a:rPr>
              <a:t>▸  </a:t>
            </a:r>
            <a:r>
              <a:rPr sz="1500">
                <a:solidFill>
                  <a:srgbClr val="F5F5F5"/>
                </a:solidFill>
                <a:latin typeface="Arial"/>
              </a:rPr>
              <a:t>Validación global con ValidationPipe:</a:t>
            </a:r>
          </a:p>
          <a:p>
            <a:pPr lvl="1">
              <a:lnSpc>
                <a:spcPct val="105000"/>
              </a:lnSpc>
              <a:spcAft>
                <a:spcPts val="800"/>
              </a:spcAft>
            </a:pPr>
            <a:r>
              <a:rPr sz="1400">
                <a:solidFill>
                  <a:srgbClr val="707078"/>
                </a:solidFill>
                <a:latin typeface="Arial"/>
              </a:rPr>
              <a:t>      –   </a:t>
            </a:r>
            <a:r>
              <a:rPr sz="1400">
                <a:solidFill>
                  <a:srgbClr val="A0A0A8"/>
                </a:solidFill>
                <a:latin typeface="Arial"/>
              </a:rPr>
              <a:t>whitelist → descarta campos no declarados en el DTO</a:t>
            </a:r>
          </a:p>
          <a:p>
            <a:pPr lvl="1">
              <a:lnSpc>
                <a:spcPct val="105000"/>
              </a:lnSpc>
              <a:spcAft>
                <a:spcPts val="800"/>
              </a:spcAft>
            </a:pPr>
            <a:r>
              <a:rPr sz="1400">
                <a:solidFill>
                  <a:srgbClr val="707078"/>
                </a:solidFill>
                <a:latin typeface="Arial"/>
              </a:rPr>
              <a:t>      –   </a:t>
            </a:r>
            <a:r>
              <a:rPr sz="1400">
                <a:solidFill>
                  <a:srgbClr val="A0A0A8"/>
                </a:solidFill>
                <a:latin typeface="Arial"/>
              </a:rPr>
              <a:t>transform → convierte y valida tipos antes de la lógica</a:t>
            </a:r>
          </a:p>
          <a:p>
            <a:pPr>
              <a:lnSpc>
                <a:spcPct val="105000"/>
              </a:lnSpc>
              <a:spcAft>
                <a:spcPts val="800"/>
              </a:spcAft>
            </a:pPr>
            <a:r>
              <a:rPr sz="1500" b="1">
                <a:solidFill>
                  <a:srgbClr val="6152E8"/>
                </a:solidFill>
                <a:latin typeface="Arial"/>
              </a:rPr>
              <a:t>▸  </a:t>
            </a:r>
            <a:r>
              <a:rPr sz="1500">
                <a:solidFill>
                  <a:srgbClr val="F5F5F5"/>
                </a:solidFill>
                <a:latin typeface="Arial"/>
              </a:rPr>
              <a:t>Ningún dato entra a la API sin pasar por un filtro.</a:t>
            </a:r>
          </a:p>
          <a:p>
            <a:pPr>
              <a:lnSpc>
                <a:spcPct val="105000"/>
              </a:lnSpc>
              <a:spcAft>
                <a:spcPts val="800"/>
              </a:spcAft>
            </a:pPr>
            <a:r>
              <a:rPr sz="1500" b="1">
                <a:solidFill>
                  <a:srgbClr val="6152E8"/>
                </a:solidFill>
                <a:latin typeface="Arial"/>
              </a:rPr>
              <a:t>▸  </a:t>
            </a:r>
            <a:r>
              <a:rPr sz="1500">
                <a:solidFill>
                  <a:srgbClr val="F5F5F5"/>
                </a:solidFill>
                <a:latin typeface="Arial"/>
              </a:rPr>
              <a:t>Deploy en Railway (Node).</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Módulos de dominio</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auth · tenant</a:t>
            </a:r>
          </a:p>
          <a:p>
            <a:pPr>
              <a:lnSpc>
                <a:spcPct val="104000"/>
              </a:lnSpc>
              <a:spcAft>
                <a:spcPts val="500"/>
              </a:spcAft>
            </a:pPr>
            <a:r>
              <a:rPr sz="1250">
                <a:solidFill>
                  <a:srgbClr val="A0A0A8"/>
                </a:solidFill>
                <a:latin typeface="Arial"/>
              </a:rPr>
              <a:t>equipos · usuarios</a:t>
            </a:r>
          </a:p>
          <a:p>
            <a:pPr>
              <a:lnSpc>
                <a:spcPct val="104000"/>
              </a:lnSpc>
              <a:spcAft>
                <a:spcPts val="500"/>
              </a:spcAft>
            </a:pPr>
            <a:r>
              <a:rPr sz="1250">
                <a:solidFill>
                  <a:srgbClr val="A0A0A8"/>
                </a:solidFill>
                <a:latin typeface="Arial"/>
              </a:rPr>
              <a:t>ordenes · tickets</a:t>
            </a:r>
          </a:p>
          <a:p>
            <a:pPr>
              <a:lnSpc>
                <a:spcPct val="104000"/>
              </a:lnSpc>
              <a:spcAft>
                <a:spcPts val="500"/>
              </a:spcAft>
            </a:pPr>
            <a:r>
              <a:rPr sz="1250">
                <a:solidFill>
                  <a:srgbClr val="A0A0A8"/>
                </a:solidFill>
                <a:latin typeface="Arial"/>
              </a:rPr>
              <a:t>evidencias</a:t>
            </a:r>
          </a:p>
          <a:p>
            <a:pPr>
              <a:lnSpc>
                <a:spcPct val="104000"/>
              </a:lnSpc>
              <a:spcAft>
                <a:spcPts val="500"/>
              </a:spcAft>
            </a:pPr>
            <a:r>
              <a:rPr sz="1250">
                <a:solidFill>
                  <a:srgbClr val="A0A0A8"/>
                </a:solidFill>
                <a:latin typeface="Arial"/>
              </a:rPr>
              <a:t>inventario</a:t>
            </a:r>
          </a:p>
          <a:p>
            <a:pPr>
              <a:lnSpc>
                <a:spcPct val="104000"/>
              </a:lnSpc>
              <a:spcAft>
                <a:spcPts val="500"/>
              </a:spcAft>
            </a:pPr>
            <a:r>
              <a:rPr sz="1250">
                <a:solidFill>
                  <a:srgbClr val="A0A0A8"/>
                </a:solidFill>
                <a:latin typeface="Arial"/>
              </a:rPr>
              <a:t>notificaciones</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9 módulos aislados → reglas de seguridad por módulo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INFRAESTRUCTURA</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Base de datos — Supabase PostgreSQL</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07</a:t>
            </a:r>
          </a:p>
        </p:txBody>
      </p:sp>
      <p:sp>
        <p:nvSpPr>
          <p:cNvPr id="10" name="TextBox 9"/>
          <p:cNvSpPr txBox="1"/>
          <p:nvPr/>
        </p:nvSpPr>
        <p:spPr>
          <a:xfrm>
            <a:off x="566928" y="1828800"/>
            <a:ext cx="6492240" cy="4206240"/>
          </a:xfrm>
          <a:prstGeom prst="rect">
            <a:avLst/>
          </a:prstGeom>
          <a:noFill/>
        </p:spPr>
        <p:txBody>
          <a:bodyPr wrap="square" lIns="0" rIns="0" tIns="0" bIns="0">
            <a:spAutoFit/>
          </a:bodyPr>
          <a:lstStyle/>
          <a:p>
            <a:pPr>
              <a:lnSpc>
                <a:spcPct val="105000"/>
              </a:lnSpc>
              <a:spcAft>
                <a:spcPts val="900"/>
              </a:spcAft>
            </a:pPr>
            <a:r>
              <a:rPr sz="1500" b="1">
                <a:solidFill>
                  <a:srgbClr val="6152E8"/>
                </a:solidFill>
                <a:latin typeface="Arial"/>
              </a:rPr>
              <a:t>▸  </a:t>
            </a:r>
            <a:r>
              <a:rPr sz="1500">
                <a:solidFill>
                  <a:srgbClr val="F5F5F5"/>
                </a:solidFill>
                <a:latin typeface="Arial"/>
              </a:rPr>
              <a:t>PostgreSQL administrada por Supabase (región East US).</a:t>
            </a:r>
          </a:p>
          <a:p>
            <a:pPr>
              <a:lnSpc>
                <a:spcPct val="105000"/>
              </a:lnSpc>
              <a:spcAft>
                <a:spcPts val="900"/>
              </a:spcAft>
            </a:pPr>
            <a:r>
              <a:rPr sz="1500" b="1">
                <a:solidFill>
                  <a:srgbClr val="6152E8"/>
                </a:solidFill>
                <a:latin typeface="Arial"/>
              </a:rPr>
              <a:t>▸  </a:t>
            </a:r>
            <a:r>
              <a:rPr sz="1500">
                <a:solidFill>
                  <a:srgbClr val="F5F5F5"/>
                </a:solidFill>
                <a:latin typeface="Arial"/>
              </a:rPr>
              <a:t>Conexión vía pooler (modo transacción, 6543) en runtime.</a:t>
            </a:r>
          </a:p>
          <a:p>
            <a:pPr>
              <a:lnSpc>
                <a:spcPct val="105000"/>
              </a:lnSpc>
              <a:spcAft>
                <a:spcPts val="900"/>
              </a:spcAft>
            </a:pPr>
            <a:r>
              <a:rPr sz="1500" b="1">
                <a:solidFill>
                  <a:srgbClr val="6152E8"/>
                </a:solidFill>
                <a:latin typeface="Arial"/>
              </a:rPr>
              <a:t>▸  </a:t>
            </a:r>
            <a:r>
              <a:rPr sz="1500">
                <a:solidFill>
                  <a:srgbClr val="F5F5F5"/>
                </a:solidFill>
                <a:latin typeface="Arial"/>
              </a:rPr>
              <a:t>Conexión directa (5432) sólo para migraciones.</a:t>
            </a:r>
          </a:p>
          <a:p>
            <a:pPr>
              <a:lnSpc>
                <a:spcPct val="105000"/>
              </a:lnSpc>
              <a:spcAft>
                <a:spcPts val="900"/>
              </a:spcAft>
            </a:pPr>
            <a:r>
              <a:rPr sz="1500" b="1">
                <a:solidFill>
                  <a:srgbClr val="6152E8"/>
                </a:solidFill>
                <a:latin typeface="Arial"/>
              </a:rPr>
              <a:t>▸  </a:t>
            </a:r>
            <a:r>
              <a:rPr sz="1500">
                <a:solidFill>
                  <a:srgbClr val="F5F5F5"/>
                </a:solidFill>
                <a:latin typeface="Arial"/>
              </a:rPr>
              <a:t>sslmode=require → tráfico a la DB siempre cifrado.</a:t>
            </a:r>
          </a:p>
          <a:p>
            <a:pPr>
              <a:lnSpc>
                <a:spcPct val="105000"/>
              </a:lnSpc>
              <a:spcAft>
                <a:spcPts val="900"/>
              </a:spcAft>
            </a:pPr>
            <a:r>
              <a:rPr sz="1500" b="1">
                <a:solidFill>
                  <a:srgbClr val="6152E8"/>
                </a:solidFill>
                <a:latin typeface="Arial"/>
              </a:rPr>
              <a:t>▸  </a:t>
            </a:r>
            <a:r>
              <a:rPr sz="1500">
                <a:solidFill>
                  <a:srgbClr val="9B8FFF"/>
                </a:solidFill>
                <a:latin typeface="Arial"/>
              </a:rPr>
              <a:t>tenant_id en TODAS las tablas de negocio → multi-tenant desde el diseño.</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Modelo de datos</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Tenant · Equipo</a:t>
            </a:r>
          </a:p>
          <a:p>
            <a:pPr>
              <a:lnSpc>
                <a:spcPct val="104000"/>
              </a:lnSpc>
              <a:spcAft>
                <a:spcPts val="500"/>
              </a:spcAft>
            </a:pPr>
            <a:r>
              <a:rPr sz="1250">
                <a:solidFill>
                  <a:srgbClr val="A0A0A8"/>
                </a:solidFill>
                <a:latin typeface="Arial"/>
              </a:rPr>
              <a:t>OrdenTrabajo · Ticket</a:t>
            </a:r>
          </a:p>
          <a:p>
            <a:pPr>
              <a:lnSpc>
                <a:spcPct val="104000"/>
              </a:lnSpc>
              <a:spcAft>
                <a:spcPts val="500"/>
              </a:spcAft>
            </a:pPr>
            <a:r>
              <a:rPr sz="1250">
                <a:solidFill>
                  <a:srgbClr val="A0A0A8"/>
                </a:solidFill>
                <a:latin typeface="Arial"/>
              </a:rPr>
              <a:t>Evidencia</a:t>
            </a:r>
          </a:p>
          <a:p>
            <a:pPr>
              <a:lnSpc>
                <a:spcPct val="104000"/>
              </a:lnSpc>
              <a:spcAft>
                <a:spcPts val="500"/>
              </a:spcAft>
            </a:pPr>
            <a:r>
              <a:rPr sz="1250">
                <a:solidFill>
                  <a:srgbClr val="A0A0A8"/>
                </a:solidFill>
                <a:latin typeface="Arial"/>
              </a:rPr>
              <a:t>Repuesto · InventarioStock</a:t>
            </a:r>
          </a:p>
          <a:p>
            <a:pPr>
              <a:lnSpc>
                <a:spcPct val="104000"/>
              </a:lnSpc>
              <a:spcAft>
                <a:spcPts val="500"/>
              </a:spcAft>
            </a:pPr>
            <a:r>
              <a:rPr sz="1250">
                <a:solidFill>
                  <a:srgbClr val="A0A0A8"/>
                </a:solidFill>
                <a:latin typeface="Arial"/>
              </a:rPr>
              <a:t>ReservaRepuesto</a:t>
            </a:r>
          </a:p>
          <a:p>
            <a:pPr>
              <a:lnSpc>
                <a:spcPct val="104000"/>
              </a:lnSpc>
              <a:spcAft>
                <a:spcPts val="500"/>
              </a:spcAft>
            </a:pPr>
            <a:r>
              <a:rPr sz="1250">
                <a:solidFill>
                  <a:srgbClr val="A0A0A8"/>
                </a:solidFill>
                <a:latin typeface="Arial"/>
              </a:rPr>
              <a:t>MovimientoInventario</a:t>
            </a:r>
          </a:p>
          <a:p>
            <a:pPr>
              <a:lnSpc>
                <a:spcPct val="104000"/>
              </a:lnSpc>
              <a:spcAft>
                <a:spcPts val="500"/>
              </a:spcAft>
            </a:pPr>
            <a:r>
              <a:rPr sz="1250">
                <a:solidFill>
                  <a:srgbClr val="A0A0A8"/>
                </a:solidFill>
                <a:latin typeface="Arial"/>
              </a:rPr>
              <a:t>Notificacion</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Cubre todo el flujo del taller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286000"/>
            <a:ext cx="3657600" cy="1097280"/>
          </a:xfrm>
          <a:prstGeom prst="rect">
            <a:avLst/>
          </a:prstGeom>
          <a:noFill/>
        </p:spPr>
        <p:txBody>
          <a:bodyPr wrap="square" anchor="t" lIns="0" rIns="0" tIns="0" bIns="0">
            <a:spAutoFit/>
          </a:bodyPr>
          <a:lstStyle/>
          <a:p>
            <a:pPr algn="l">
              <a:lnSpc>
                <a:spcPct val="100000"/>
              </a:lnSpc>
            </a:pPr>
            <a:r>
              <a:rPr sz="9000" b="1" i="0">
                <a:solidFill>
                  <a:srgbClr val="1D1D21"/>
                </a:solidFill>
                <a:latin typeface="Arial"/>
              </a:rPr>
              <a:t>02</a:t>
            </a:r>
          </a:p>
        </p:txBody>
      </p:sp>
      <p:sp>
        <p:nvSpPr>
          <p:cNvPr id="5" name="TextBox 4"/>
          <p:cNvSpPr txBox="1"/>
          <p:nvPr/>
        </p:nvSpPr>
        <p:spPr>
          <a:xfrm>
            <a:off x="896112" y="3429000"/>
            <a:ext cx="10058400" cy="822960"/>
          </a:xfrm>
          <a:prstGeom prst="rect">
            <a:avLst/>
          </a:prstGeom>
          <a:noFill/>
        </p:spPr>
        <p:txBody>
          <a:bodyPr wrap="square" anchor="t" lIns="0" rIns="0" tIns="0" bIns="0">
            <a:spAutoFit/>
          </a:bodyPr>
          <a:lstStyle/>
          <a:p>
            <a:pPr algn="l">
              <a:lnSpc>
                <a:spcPct val="100000"/>
              </a:lnSpc>
            </a:pPr>
            <a:r>
              <a:rPr sz="4400" b="1" i="0">
                <a:solidFill>
                  <a:srgbClr val="F5F5F5"/>
                </a:solidFill>
                <a:latin typeface="Arial"/>
              </a:rPr>
              <a:t>Seguridad</a:t>
            </a:r>
          </a:p>
        </p:txBody>
      </p:sp>
      <p:sp>
        <p:nvSpPr>
          <p:cNvPr id="6" name="Rectangle 5"/>
          <p:cNvSpPr/>
          <p:nvPr/>
        </p:nvSpPr>
        <p:spPr>
          <a:xfrm>
            <a:off x="914400" y="4343400"/>
            <a:ext cx="118872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26280"/>
            <a:ext cx="9601200" cy="548640"/>
          </a:xfrm>
          <a:prstGeom prst="rect">
            <a:avLst/>
          </a:prstGeom>
          <a:noFill/>
        </p:spPr>
        <p:txBody>
          <a:bodyPr wrap="square" anchor="t" lIns="0" rIns="0" tIns="0" bIns="0">
            <a:spAutoFit/>
          </a:bodyPr>
          <a:lstStyle/>
          <a:p>
            <a:pPr algn="l">
              <a:lnSpc>
                <a:spcPct val="100000"/>
              </a:lnSpc>
            </a:pPr>
            <a:r>
              <a:rPr sz="1600" b="0" i="0">
                <a:solidFill>
                  <a:srgbClr val="A0A0A8"/>
                </a:solidFill>
                <a:latin typeface="Arial"/>
              </a:rPr>
              <a:t>Defensa en profundidad: varias capas, no una sola.</a:t>
            </a:r>
          </a:p>
        </p:txBody>
      </p:sp>
      <p:sp>
        <p:nvSpPr>
          <p:cNvPr id="8" name="Oval 7"/>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10" name="TextBox 9"/>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Autenticación — ¿quién eres?</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09</a:t>
            </a:r>
          </a:p>
        </p:txBody>
      </p:sp>
      <p:sp>
        <p:nvSpPr>
          <p:cNvPr id="10" name="TextBox 9"/>
          <p:cNvSpPr txBox="1"/>
          <p:nvPr/>
        </p:nvSpPr>
        <p:spPr>
          <a:xfrm>
            <a:off x="566928" y="1828800"/>
            <a:ext cx="6400800" cy="4206240"/>
          </a:xfrm>
          <a:prstGeom prst="rect">
            <a:avLst/>
          </a:prstGeom>
          <a:noFill/>
        </p:spPr>
        <p:txBody>
          <a:bodyPr wrap="square" lIns="0" rIns="0" tIns="0" bIns="0">
            <a:spAutoFit/>
          </a:bodyPr>
          <a:lstStyle/>
          <a:p>
            <a:pPr>
              <a:lnSpc>
                <a:spcPct val="105000"/>
              </a:lnSpc>
              <a:spcAft>
                <a:spcPts val="600"/>
              </a:spcAft>
            </a:pPr>
            <a:r>
              <a:rPr sz="1450" b="1">
                <a:solidFill>
                  <a:srgbClr val="6152E8"/>
                </a:solidFill>
                <a:latin typeface="Arial"/>
              </a:rPr>
              <a:t>▸  </a:t>
            </a:r>
            <a:r>
              <a:rPr sz="1450">
                <a:solidFill>
                  <a:srgbClr val="F5F5F5"/>
                </a:solidFill>
                <a:latin typeface="Arial"/>
              </a:rPr>
              <a:t>Auth delegada a Supabase Auth (no manejamos passwords).</a:t>
            </a:r>
          </a:p>
          <a:p>
            <a:pPr>
              <a:lnSpc>
                <a:spcPct val="105000"/>
              </a:lnSpc>
              <a:spcAft>
                <a:spcPts val="600"/>
              </a:spcAft>
            </a:pPr>
            <a:r>
              <a:rPr sz="1450" b="1">
                <a:solidFill>
                  <a:srgbClr val="6152E8"/>
                </a:solidFill>
                <a:latin typeface="Arial"/>
              </a:rPr>
              <a:t>▸  </a:t>
            </a:r>
            <a:r>
              <a:rPr sz="1450">
                <a:solidFill>
                  <a:srgbClr val="F5F5F5"/>
                </a:solidFill>
                <a:latin typeface="Arial"/>
              </a:rPr>
              <a:t>Cada request trae Authorization: Bearer &lt;JWT&gt;.</a:t>
            </a:r>
          </a:p>
          <a:p>
            <a:pPr>
              <a:lnSpc>
                <a:spcPct val="105000"/>
              </a:lnSpc>
              <a:spcAft>
                <a:spcPts val="600"/>
              </a:spcAft>
            </a:pPr>
            <a:r>
              <a:rPr sz="1450" b="1">
                <a:solidFill>
                  <a:srgbClr val="6152E8"/>
                </a:solidFill>
                <a:latin typeface="Arial"/>
              </a:rPr>
              <a:t>▸  </a:t>
            </a:r>
            <a:r>
              <a:rPr sz="1450">
                <a:solidFill>
                  <a:srgbClr val="F5F5F5"/>
                </a:solidFill>
                <a:latin typeface="Arial"/>
              </a:rPr>
              <a:t>AuthGuard en la API valida antes de cualquier endpoint:</a:t>
            </a:r>
          </a:p>
          <a:p>
            <a:pPr lvl="1">
              <a:lnSpc>
                <a:spcPct val="105000"/>
              </a:lnSpc>
              <a:spcAft>
                <a:spcPts val="600"/>
              </a:spcAft>
            </a:pPr>
            <a:r>
              <a:rPr sz="1350">
                <a:solidFill>
                  <a:srgbClr val="707078"/>
                </a:solidFill>
                <a:latin typeface="Arial"/>
              </a:rPr>
              <a:t>      –   </a:t>
            </a:r>
            <a:r>
              <a:rPr sz="1350">
                <a:solidFill>
                  <a:srgbClr val="A0A0A8"/>
                </a:solidFill>
                <a:latin typeface="Arial"/>
              </a:rPr>
              <a:t>extrae el token del header</a:t>
            </a:r>
          </a:p>
          <a:p>
            <a:pPr lvl="1">
              <a:lnSpc>
                <a:spcPct val="105000"/>
              </a:lnSpc>
              <a:spcAft>
                <a:spcPts val="600"/>
              </a:spcAft>
            </a:pPr>
            <a:r>
              <a:rPr sz="1350">
                <a:solidFill>
                  <a:srgbClr val="707078"/>
                </a:solidFill>
                <a:latin typeface="Arial"/>
              </a:rPr>
              <a:t>      –   </a:t>
            </a:r>
            <a:r>
              <a:rPr sz="1350">
                <a:solidFill>
                  <a:srgbClr val="A0A0A8"/>
                </a:solidFill>
                <a:latin typeface="Arial"/>
              </a:rPr>
              <a:t>lo valida contra Supabase (auth.getUser)</a:t>
            </a:r>
          </a:p>
          <a:p>
            <a:pPr lvl="1">
              <a:lnSpc>
                <a:spcPct val="105000"/>
              </a:lnSpc>
              <a:spcAft>
                <a:spcPts val="600"/>
              </a:spcAft>
            </a:pPr>
            <a:r>
              <a:rPr sz="1350">
                <a:solidFill>
                  <a:srgbClr val="707078"/>
                </a:solidFill>
                <a:latin typeface="Arial"/>
              </a:rPr>
              <a:t>      –   </a:t>
            </a:r>
            <a:r>
              <a:rPr sz="1350">
                <a:solidFill>
                  <a:srgbClr val="A0A0A8"/>
                </a:solidFill>
                <a:latin typeface="Arial"/>
              </a:rPr>
              <a:t>carga el perfil: rol + tenant desde 'profiles'</a:t>
            </a:r>
          </a:p>
          <a:p>
            <a:pPr lvl="1">
              <a:lnSpc>
                <a:spcPct val="105000"/>
              </a:lnSpc>
              <a:spcAft>
                <a:spcPts val="600"/>
              </a:spcAft>
            </a:pPr>
            <a:r>
              <a:rPr sz="1350">
                <a:solidFill>
                  <a:srgbClr val="707078"/>
                </a:solidFill>
                <a:latin typeface="Arial"/>
              </a:rPr>
              <a:t>      –   </a:t>
            </a:r>
            <a:r>
              <a:rPr sz="1350">
                <a:solidFill>
                  <a:srgbClr val="A0A0A8"/>
                </a:solidFill>
                <a:latin typeface="Arial"/>
              </a:rPr>
              <a:t>inyecta el usuario en el request</a:t>
            </a:r>
          </a:p>
          <a:p>
            <a:pPr>
              <a:lnSpc>
                <a:spcPct val="105000"/>
              </a:lnSpc>
              <a:spcAft>
                <a:spcPts val="600"/>
              </a:spcAft>
            </a:pPr>
            <a:r>
              <a:rPr sz="1450" b="1">
                <a:solidFill>
                  <a:srgbClr val="6152E8"/>
                </a:solidFill>
                <a:latin typeface="Arial"/>
              </a:rPr>
              <a:t>▸  </a:t>
            </a:r>
            <a:r>
              <a:rPr sz="1450">
                <a:solidFill>
                  <a:srgbClr val="F87171"/>
                </a:solidFill>
                <a:latin typeface="Arial"/>
              </a:rPr>
              <a:t>Sin token válido o sin perfil → 401.</a:t>
            </a:r>
          </a:p>
          <a:p>
            <a:pPr>
              <a:lnSpc>
                <a:spcPct val="105000"/>
              </a:lnSpc>
              <a:spcAft>
                <a:spcPts val="600"/>
              </a:spcAft>
            </a:pPr>
            <a:r>
              <a:rPr sz="1450" b="1">
                <a:solidFill>
                  <a:srgbClr val="6152E8"/>
                </a:solidFill>
                <a:latin typeface="Arial"/>
              </a:rPr>
              <a:t>▸  </a:t>
            </a:r>
            <a:r>
              <a:rPr sz="1450">
                <a:solidFill>
                  <a:srgbClr val="F5F5F5"/>
                </a:solidFill>
                <a:latin typeface="Arial"/>
              </a:rPr>
              <a:t>Caché de perfiles en memoria (TTL 5 min).</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Flujo del token</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1 · Login en Supabase → JWT firmado</a:t>
            </a:r>
          </a:p>
          <a:p>
            <a:pPr>
              <a:lnSpc>
                <a:spcPct val="104000"/>
              </a:lnSpc>
              <a:spcAft>
                <a:spcPts val="500"/>
              </a:spcAft>
            </a:pPr>
            <a:r>
              <a:rPr sz="1250">
                <a:solidFill>
                  <a:srgbClr val="A0A0A8"/>
                </a:solidFill>
                <a:latin typeface="Arial"/>
              </a:rPr>
              <a:t>2 · Front guarda sesión en cookie</a:t>
            </a:r>
          </a:p>
          <a:p>
            <a:pPr>
              <a:lnSpc>
                <a:spcPct val="104000"/>
              </a:lnSpc>
              <a:spcAft>
                <a:spcPts val="500"/>
              </a:spcAft>
            </a:pPr>
            <a:r>
              <a:rPr sz="1250">
                <a:solidFill>
                  <a:srgbClr val="A0A0A8"/>
                </a:solidFill>
                <a:latin typeface="Arial"/>
              </a:rPr>
              <a:t>3 · authFetch envía Bearer a la API</a:t>
            </a:r>
          </a:p>
          <a:p>
            <a:pPr>
              <a:lnSpc>
                <a:spcPct val="104000"/>
              </a:lnSpc>
              <a:spcAft>
                <a:spcPts val="500"/>
              </a:spcAft>
            </a:pPr>
            <a:r>
              <a:rPr sz="1250">
                <a:solidFill>
                  <a:srgbClr val="A0A0A8"/>
                </a:solidFill>
                <a:latin typeface="Arial"/>
              </a:rPr>
              <a:t>4 · AuthGuard valida y resuelve perfil</a:t>
            </a:r>
          </a:p>
          <a:p>
            <a:pPr>
              <a:lnSpc>
                <a:spcPct val="104000"/>
              </a:lnSpc>
              <a:spcAft>
                <a:spcPts val="500"/>
              </a:spcAft>
            </a:pPr>
            <a:r>
              <a:rPr sz="1250">
                <a:solidFill>
                  <a:srgbClr val="A0A0A8"/>
                </a:solidFill>
                <a:latin typeface="Arial"/>
              </a:rPr>
              <a:t>5 · Endpoint se ejecuta con el usuario</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No inventamos criptografía propia.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Autorización — ¿qué puedes hacer?</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10</a:t>
            </a:r>
          </a:p>
        </p:txBody>
      </p:sp>
      <p:sp>
        <p:nvSpPr>
          <p:cNvPr id="10" name="TextBox 9"/>
          <p:cNvSpPr txBox="1"/>
          <p:nvPr/>
        </p:nvSpPr>
        <p:spPr>
          <a:xfrm>
            <a:off x="566928" y="1783080"/>
            <a:ext cx="10972800" cy="914400"/>
          </a:xfrm>
          <a:prstGeom prst="rect">
            <a:avLst/>
          </a:prstGeom>
          <a:noFill/>
        </p:spPr>
        <p:txBody>
          <a:bodyPr wrap="square" lIns="0" rIns="0" tIns="0" bIns="0">
            <a:spAutoFit/>
          </a:bodyPr>
          <a:lstStyle/>
          <a:p>
            <a:pPr>
              <a:lnSpc>
                <a:spcPct val="105000"/>
              </a:lnSpc>
              <a:spcAft>
                <a:spcPts val="600"/>
              </a:spcAft>
            </a:pPr>
            <a:r>
              <a:rPr sz="1500" b="1">
                <a:solidFill>
                  <a:srgbClr val="6152E8"/>
                </a:solidFill>
                <a:latin typeface="Arial"/>
              </a:rPr>
              <a:t>▸  </a:t>
            </a:r>
            <a:r>
              <a:rPr sz="1500">
                <a:solidFill>
                  <a:srgbClr val="F5F5F5"/>
                </a:solidFill>
                <a:latin typeface="Arial"/>
              </a:rPr>
              <a:t>3 roles: admin · jefe_taller · mechanic. RolesGuard + @Roles(...) por endpoint.</a:t>
            </a:r>
          </a:p>
          <a:p>
            <a:pPr>
              <a:lnSpc>
                <a:spcPct val="105000"/>
              </a:lnSpc>
              <a:spcAft>
                <a:spcPts val="600"/>
              </a:spcAft>
            </a:pPr>
            <a:r>
              <a:rPr sz="1500" b="1">
                <a:solidFill>
                  <a:srgbClr val="6152E8"/>
                </a:solidFill>
                <a:latin typeface="Arial"/>
              </a:rPr>
              <a:t>▸  </a:t>
            </a:r>
            <a:r>
              <a:rPr sz="1500">
                <a:solidFill>
                  <a:srgbClr val="F5F5F5"/>
                </a:solidFill>
                <a:latin typeface="Arial"/>
              </a:rPr>
              <a:t>Modelo de mínimo privilegio — reglas en el código, no en la UI.</a:t>
            </a:r>
          </a:p>
        </p:txBody>
      </p:sp>
      <p:sp>
        <p:nvSpPr>
          <p:cNvPr id="11" name="Rectangle 10"/>
          <p:cNvSpPr/>
          <p:nvPr/>
        </p:nvSpPr>
        <p:spPr>
          <a:xfrm>
            <a:off x="566928" y="2880360"/>
            <a:ext cx="4937760" cy="566928"/>
          </a:xfrm>
          <a:prstGeom prst="rect">
            <a:avLst/>
          </a:prstGeom>
          <a:solidFill>
            <a:srgbClr val="3D31B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04688" y="2880360"/>
            <a:ext cx="6126480" cy="566928"/>
          </a:xfrm>
          <a:prstGeom prst="rect">
            <a:avLst/>
          </a:prstGeom>
          <a:solidFill>
            <a:srgbClr val="3D31B0"/>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880360"/>
            <a:ext cx="4663440" cy="566928"/>
          </a:xfrm>
          <a:prstGeom prst="rect">
            <a:avLst/>
          </a:prstGeom>
          <a:noFill/>
        </p:spPr>
        <p:txBody>
          <a:bodyPr wrap="square" anchor="ctr" lIns="0" rIns="0" tIns="0" bIns="0">
            <a:spAutoFit/>
          </a:bodyPr>
          <a:lstStyle/>
          <a:p>
            <a:pPr algn="l">
              <a:lnSpc>
                <a:spcPct val="100000"/>
              </a:lnSpc>
            </a:pPr>
            <a:r>
              <a:rPr sz="1400" b="1" i="0">
                <a:solidFill>
                  <a:srgbClr val="F5F5F5"/>
                </a:solidFill>
                <a:latin typeface="Arial"/>
              </a:rPr>
              <a:t>Acción sobre un ticket</a:t>
            </a:r>
          </a:p>
        </p:txBody>
      </p:sp>
      <p:sp>
        <p:nvSpPr>
          <p:cNvPr id="14" name="TextBox 13"/>
          <p:cNvSpPr txBox="1"/>
          <p:nvPr/>
        </p:nvSpPr>
        <p:spPr>
          <a:xfrm>
            <a:off x="5687568" y="2880360"/>
            <a:ext cx="5852160" cy="566928"/>
          </a:xfrm>
          <a:prstGeom prst="rect">
            <a:avLst/>
          </a:prstGeom>
          <a:noFill/>
        </p:spPr>
        <p:txBody>
          <a:bodyPr wrap="square" anchor="ctr" lIns="0" rIns="0" tIns="0" bIns="0">
            <a:spAutoFit/>
          </a:bodyPr>
          <a:lstStyle/>
          <a:p>
            <a:pPr algn="l">
              <a:lnSpc>
                <a:spcPct val="100000"/>
              </a:lnSpc>
            </a:pPr>
            <a:r>
              <a:rPr sz="1400" b="1" i="0">
                <a:solidFill>
                  <a:srgbClr val="F5F5F5"/>
                </a:solidFill>
                <a:latin typeface="Arial"/>
              </a:rPr>
              <a:t>Roles permitidos</a:t>
            </a:r>
          </a:p>
        </p:txBody>
      </p:sp>
      <p:sp>
        <p:nvSpPr>
          <p:cNvPr id="15" name="Rectangle 14"/>
          <p:cNvSpPr/>
          <p:nvPr/>
        </p:nvSpPr>
        <p:spPr>
          <a:xfrm>
            <a:off x="566928" y="3447288"/>
            <a:ext cx="4937760" cy="566928"/>
          </a:xfrm>
          <a:prstGeom prst="rect">
            <a:avLst/>
          </a:prstGeom>
          <a:solidFill>
            <a:srgbClr val="151518"/>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04688" y="3447288"/>
            <a:ext cx="6126480" cy="566928"/>
          </a:xfrm>
          <a:prstGeom prst="rect">
            <a:avLst/>
          </a:prstGeom>
          <a:solidFill>
            <a:srgbClr val="151518"/>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47288"/>
            <a:ext cx="4663440" cy="566928"/>
          </a:xfrm>
          <a:prstGeom prst="rect">
            <a:avLst/>
          </a:prstGeom>
          <a:noFill/>
        </p:spPr>
        <p:txBody>
          <a:bodyPr wrap="square" anchor="ctr" lIns="0" rIns="0" tIns="0" bIns="0">
            <a:spAutoFit/>
          </a:bodyPr>
          <a:lstStyle/>
          <a:p>
            <a:pPr algn="l">
              <a:lnSpc>
                <a:spcPct val="100000"/>
              </a:lnSpc>
            </a:pPr>
            <a:r>
              <a:rPr sz="1400" b="0" i="0">
                <a:solidFill>
                  <a:srgbClr val="F5F5F5"/>
                </a:solidFill>
                <a:latin typeface="Arial"/>
              </a:rPr>
              <a:t>Listar / ver</a:t>
            </a:r>
          </a:p>
        </p:txBody>
      </p:sp>
      <p:sp>
        <p:nvSpPr>
          <p:cNvPr id="18" name="TextBox 17"/>
          <p:cNvSpPr txBox="1"/>
          <p:nvPr/>
        </p:nvSpPr>
        <p:spPr>
          <a:xfrm>
            <a:off x="5687568" y="3447288"/>
            <a:ext cx="5852160" cy="566928"/>
          </a:xfrm>
          <a:prstGeom prst="rect">
            <a:avLst/>
          </a:prstGeom>
          <a:noFill/>
        </p:spPr>
        <p:txBody>
          <a:bodyPr wrap="square" anchor="ctr" lIns="0" rIns="0" tIns="0" bIns="0">
            <a:spAutoFit/>
          </a:bodyPr>
          <a:lstStyle/>
          <a:p>
            <a:pPr algn="l">
              <a:lnSpc>
                <a:spcPct val="100000"/>
              </a:lnSpc>
            </a:pPr>
            <a:r>
              <a:rPr sz="1400" b="0" i="0">
                <a:solidFill>
                  <a:srgbClr val="9B8FFF"/>
                </a:solidFill>
                <a:latin typeface="Consolas"/>
              </a:rPr>
              <a:t>admin · jefe_taller · mechanic</a:t>
            </a:r>
          </a:p>
        </p:txBody>
      </p:sp>
      <p:sp>
        <p:nvSpPr>
          <p:cNvPr id="19" name="Rectangle 18"/>
          <p:cNvSpPr/>
          <p:nvPr/>
        </p:nvSpPr>
        <p:spPr>
          <a:xfrm>
            <a:off x="566928" y="4014216"/>
            <a:ext cx="4937760" cy="566928"/>
          </a:xfrm>
          <a:prstGeom prst="rect">
            <a:avLst/>
          </a:prstGeom>
          <a:solidFill>
            <a:srgbClr val="1D1D21"/>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504688" y="4014216"/>
            <a:ext cx="6126480" cy="566928"/>
          </a:xfrm>
          <a:prstGeom prst="rect">
            <a:avLst/>
          </a:prstGeom>
          <a:solidFill>
            <a:srgbClr val="1D1D21"/>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014216"/>
            <a:ext cx="4663440" cy="566928"/>
          </a:xfrm>
          <a:prstGeom prst="rect">
            <a:avLst/>
          </a:prstGeom>
          <a:noFill/>
        </p:spPr>
        <p:txBody>
          <a:bodyPr wrap="square" anchor="ctr" lIns="0" rIns="0" tIns="0" bIns="0">
            <a:spAutoFit/>
          </a:bodyPr>
          <a:lstStyle/>
          <a:p>
            <a:pPr algn="l">
              <a:lnSpc>
                <a:spcPct val="100000"/>
              </a:lnSpc>
            </a:pPr>
            <a:r>
              <a:rPr sz="1400" b="0" i="0">
                <a:solidFill>
                  <a:srgbClr val="F5F5F5"/>
                </a:solidFill>
                <a:latin typeface="Arial"/>
              </a:rPr>
              <a:t>Asignar / reasignar</a:t>
            </a:r>
          </a:p>
        </p:txBody>
      </p:sp>
      <p:sp>
        <p:nvSpPr>
          <p:cNvPr id="22" name="TextBox 21"/>
          <p:cNvSpPr txBox="1"/>
          <p:nvPr/>
        </p:nvSpPr>
        <p:spPr>
          <a:xfrm>
            <a:off x="5687568" y="4014216"/>
            <a:ext cx="5852160" cy="566928"/>
          </a:xfrm>
          <a:prstGeom prst="rect">
            <a:avLst/>
          </a:prstGeom>
          <a:noFill/>
        </p:spPr>
        <p:txBody>
          <a:bodyPr wrap="square" anchor="ctr" lIns="0" rIns="0" tIns="0" bIns="0">
            <a:spAutoFit/>
          </a:bodyPr>
          <a:lstStyle/>
          <a:p>
            <a:pPr algn="l">
              <a:lnSpc>
                <a:spcPct val="100000"/>
              </a:lnSpc>
            </a:pPr>
            <a:r>
              <a:rPr sz="1400" b="0" i="0">
                <a:solidFill>
                  <a:srgbClr val="9B8FFF"/>
                </a:solidFill>
                <a:latin typeface="Consolas"/>
              </a:rPr>
              <a:t>admin · jefe_taller</a:t>
            </a:r>
          </a:p>
        </p:txBody>
      </p:sp>
      <p:sp>
        <p:nvSpPr>
          <p:cNvPr id="23" name="Rectangle 22"/>
          <p:cNvSpPr/>
          <p:nvPr/>
        </p:nvSpPr>
        <p:spPr>
          <a:xfrm>
            <a:off x="566928" y="4581144"/>
            <a:ext cx="4937760" cy="566928"/>
          </a:xfrm>
          <a:prstGeom prst="rect">
            <a:avLst/>
          </a:prstGeom>
          <a:solidFill>
            <a:srgbClr val="151518"/>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04688" y="4581144"/>
            <a:ext cx="6126480" cy="566928"/>
          </a:xfrm>
          <a:prstGeom prst="rect">
            <a:avLst/>
          </a:prstGeom>
          <a:solidFill>
            <a:srgbClr val="151518"/>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581144"/>
            <a:ext cx="4663440" cy="566928"/>
          </a:xfrm>
          <a:prstGeom prst="rect">
            <a:avLst/>
          </a:prstGeom>
          <a:noFill/>
        </p:spPr>
        <p:txBody>
          <a:bodyPr wrap="square" anchor="ctr" lIns="0" rIns="0" tIns="0" bIns="0">
            <a:spAutoFit/>
          </a:bodyPr>
          <a:lstStyle/>
          <a:p>
            <a:pPr algn="l">
              <a:lnSpc>
                <a:spcPct val="100000"/>
              </a:lnSpc>
            </a:pPr>
            <a:r>
              <a:rPr sz="1400" b="0" i="0">
                <a:solidFill>
                  <a:srgbClr val="F5F5F5"/>
                </a:solidFill>
                <a:latin typeface="Arial"/>
              </a:rPr>
              <a:t>Iniciar / finalizar</a:t>
            </a:r>
          </a:p>
        </p:txBody>
      </p:sp>
      <p:sp>
        <p:nvSpPr>
          <p:cNvPr id="26" name="TextBox 25"/>
          <p:cNvSpPr txBox="1"/>
          <p:nvPr/>
        </p:nvSpPr>
        <p:spPr>
          <a:xfrm>
            <a:off x="5687568" y="4581144"/>
            <a:ext cx="5852160" cy="566928"/>
          </a:xfrm>
          <a:prstGeom prst="rect">
            <a:avLst/>
          </a:prstGeom>
          <a:noFill/>
        </p:spPr>
        <p:txBody>
          <a:bodyPr wrap="square" anchor="ctr" lIns="0" rIns="0" tIns="0" bIns="0">
            <a:spAutoFit/>
          </a:bodyPr>
          <a:lstStyle/>
          <a:p>
            <a:pPr algn="l">
              <a:lnSpc>
                <a:spcPct val="100000"/>
              </a:lnSpc>
            </a:pPr>
            <a:r>
              <a:rPr sz="1400" b="0" i="0">
                <a:solidFill>
                  <a:srgbClr val="9B8FFF"/>
                </a:solidFill>
                <a:latin typeface="Consolas"/>
              </a:rPr>
              <a:t>mechanic (el asignado)</a:t>
            </a:r>
          </a:p>
        </p:txBody>
      </p:sp>
      <p:sp>
        <p:nvSpPr>
          <p:cNvPr id="27" name="Rectangle 26"/>
          <p:cNvSpPr/>
          <p:nvPr/>
        </p:nvSpPr>
        <p:spPr>
          <a:xfrm>
            <a:off x="566928" y="5148072"/>
            <a:ext cx="4937760" cy="566928"/>
          </a:xfrm>
          <a:prstGeom prst="rect">
            <a:avLst/>
          </a:prstGeom>
          <a:solidFill>
            <a:srgbClr val="1D1D21"/>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4688" y="5148072"/>
            <a:ext cx="6126480" cy="566928"/>
          </a:xfrm>
          <a:prstGeom prst="rect">
            <a:avLst/>
          </a:prstGeom>
          <a:solidFill>
            <a:srgbClr val="1D1D21"/>
          </a:solidFill>
          <a:ln w="9525">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5148072"/>
            <a:ext cx="4663440" cy="566928"/>
          </a:xfrm>
          <a:prstGeom prst="rect">
            <a:avLst/>
          </a:prstGeom>
          <a:noFill/>
        </p:spPr>
        <p:txBody>
          <a:bodyPr wrap="square" anchor="ctr" lIns="0" rIns="0" tIns="0" bIns="0">
            <a:spAutoFit/>
          </a:bodyPr>
          <a:lstStyle/>
          <a:p>
            <a:pPr algn="l">
              <a:lnSpc>
                <a:spcPct val="100000"/>
              </a:lnSpc>
            </a:pPr>
            <a:r>
              <a:rPr sz="1400" b="0" i="0">
                <a:solidFill>
                  <a:srgbClr val="F5F5F5"/>
                </a:solidFill>
                <a:latin typeface="Arial"/>
              </a:rPr>
              <a:t>Validar / cerrar</a:t>
            </a:r>
          </a:p>
        </p:txBody>
      </p:sp>
      <p:sp>
        <p:nvSpPr>
          <p:cNvPr id="30" name="TextBox 29"/>
          <p:cNvSpPr txBox="1"/>
          <p:nvPr/>
        </p:nvSpPr>
        <p:spPr>
          <a:xfrm>
            <a:off x="5687568" y="5148072"/>
            <a:ext cx="5852160" cy="566928"/>
          </a:xfrm>
          <a:prstGeom prst="rect">
            <a:avLst/>
          </a:prstGeom>
          <a:noFill/>
        </p:spPr>
        <p:txBody>
          <a:bodyPr wrap="square" anchor="ctr" lIns="0" rIns="0" tIns="0" bIns="0">
            <a:spAutoFit/>
          </a:bodyPr>
          <a:lstStyle/>
          <a:p>
            <a:pPr algn="l">
              <a:lnSpc>
                <a:spcPct val="100000"/>
              </a:lnSpc>
            </a:pPr>
            <a:r>
              <a:rPr sz="1400" b="0" i="0">
                <a:solidFill>
                  <a:srgbClr val="9B8FFF"/>
                </a:solidFill>
                <a:latin typeface="Consolas"/>
              </a:rPr>
              <a:t>admin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Aislamiento multi-tenant</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11</a:t>
            </a:r>
          </a:p>
        </p:txBody>
      </p:sp>
      <p:sp>
        <p:nvSpPr>
          <p:cNvPr id="10" name="TextBox 9"/>
          <p:cNvSpPr txBox="1"/>
          <p:nvPr/>
        </p:nvSpPr>
        <p:spPr>
          <a:xfrm>
            <a:off x="566928" y="1828800"/>
            <a:ext cx="6400800" cy="4114800"/>
          </a:xfrm>
          <a:prstGeom prst="rect">
            <a:avLst/>
          </a:prstGeom>
          <a:noFill/>
        </p:spPr>
        <p:txBody>
          <a:bodyPr wrap="square" lIns="0" rIns="0" tIns="0" bIns="0">
            <a:spAutoFit/>
          </a:bodyPr>
          <a:lstStyle/>
          <a:p>
            <a:pPr>
              <a:lnSpc>
                <a:spcPct val="105000"/>
              </a:lnSpc>
              <a:spcAft>
                <a:spcPts val="1000"/>
              </a:spcAft>
            </a:pPr>
            <a:r>
              <a:rPr sz="1600" b="1">
                <a:solidFill>
                  <a:srgbClr val="6152E8"/>
                </a:solidFill>
                <a:latin typeface="Arial"/>
              </a:rPr>
              <a:t>▸  </a:t>
            </a:r>
            <a:r>
              <a:rPr sz="1600">
                <a:solidFill>
                  <a:srgbClr val="F5F5F5"/>
                </a:solidFill>
                <a:latin typeface="Arial"/>
              </a:rPr>
              <a:t>Cada usuario pertenece a un tenant (taller).</a:t>
            </a:r>
          </a:p>
          <a:p>
            <a:pPr>
              <a:lnSpc>
                <a:spcPct val="105000"/>
              </a:lnSpc>
              <a:spcAft>
                <a:spcPts val="1000"/>
              </a:spcAft>
            </a:pPr>
            <a:r>
              <a:rPr sz="1600" b="1">
                <a:solidFill>
                  <a:srgbClr val="6152E8"/>
                </a:solidFill>
                <a:latin typeface="Arial"/>
              </a:rPr>
              <a:t>▸  </a:t>
            </a:r>
            <a:r>
              <a:rPr sz="1600">
                <a:solidFill>
                  <a:srgbClr val="F5F5F5"/>
                </a:solidFill>
                <a:latin typeface="Arial"/>
              </a:rPr>
              <a:t>TenantService resuelve el tenant_id desde el TOKEN…</a:t>
            </a:r>
          </a:p>
          <a:p>
            <a:pPr>
              <a:lnSpc>
                <a:spcPct val="105000"/>
              </a:lnSpc>
              <a:spcAft>
                <a:spcPts val="1000"/>
              </a:spcAft>
            </a:pPr>
            <a:r>
              <a:rPr sz="1600" b="1">
                <a:solidFill>
                  <a:srgbClr val="6152E8"/>
                </a:solidFill>
                <a:latin typeface="Arial"/>
              </a:rPr>
              <a:t>▸  </a:t>
            </a:r>
            <a:r>
              <a:rPr sz="1600">
                <a:solidFill>
                  <a:srgbClr val="9B8FFF"/>
                </a:solidFill>
                <a:latin typeface="Arial"/>
              </a:rPr>
              <a:t>…nunca desde lo que mande el cliente.</a:t>
            </a:r>
          </a:p>
          <a:p>
            <a:pPr>
              <a:lnSpc>
                <a:spcPct val="105000"/>
              </a:lnSpc>
              <a:spcAft>
                <a:spcPts val="1000"/>
              </a:spcAft>
            </a:pPr>
            <a:r>
              <a:rPr sz="1600" b="1">
                <a:solidFill>
                  <a:srgbClr val="6152E8"/>
                </a:solidFill>
                <a:latin typeface="Arial"/>
              </a:rPr>
              <a:t>▸  </a:t>
            </a:r>
            <a:r>
              <a:rPr sz="1600">
                <a:solidFill>
                  <a:srgbClr val="F5F5F5"/>
                </a:solidFill>
                <a:latin typeface="Arial"/>
              </a:rPr>
              <a:t>Toda consulta filtra por tenant_id.</a:t>
            </a:r>
          </a:p>
          <a:p>
            <a:pPr>
              <a:lnSpc>
                <a:spcPct val="105000"/>
              </a:lnSpc>
              <a:spcAft>
                <a:spcPts val="1000"/>
              </a:spcAft>
            </a:pPr>
            <a:r>
              <a:rPr sz="1600" b="1">
                <a:solidFill>
                  <a:srgbClr val="6152E8"/>
                </a:solidFill>
                <a:latin typeface="Arial"/>
              </a:rPr>
              <a:t>▸  </a:t>
            </a:r>
            <a:r>
              <a:rPr sz="1600">
                <a:solidFill>
                  <a:srgbClr val="4ADE80"/>
                </a:solidFill>
                <a:latin typeface="Arial"/>
              </a:rPr>
              <a:t>Un taller jamás ve datos de otro.</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87171"/>
                </a:solidFill>
                <a:latin typeface="Arial"/>
              </a:rPr>
              <a:t>Ataque que cierra</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Cambiar un ID en la URL para ver datos de otro taller.</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Aunque lo intenten, la API siempre filtra por el tenant de la sesión autenticada.</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El tenant no es un parámetro: se deriva del token.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Evidencias / archivos — signed URLs</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12</a:t>
            </a:r>
          </a:p>
        </p:txBody>
      </p:sp>
      <p:sp>
        <p:nvSpPr>
          <p:cNvPr id="10" name="TextBox 9"/>
          <p:cNvSpPr txBox="1"/>
          <p:nvPr/>
        </p:nvSpPr>
        <p:spPr>
          <a:xfrm>
            <a:off x="566928" y="1828800"/>
            <a:ext cx="6400800" cy="4206240"/>
          </a:xfrm>
          <a:prstGeom prst="rect">
            <a:avLst/>
          </a:prstGeom>
          <a:noFill/>
        </p:spPr>
        <p:txBody>
          <a:bodyPr wrap="square" lIns="0" rIns="0" tIns="0" bIns="0">
            <a:spAutoFit/>
          </a:bodyPr>
          <a:lstStyle/>
          <a:p>
            <a:pPr>
              <a:lnSpc>
                <a:spcPct val="105000"/>
              </a:lnSpc>
              <a:spcAft>
                <a:spcPts val="700"/>
              </a:spcAft>
            </a:pPr>
            <a:r>
              <a:rPr sz="1500" b="1">
                <a:solidFill>
                  <a:srgbClr val="6152E8"/>
                </a:solidFill>
                <a:latin typeface="Arial"/>
              </a:rPr>
              <a:t>▸  </a:t>
            </a:r>
            <a:r>
              <a:rPr sz="1500">
                <a:solidFill>
                  <a:srgbClr val="9B8FFF"/>
                </a:solidFill>
                <a:latin typeface="Arial"/>
              </a:rPr>
              <a:t>El archivo nunca pasa por nuestra API.</a:t>
            </a:r>
          </a:p>
          <a:p>
            <a:pPr>
              <a:lnSpc>
                <a:spcPct val="105000"/>
              </a:lnSpc>
              <a:spcAft>
                <a:spcPts val="700"/>
              </a:spcAft>
            </a:pPr>
            <a:r>
              <a:rPr sz="1500" b="1">
                <a:solidFill>
                  <a:srgbClr val="6152E8"/>
                </a:solidFill>
                <a:latin typeface="Arial"/>
              </a:rPr>
              <a:t>▸  </a:t>
            </a:r>
            <a:r>
              <a:rPr sz="1500">
                <a:solidFill>
                  <a:srgbClr val="F5F5F5"/>
                </a:solidFill>
                <a:latin typeface="Arial"/>
              </a:rPr>
              <a:t>1 · Cliente pide URL → API valida rol, tamaño y tipo</a:t>
            </a:r>
          </a:p>
          <a:p>
            <a:pPr lvl="1">
              <a:lnSpc>
                <a:spcPct val="105000"/>
              </a:lnSpc>
              <a:spcAft>
                <a:spcPts val="700"/>
              </a:spcAft>
            </a:pPr>
            <a:r>
              <a:rPr sz="1400">
                <a:solidFill>
                  <a:srgbClr val="707078"/>
                </a:solidFill>
                <a:latin typeface="Arial"/>
              </a:rPr>
              <a:t>      –   </a:t>
            </a:r>
            <a:r>
              <a:rPr sz="1400">
                <a:solidFill>
                  <a:srgbClr val="A0A0A8"/>
                </a:solidFill>
                <a:latin typeface="Arial"/>
              </a:rPr>
              <a:t>genera URL firmada (TTL 60 s)</a:t>
            </a:r>
          </a:p>
          <a:p>
            <a:pPr>
              <a:lnSpc>
                <a:spcPct val="105000"/>
              </a:lnSpc>
              <a:spcAft>
                <a:spcPts val="700"/>
              </a:spcAft>
            </a:pPr>
            <a:r>
              <a:rPr sz="1500" b="1">
                <a:solidFill>
                  <a:srgbClr val="6152E8"/>
                </a:solidFill>
                <a:latin typeface="Arial"/>
              </a:rPr>
              <a:t>▸  </a:t>
            </a:r>
            <a:r>
              <a:rPr sz="1500">
                <a:solidFill>
                  <a:srgbClr val="F5F5F5"/>
                </a:solidFill>
                <a:latin typeface="Arial"/>
              </a:rPr>
              <a:t>2 · Cliente sube directo a Supabase Storage</a:t>
            </a:r>
          </a:p>
          <a:p>
            <a:pPr>
              <a:lnSpc>
                <a:spcPct val="105000"/>
              </a:lnSpc>
              <a:spcAft>
                <a:spcPts val="700"/>
              </a:spcAft>
            </a:pPr>
            <a:r>
              <a:rPr sz="1500" b="1">
                <a:solidFill>
                  <a:srgbClr val="6152E8"/>
                </a:solidFill>
                <a:latin typeface="Arial"/>
              </a:rPr>
              <a:t>▸  </a:t>
            </a:r>
            <a:r>
              <a:rPr sz="1500">
                <a:solidFill>
                  <a:srgbClr val="F5F5F5"/>
                </a:solidFill>
                <a:latin typeface="Arial"/>
              </a:rPr>
              <a:t>3 · Cliente confirma → API verifica que existe y registra</a:t>
            </a:r>
          </a:p>
          <a:p>
            <a:pPr>
              <a:lnSpc>
                <a:spcPct val="105000"/>
              </a:lnSpc>
              <a:spcAft>
                <a:spcPts val="700"/>
              </a:spcAft>
            </a:pPr>
            <a:r>
              <a:rPr sz="1500" b="1">
                <a:solidFill>
                  <a:srgbClr val="6152E8"/>
                </a:solidFill>
                <a:latin typeface="Arial"/>
              </a:rPr>
              <a:t>▸  </a:t>
            </a:r>
            <a:r>
              <a:rPr sz="1500">
                <a:solidFill>
                  <a:srgbClr val="F5F5F5"/>
                </a:solidFill>
                <a:latin typeface="Arial"/>
              </a:rPr>
              <a:t>Descarga con URL firmada temporal (TTL 5 min).</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FBBF24"/>
                </a:solidFill>
                <a:latin typeface="Arial"/>
              </a:rPr>
              <a:t>Controles</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MIME whitelist: jpg · png · webp</a:t>
            </a:r>
          </a:p>
          <a:p>
            <a:pPr>
              <a:lnSpc>
                <a:spcPct val="104000"/>
              </a:lnSpc>
              <a:spcAft>
                <a:spcPts val="500"/>
              </a:spcAft>
            </a:pPr>
            <a:r>
              <a:rPr sz="1250">
                <a:solidFill>
                  <a:srgbClr val="A0A0A8"/>
                </a:solidFill>
                <a:latin typeface="Arial"/>
              </a:rPr>
              <a:t>Tamaño máximo: 5 MB</a:t>
            </a:r>
          </a:p>
          <a:p>
            <a:pPr>
              <a:lnSpc>
                <a:spcPct val="104000"/>
              </a:lnSpc>
              <a:spcAft>
                <a:spcPts val="500"/>
              </a:spcAft>
            </a:pPr>
            <a:r>
              <a:rPr sz="1250">
                <a:solidFill>
                  <a:srgbClr val="A0A0A8"/>
                </a:solidFill>
                <a:latin typeface="Arial"/>
              </a:rPr>
              <a:t>Ruta scopeada: tenant_id/ticket_id/uuid.ext</a:t>
            </a:r>
          </a:p>
          <a:p>
            <a:pPr>
              <a:lnSpc>
                <a:spcPct val="104000"/>
              </a:lnSpc>
              <a:spcAft>
                <a:spcPts val="500"/>
              </a:spcAft>
            </a:pPr>
            <a:r>
              <a:rPr sz="1250">
                <a:solidFill>
                  <a:srgbClr val="A0A0A8"/>
                </a:solidFill>
                <a:latin typeface="Arial"/>
              </a:rPr>
              <a:t>Descarga firmada y temporal (5 min)</a:t>
            </a:r>
          </a:p>
          <a:p>
            <a:pPr>
              <a:lnSpc>
                <a:spcPct val="104000"/>
              </a:lnSpc>
              <a:spcAft>
                <a:spcPts val="500"/>
              </a:spcAft>
            </a:pPr>
            <a:r>
              <a:rPr sz="1250">
                <a:solidFill>
                  <a:srgbClr val="A0A0A8"/>
                </a:solidFill>
                <a:latin typeface="Arial"/>
              </a:rPr>
              <a:t>Service-role key SÓLO en el servidor</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Acceso por rol + asignación al ticket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Secretos, red y RLS</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13</a:t>
            </a:r>
          </a:p>
        </p:txBody>
      </p:sp>
      <p:sp>
        <p:nvSpPr>
          <p:cNvPr id="10" name="TextBox 9"/>
          <p:cNvSpPr txBox="1"/>
          <p:nvPr/>
        </p:nvSpPr>
        <p:spPr>
          <a:xfrm>
            <a:off x="566928" y="1828800"/>
            <a:ext cx="6400800" cy="4206240"/>
          </a:xfrm>
          <a:prstGeom prst="rect">
            <a:avLst/>
          </a:prstGeom>
          <a:noFill/>
        </p:spPr>
        <p:txBody>
          <a:bodyPr wrap="square" lIns="0" rIns="0" tIns="0" bIns="0">
            <a:spAutoFit/>
          </a:bodyPr>
          <a:lstStyle/>
          <a:p>
            <a:pPr>
              <a:lnSpc>
                <a:spcPct val="105000"/>
              </a:lnSpc>
              <a:spcAft>
                <a:spcPts val="900"/>
              </a:spcAft>
            </a:pPr>
            <a:r>
              <a:rPr sz="1500" b="1">
                <a:solidFill>
                  <a:srgbClr val="6152E8"/>
                </a:solidFill>
                <a:latin typeface="Arial"/>
              </a:rPr>
              <a:t>▸  </a:t>
            </a:r>
            <a:r>
              <a:rPr sz="1500">
                <a:solidFill>
                  <a:srgbClr val="F5F5F5"/>
                </a:solidFill>
                <a:latin typeface="Arial"/>
              </a:rPr>
              <a:t>.env en .gitignore; sólo se versiona .env.example sin valores.</a:t>
            </a:r>
          </a:p>
          <a:p>
            <a:pPr>
              <a:lnSpc>
                <a:spcPct val="105000"/>
              </a:lnSpc>
              <a:spcAft>
                <a:spcPts val="900"/>
              </a:spcAft>
            </a:pPr>
            <a:r>
              <a:rPr sz="1500" b="1">
                <a:solidFill>
                  <a:srgbClr val="6152E8"/>
                </a:solidFill>
                <a:latin typeface="Arial"/>
              </a:rPr>
              <a:t>▸  </a:t>
            </a:r>
            <a:r>
              <a:rPr sz="1500">
                <a:solidFill>
                  <a:srgbClr val="F5F5F5"/>
                </a:solidFill>
                <a:latin typeface="Arial"/>
              </a:rPr>
              <a:t>Service-role key y DB password sólo en el entorno del servidor.</a:t>
            </a:r>
          </a:p>
          <a:p>
            <a:pPr>
              <a:lnSpc>
                <a:spcPct val="105000"/>
              </a:lnSpc>
              <a:spcAft>
                <a:spcPts val="900"/>
              </a:spcAft>
            </a:pPr>
            <a:r>
              <a:rPr sz="1500" b="1">
                <a:solidFill>
                  <a:srgbClr val="6152E8"/>
                </a:solidFill>
                <a:latin typeface="Arial"/>
              </a:rPr>
              <a:t>▸  </a:t>
            </a:r>
            <a:r>
              <a:rPr sz="1500">
                <a:solidFill>
                  <a:srgbClr val="F5F5F5"/>
                </a:solidFill>
                <a:latin typeface="Arial"/>
              </a:rPr>
              <a:t>RLS habilitado en Supabase → segunda capa a nivel de base.</a:t>
            </a:r>
          </a:p>
          <a:p>
            <a:pPr>
              <a:lnSpc>
                <a:spcPct val="105000"/>
              </a:lnSpc>
              <a:spcAft>
                <a:spcPts val="900"/>
              </a:spcAft>
            </a:pPr>
            <a:r>
              <a:rPr sz="1500" b="1">
                <a:solidFill>
                  <a:srgbClr val="6152E8"/>
                </a:solidFill>
                <a:latin typeface="Arial"/>
              </a:rPr>
              <a:t>▸  </a:t>
            </a:r>
            <a:r>
              <a:rPr sz="1500">
                <a:solidFill>
                  <a:srgbClr val="F5F5F5"/>
                </a:solidFill>
                <a:latin typeface="Arial"/>
              </a:rPr>
              <a:t>HTTPS extremo a extremo · SSL obligatorio hacia la DB.</a:t>
            </a:r>
          </a:p>
        </p:txBody>
      </p:sp>
      <p:sp>
        <p:nvSpPr>
          <p:cNvPr id="11" name="Rounded Rectangle 10"/>
          <p:cNvSpPr/>
          <p:nvPr/>
        </p:nvSpPr>
        <p:spPr>
          <a:xfrm>
            <a:off x="7360920" y="1828800"/>
            <a:ext cx="4297680" cy="411480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1828800"/>
            <a:ext cx="4297680" cy="50800"/>
          </a:xfrm>
          <a:prstGeom prst="rect">
            <a:avLst/>
          </a:prstGeom>
          <a:solidFill>
            <a:srgbClr val="9B8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1993392"/>
            <a:ext cx="3931920" cy="365760"/>
          </a:xfrm>
          <a:prstGeom prst="rect">
            <a:avLst/>
          </a:prstGeom>
          <a:noFill/>
        </p:spPr>
        <p:txBody>
          <a:bodyPr wrap="square" anchor="t" lIns="0" rIns="0" tIns="0" bIns="0">
            <a:spAutoFit/>
          </a:bodyPr>
          <a:lstStyle/>
          <a:p>
            <a:pPr algn="l">
              <a:lnSpc>
                <a:spcPct val="100000"/>
              </a:lnSpc>
            </a:pPr>
            <a:r>
              <a:rPr sz="1500" b="1" i="0">
                <a:solidFill>
                  <a:srgbClr val="9B8FFF"/>
                </a:solidFill>
                <a:latin typeface="Arial"/>
              </a:rPr>
              <a:t>Defensa en profundidad</a:t>
            </a:r>
          </a:p>
        </p:txBody>
      </p:sp>
      <p:sp>
        <p:nvSpPr>
          <p:cNvPr id="14" name="TextBox 13"/>
          <p:cNvSpPr txBox="1"/>
          <p:nvPr/>
        </p:nvSpPr>
        <p:spPr>
          <a:xfrm>
            <a:off x="7562088" y="2395728"/>
            <a:ext cx="3931920" cy="347472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Para que un dato salga indebidamente tendría que fallar TODO:</a:t>
            </a:r>
          </a:p>
          <a:p>
            <a:pPr>
              <a:lnSpc>
                <a:spcPct val="104000"/>
              </a:lnSpc>
              <a:spcAft>
                <a:spcPts val="500"/>
              </a:spcAft>
            </a:pPr>
            <a:r>
              <a:rPr sz="1250">
                <a:solidFill>
                  <a:srgbClr val="A0A0A8"/>
                </a:solidFill>
                <a:latin typeface="Arial"/>
              </a:rPr>
              <a:t>1 · validación de input</a:t>
            </a:r>
          </a:p>
          <a:p>
            <a:pPr>
              <a:lnSpc>
                <a:spcPct val="104000"/>
              </a:lnSpc>
              <a:spcAft>
                <a:spcPts val="500"/>
              </a:spcAft>
            </a:pPr>
            <a:r>
              <a:rPr sz="1250">
                <a:solidFill>
                  <a:srgbClr val="A0A0A8"/>
                </a:solidFill>
                <a:latin typeface="Arial"/>
              </a:rPr>
              <a:t>2 · guard de auth (JWT)</a:t>
            </a:r>
          </a:p>
          <a:p>
            <a:pPr>
              <a:lnSpc>
                <a:spcPct val="104000"/>
              </a:lnSpc>
              <a:spcAft>
                <a:spcPts val="500"/>
              </a:spcAft>
            </a:pPr>
            <a:r>
              <a:rPr sz="1250">
                <a:solidFill>
                  <a:srgbClr val="A0A0A8"/>
                </a:solidFill>
                <a:latin typeface="Arial"/>
              </a:rPr>
              <a:t>3 · guard de roles</a:t>
            </a:r>
          </a:p>
          <a:p>
            <a:pPr>
              <a:lnSpc>
                <a:spcPct val="104000"/>
              </a:lnSpc>
              <a:spcAft>
                <a:spcPts val="500"/>
              </a:spcAft>
            </a:pPr>
            <a:r>
              <a:rPr sz="1250">
                <a:solidFill>
                  <a:srgbClr val="A0A0A8"/>
                </a:solidFill>
                <a:latin typeface="Arial"/>
              </a:rPr>
              <a:t>4 · filtro de tenant</a:t>
            </a:r>
          </a:p>
          <a:p>
            <a:pPr>
              <a:lnSpc>
                <a:spcPct val="104000"/>
              </a:lnSpc>
              <a:spcAft>
                <a:spcPts val="500"/>
              </a:spcAft>
            </a:pPr>
            <a:r>
              <a:rPr sz="1250">
                <a:solidFill>
                  <a:srgbClr val="A0A0A8"/>
                </a:solidFill>
                <a:latin typeface="Arial"/>
              </a:rPr>
              <a:t>5 · RLS en la base</a:t>
            </a:r>
          </a:p>
          <a:p>
            <a:pPr>
              <a:lnSpc>
                <a:spcPct val="104000"/>
              </a:lnSpc>
              <a:spcAft>
                <a:spcPts val="500"/>
              </a:spcAft>
            </a:pPr>
            <a:r>
              <a:rPr sz="1250">
                <a:solidFill>
                  <a:srgbClr val="A0A0A8"/>
                </a:solidFill>
                <a:latin typeface="Arial"/>
              </a:rPr>
              <a:t/>
            </a:r>
          </a:p>
          <a:p>
            <a:pPr>
              <a:lnSpc>
                <a:spcPct val="104000"/>
              </a:lnSpc>
              <a:spcAft>
                <a:spcPts val="500"/>
              </a:spcAft>
            </a:pPr>
            <a:r>
              <a:rPr sz="1250">
                <a:solidFill>
                  <a:srgbClr val="A0A0A8"/>
                </a:solidFill>
                <a:latin typeface="Arial"/>
              </a:rPr>
              <a:t>Varias rejas, no una sola.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058400" cy="274320"/>
          </a:xfrm>
          <a:prstGeom prst="rect">
            <a:avLst/>
          </a:prstGeom>
          <a:noFill/>
        </p:spPr>
        <p:txBody>
          <a:bodyPr wrap="square" anchor="t" lIns="0" rIns="0" tIns="0" bIns="0">
            <a:spAutoFit/>
          </a:bodyPr>
          <a:lstStyle/>
          <a:p>
            <a:pPr algn="l">
              <a:lnSpc>
                <a:spcPct val="100000"/>
              </a:lnSpc>
            </a:pPr>
            <a:r>
              <a:rPr sz="1250" b="1" i="0">
                <a:solidFill>
                  <a:srgbClr val="9B8FFF"/>
                </a:solidFill>
                <a:latin typeface="Arial"/>
              </a:rPr>
              <a:t>SEGURIDAD</a:t>
            </a:r>
          </a:p>
        </p:txBody>
      </p:sp>
      <p:sp>
        <p:nvSpPr>
          <p:cNvPr id="5" name="TextBox 4"/>
          <p:cNvSpPr txBox="1"/>
          <p:nvPr/>
        </p:nvSpPr>
        <p:spPr>
          <a:xfrm>
            <a:off x="548640" y="749808"/>
            <a:ext cx="10972800" cy="731520"/>
          </a:xfrm>
          <a:prstGeom prst="rect">
            <a:avLst/>
          </a:prstGeom>
          <a:noFill/>
        </p:spPr>
        <p:txBody>
          <a:bodyPr wrap="square" anchor="t" lIns="0" rIns="0" tIns="0" bIns="0">
            <a:spAutoFit/>
          </a:bodyPr>
          <a:lstStyle/>
          <a:p>
            <a:pPr algn="l">
              <a:lnSpc>
                <a:spcPct val="100000"/>
              </a:lnSpc>
            </a:pPr>
            <a:r>
              <a:rPr sz="3000" b="1" i="0">
                <a:solidFill>
                  <a:srgbClr val="F5F5F5"/>
                </a:solidFill>
                <a:latin typeface="Arial"/>
              </a:rPr>
              <a:t>Proceso — Gitflow &amp; PRs</a:t>
            </a:r>
          </a:p>
        </p:txBody>
      </p:sp>
      <p:sp>
        <p:nvSpPr>
          <p:cNvPr id="6" name="Rectangle 5"/>
          <p:cNvSpPr/>
          <p:nvPr/>
        </p:nvSpPr>
        <p:spPr>
          <a:xfrm>
            <a:off x="566928" y="1481328"/>
            <a:ext cx="822960" cy="381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9" name="TextBox 8"/>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14</a:t>
            </a:r>
          </a:p>
        </p:txBody>
      </p:sp>
      <p:sp>
        <p:nvSpPr>
          <p:cNvPr id="10" name="TextBox 9"/>
          <p:cNvSpPr txBox="1"/>
          <p:nvPr/>
        </p:nvSpPr>
        <p:spPr>
          <a:xfrm>
            <a:off x="566928" y="1828800"/>
            <a:ext cx="10972800" cy="3657600"/>
          </a:xfrm>
          <a:prstGeom prst="rect">
            <a:avLst/>
          </a:prstGeom>
          <a:noFill/>
        </p:spPr>
        <p:txBody>
          <a:bodyPr wrap="square" lIns="0" rIns="0" tIns="0" bIns="0">
            <a:spAutoFit/>
          </a:bodyPr>
          <a:lstStyle/>
          <a:p>
            <a:pPr>
              <a:lnSpc>
                <a:spcPct val="105000"/>
              </a:lnSpc>
              <a:spcAft>
                <a:spcPts val="1100"/>
              </a:spcAft>
            </a:pPr>
            <a:r>
              <a:rPr sz="1600" b="1">
                <a:solidFill>
                  <a:srgbClr val="6152E8"/>
                </a:solidFill>
                <a:latin typeface="Arial"/>
              </a:rPr>
              <a:t>▸  </a:t>
            </a:r>
            <a:r>
              <a:rPr sz="1600">
                <a:solidFill>
                  <a:srgbClr val="F5F5F5"/>
                </a:solidFill>
                <a:latin typeface="Arial"/>
              </a:rPr>
              <a:t>main protegida: nada se mergea sin Pull Request revisado.</a:t>
            </a:r>
          </a:p>
          <a:p>
            <a:pPr>
              <a:lnSpc>
                <a:spcPct val="105000"/>
              </a:lnSpc>
              <a:spcAft>
                <a:spcPts val="1100"/>
              </a:spcAft>
            </a:pPr>
            <a:r>
              <a:rPr sz="1600" b="1">
                <a:solidFill>
                  <a:srgbClr val="6152E8"/>
                </a:solidFill>
                <a:latin typeface="Arial"/>
              </a:rPr>
              <a:t>▸  </a:t>
            </a:r>
            <a:r>
              <a:rPr sz="1600">
                <a:solidFill>
                  <a:srgbClr val="F5F5F5"/>
                </a:solidFill>
                <a:latin typeface="Arial"/>
              </a:rPr>
              <a:t>Una rama = un ticket de Linear = un PR · squash merge.</a:t>
            </a:r>
          </a:p>
          <a:p>
            <a:pPr>
              <a:lnSpc>
                <a:spcPct val="105000"/>
              </a:lnSpc>
              <a:spcAft>
                <a:spcPts val="1100"/>
              </a:spcAft>
            </a:pPr>
            <a:r>
              <a:rPr sz="1600" b="1">
                <a:solidFill>
                  <a:srgbClr val="6152E8"/>
                </a:solidFill>
                <a:latin typeface="Arial"/>
              </a:rPr>
              <a:t>▸  </a:t>
            </a:r>
            <a:r>
              <a:rPr sz="1600">
                <a:solidFill>
                  <a:srgbClr val="F5F5F5"/>
                </a:solidFill>
                <a:latin typeface="Arial"/>
              </a:rPr>
              <a:t>Conventional Commits + Conventional Branches con ID de Linear.</a:t>
            </a:r>
          </a:p>
          <a:p>
            <a:pPr>
              <a:lnSpc>
                <a:spcPct val="105000"/>
              </a:lnSpc>
              <a:spcAft>
                <a:spcPts val="1100"/>
              </a:spcAft>
            </a:pPr>
            <a:r>
              <a:rPr sz="1600" b="1">
                <a:solidFill>
                  <a:srgbClr val="6152E8"/>
                </a:solidFill>
                <a:latin typeface="Arial"/>
              </a:rPr>
              <a:t>▸  </a:t>
            </a:r>
            <a:r>
              <a:rPr sz="1600">
                <a:solidFill>
                  <a:srgbClr val="F5F5F5"/>
                </a:solidFill>
                <a:latin typeface="Arial"/>
              </a:rPr>
              <a:t>Trazabilidad automática: la rama mueve el estado del ticket.</a:t>
            </a:r>
          </a:p>
          <a:p>
            <a:pPr>
              <a:lnSpc>
                <a:spcPct val="105000"/>
              </a:lnSpc>
              <a:spcAft>
                <a:spcPts val="1100"/>
              </a:spcAft>
            </a:pPr>
            <a:r>
              <a:rPr sz="1600" b="1">
                <a:solidFill>
                  <a:srgbClr val="6152E8"/>
                </a:solidFill>
                <a:latin typeface="Arial"/>
              </a:rPr>
              <a:t>▸  </a:t>
            </a:r>
            <a:r>
              <a:rPr sz="1600">
                <a:solidFill>
                  <a:srgbClr val="9B8FFF"/>
                </a:solidFill>
                <a:latin typeface="Arial"/>
              </a:rPr>
              <a:t>La seguridad también es proceso: reduce el riesgo de código sin revisar en producción.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14400"/>
            <a:ext cx="10058400" cy="731520"/>
          </a:xfrm>
          <a:prstGeom prst="rect">
            <a:avLst/>
          </a:prstGeom>
          <a:noFill/>
        </p:spPr>
        <p:txBody>
          <a:bodyPr wrap="square" anchor="t" lIns="0" rIns="0" tIns="0" bIns="0">
            <a:spAutoFit/>
          </a:bodyPr>
          <a:lstStyle/>
          <a:p>
            <a:pPr algn="l">
              <a:lnSpc>
                <a:spcPct val="100000"/>
              </a:lnSpc>
            </a:pPr>
            <a:r>
              <a:rPr sz="3400" b="1" i="0">
                <a:solidFill>
                  <a:srgbClr val="F5F5F5"/>
                </a:solidFill>
                <a:latin typeface="Arial"/>
              </a:rPr>
              <a:t>En resumen</a:t>
            </a:r>
          </a:p>
        </p:txBody>
      </p:sp>
      <p:sp>
        <p:nvSpPr>
          <p:cNvPr id="5" name="Rectangle 4"/>
          <p:cNvSpPr/>
          <p:nvPr/>
        </p:nvSpPr>
        <p:spPr>
          <a:xfrm>
            <a:off x="896112" y="1691640"/>
            <a:ext cx="1097280" cy="50800"/>
          </a:xfrm>
          <a:prstGeom prst="rect">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057400"/>
            <a:ext cx="5120640" cy="310896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057400"/>
            <a:ext cx="5120640" cy="508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221992"/>
            <a:ext cx="4754880" cy="365760"/>
          </a:xfrm>
          <a:prstGeom prst="rect">
            <a:avLst/>
          </a:prstGeom>
          <a:noFill/>
        </p:spPr>
        <p:txBody>
          <a:bodyPr wrap="square" anchor="t" lIns="0" rIns="0" tIns="0" bIns="0">
            <a:spAutoFit/>
          </a:bodyPr>
          <a:lstStyle/>
          <a:p>
            <a:pPr algn="l">
              <a:lnSpc>
                <a:spcPct val="100000"/>
              </a:lnSpc>
            </a:pPr>
            <a:r>
              <a:rPr sz="1500" b="1" i="0">
                <a:solidFill>
                  <a:srgbClr val="F5F5F5"/>
                </a:solidFill>
                <a:latin typeface="Arial"/>
              </a:rPr>
              <a:t>Infraestructura</a:t>
            </a:r>
          </a:p>
        </p:txBody>
      </p:sp>
      <p:sp>
        <p:nvSpPr>
          <p:cNvPr id="9" name="TextBox 8"/>
          <p:cNvSpPr txBox="1"/>
          <p:nvPr/>
        </p:nvSpPr>
        <p:spPr>
          <a:xfrm>
            <a:off x="1069848" y="2624328"/>
            <a:ext cx="4754880" cy="246888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3 capas desacopladas:</a:t>
            </a:r>
          </a:p>
          <a:p>
            <a:pPr>
              <a:lnSpc>
                <a:spcPct val="104000"/>
              </a:lnSpc>
              <a:spcAft>
                <a:spcPts val="500"/>
              </a:spcAft>
            </a:pPr>
            <a:r>
              <a:rPr sz="1250">
                <a:solidFill>
                  <a:srgbClr val="A0A0A8"/>
                </a:solidFill>
                <a:latin typeface="Arial"/>
              </a:rPr>
              <a:t>Next.js (Vercel) · NestJS (Railway) · Supabase</a:t>
            </a:r>
          </a:p>
          <a:p>
            <a:pPr>
              <a:lnSpc>
                <a:spcPct val="104000"/>
              </a:lnSpc>
              <a:spcAft>
                <a:spcPts val="500"/>
              </a:spcAft>
            </a:pPr>
            <a:r>
              <a:rPr sz="1250">
                <a:solidFill>
                  <a:srgbClr val="A0A0A8"/>
                </a:solidFill>
                <a:latin typeface="Arial"/>
              </a:rPr>
              <a:t>Cada una desplegada y escalada aparte.</a:t>
            </a:r>
          </a:p>
          <a:p>
            <a:pPr>
              <a:lnSpc>
                <a:spcPct val="104000"/>
              </a:lnSpc>
              <a:spcAft>
                <a:spcPts val="500"/>
              </a:spcAft>
            </a:pPr>
            <a:r>
              <a:rPr sz="1250">
                <a:solidFill>
                  <a:srgbClr val="A0A0A8"/>
                </a:solidFill>
                <a:latin typeface="Arial"/>
              </a:rPr>
              <a:t>El front nunca toca la base: todo por la API.</a:t>
            </a:r>
          </a:p>
        </p:txBody>
      </p:sp>
      <p:sp>
        <p:nvSpPr>
          <p:cNvPr id="10" name="Rounded Rectangle 9"/>
          <p:cNvSpPr/>
          <p:nvPr/>
        </p:nvSpPr>
        <p:spPr>
          <a:xfrm>
            <a:off x="6172200" y="2057400"/>
            <a:ext cx="5349240" cy="3108960"/>
          </a:xfrm>
          <a:prstGeom prst="roundRect">
            <a:avLst>
              <a:gd name="adj" fmla="val 6000"/>
            </a:avLst>
          </a:prstGeom>
          <a:solidFill>
            <a:srgbClr val="151518"/>
          </a:solidFill>
          <a:ln w="1270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2057400"/>
            <a:ext cx="5349240" cy="50800"/>
          </a:xfrm>
          <a:prstGeom prst="rect">
            <a:avLst/>
          </a:prstGeom>
          <a:solidFill>
            <a:srgbClr val="9B8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2221992"/>
            <a:ext cx="4983480" cy="365760"/>
          </a:xfrm>
          <a:prstGeom prst="rect">
            <a:avLst/>
          </a:prstGeom>
          <a:noFill/>
        </p:spPr>
        <p:txBody>
          <a:bodyPr wrap="square" anchor="t" lIns="0" rIns="0" tIns="0" bIns="0">
            <a:spAutoFit/>
          </a:bodyPr>
          <a:lstStyle/>
          <a:p>
            <a:pPr algn="l">
              <a:lnSpc>
                <a:spcPct val="100000"/>
              </a:lnSpc>
            </a:pPr>
            <a:r>
              <a:rPr sz="1500" b="1" i="0">
                <a:solidFill>
                  <a:srgbClr val="9B8FFF"/>
                </a:solidFill>
                <a:latin typeface="Arial"/>
              </a:rPr>
              <a:t>Seguridad en capas</a:t>
            </a:r>
          </a:p>
        </p:txBody>
      </p:sp>
      <p:sp>
        <p:nvSpPr>
          <p:cNvPr id="13" name="TextBox 12"/>
          <p:cNvSpPr txBox="1"/>
          <p:nvPr/>
        </p:nvSpPr>
        <p:spPr>
          <a:xfrm>
            <a:off x="6373368" y="2624328"/>
            <a:ext cx="4983480" cy="2468880"/>
          </a:xfrm>
          <a:prstGeom prst="rect">
            <a:avLst/>
          </a:prstGeom>
          <a:noFill/>
        </p:spPr>
        <p:txBody>
          <a:bodyPr wrap="square" lIns="0" rIns="0" tIns="0" bIns="0">
            <a:spAutoFit/>
          </a:bodyPr>
          <a:lstStyle/>
          <a:p>
            <a:pPr>
              <a:lnSpc>
                <a:spcPct val="104000"/>
              </a:lnSpc>
              <a:spcAft>
                <a:spcPts val="500"/>
              </a:spcAft>
            </a:pPr>
            <a:r>
              <a:rPr sz="1250">
                <a:solidFill>
                  <a:srgbClr val="A0A0A8"/>
                </a:solidFill>
                <a:latin typeface="Arial"/>
              </a:rPr>
              <a:t>validación → JWT → roles → multi-tenant</a:t>
            </a:r>
          </a:p>
          <a:p>
            <a:pPr>
              <a:lnSpc>
                <a:spcPct val="104000"/>
              </a:lnSpc>
              <a:spcAft>
                <a:spcPts val="500"/>
              </a:spcAft>
            </a:pPr>
            <a:r>
              <a:rPr sz="1250">
                <a:solidFill>
                  <a:srgbClr val="A0A0A8"/>
                </a:solidFill>
                <a:latin typeface="Arial"/>
              </a:rPr>
              <a:t>→ signed URLs → RLS</a:t>
            </a:r>
          </a:p>
          <a:p>
            <a:pPr>
              <a:lnSpc>
                <a:spcPct val="104000"/>
              </a:lnSpc>
              <a:spcAft>
                <a:spcPts val="500"/>
              </a:spcAft>
            </a:pPr>
            <a:r>
              <a:rPr sz="1250">
                <a:solidFill>
                  <a:srgbClr val="A0A0A8"/>
                </a:solidFill>
                <a:latin typeface="Arial"/>
              </a:rPr>
              <a:t>Sin secretos en el repo · HTTPS · mínimo privilegio</a:t>
            </a:r>
          </a:p>
          <a:p>
            <a:pPr>
              <a:lnSpc>
                <a:spcPct val="104000"/>
              </a:lnSpc>
              <a:spcAft>
                <a:spcPts val="500"/>
              </a:spcAft>
            </a:pPr>
            <a:r>
              <a:rPr sz="1250">
                <a:solidFill>
                  <a:srgbClr val="A0A0A8"/>
                </a:solidFill>
                <a:latin typeface="Arial"/>
              </a:rPr>
              <a:t>Defensa en profundidad de punta a punta.</a:t>
            </a:r>
          </a:p>
        </p:txBody>
      </p:sp>
      <p:sp>
        <p:nvSpPr>
          <p:cNvPr id="14" name="Oval 13"/>
          <p:cNvSpPr/>
          <p:nvPr/>
        </p:nvSpPr>
        <p:spPr>
          <a:xfrm>
            <a:off x="548640" y="6455664"/>
            <a:ext cx="118872" cy="118872"/>
          </a:xfrm>
          <a:prstGeom prst="ellipse">
            <a:avLst/>
          </a:prstGeom>
          <a:solidFill>
            <a:srgbClr val="615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382512"/>
            <a:ext cx="6400800" cy="274320"/>
          </a:xfrm>
          <a:prstGeom prst="rect">
            <a:avLst/>
          </a:prstGeom>
          <a:noFill/>
        </p:spPr>
        <p:txBody>
          <a:bodyPr wrap="square" anchor="t" lIns="0" rIns="0" tIns="0" bIns="0">
            <a:spAutoFit/>
          </a:bodyPr>
          <a:lstStyle/>
          <a:p>
            <a:pPr algn="l">
              <a:lnSpc>
                <a:spcPct val="100000"/>
              </a:lnSpc>
            </a:pPr>
            <a:r>
              <a:rPr sz="1000" b="0" i="0">
                <a:solidFill>
                  <a:srgbClr val="707078"/>
                </a:solidFill>
                <a:latin typeface="Arial"/>
              </a:rPr>
              <a:t>Trackt · Infraestructura &amp; Seguridad</a:t>
            </a:r>
          </a:p>
        </p:txBody>
      </p:sp>
      <p:sp>
        <p:nvSpPr>
          <p:cNvPr id="16" name="TextBox 15"/>
          <p:cNvSpPr txBox="1"/>
          <p:nvPr/>
        </p:nvSpPr>
        <p:spPr>
          <a:xfrm>
            <a:off x="10241280" y="6382512"/>
            <a:ext cx="1371600" cy="274320"/>
          </a:xfrm>
          <a:prstGeom prst="rect">
            <a:avLst/>
          </a:prstGeom>
          <a:noFill/>
        </p:spPr>
        <p:txBody>
          <a:bodyPr wrap="square" anchor="t" lIns="0" rIns="0" tIns="0" bIns="0">
            <a:spAutoFit/>
          </a:bodyPr>
          <a:lstStyle/>
          <a:p>
            <a:pPr algn="r">
              <a:lnSpc>
                <a:spcPct val="100000"/>
              </a:lnSpc>
            </a:pPr>
            <a:r>
              <a:rPr sz="1000" b="0" i="0">
                <a:solidFill>
                  <a:srgbClr val="707078"/>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