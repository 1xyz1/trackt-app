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69" r:id="rId19"/>
    <p:sldId id="270" r:id="rId20"/>
    <p:sldId id="27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75" r:id="rId29"/>
    <p:sldId id="276" r:id="rId30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22BBE9-236B-47B2-9936-DCF749294B30}">
  <a:tblStyle styleId="{7C22BBE9-236B-47B2-9936-DCF749294B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" name="Google Shape;51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70656821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e70656821c_0_1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e70656821c_0_1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70656821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3e70656821c_0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3e70656821c_0_8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70656821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3e70656821c_0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e70656821c_0_1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70656821c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7" name="Google Shape;377;g3e70656821c_0_2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e70656821c_0_2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9" name="Google Shape;4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6" name="Google Shape;62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2" name="Google Shape;66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6152E8">
              <a:alpha val="7843"/>
            </a:srgbClr>
          </a:solidFill>
          <a:ln w="12700" cap="flat" cmpd="sng">
            <a:solidFill>
              <a:srgbClr val="6152E8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22D3EE">
              <a:alpha val="5882"/>
            </a:srgbClr>
          </a:solidFill>
          <a:ln w="12700" cap="flat" cmpd="sng">
            <a:solidFill>
              <a:srgbClr val="22D3EE">
                <a:alpha val="588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DUOC UC  ·  Escuela de Informática y Telecomunicaciones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96012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Trebuchet MS"/>
              <a:buNone/>
            </a:pPr>
            <a:r>
              <a:rPr lang="en-US" sz="7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TRACKT</a:t>
            </a:r>
            <a:endParaRPr sz="7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18745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B8FFF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9B8FFF"/>
                </a:solidFill>
                <a:latin typeface="Calibri"/>
                <a:ea typeface="Calibri"/>
                <a:cs typeface="Calibri"/>
                <a:sym typeface="Calibri"/>
              </a:rPr>
              <a:t>SaaS industrial de mantenimiento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304288"/>
            <a:ext cx="3657600" cy="27432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48640" y="24231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Entrega Final 2  ·  Estado de Avance 2  ·  TPY1101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269748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Grupo 10  ·  Sección 002V  · 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3200400"/>
            <a:ext cx="2651760" cy="8229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48640" y="3200400"/>
            <a:ext cx="45720" cy="82296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85800" y="32552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Rosio Ametller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85800" y="3511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Frontend · Design System · UX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383280" y="3200400"/>
            <a:ext cx="2651760" cy="8229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383280" y="3200400"/>
            <a:ext cx="45720" cy="82296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520440" y="32552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Jaime Osorio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520440" y="3511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Backend · OT · Tickets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217920" y="3200400"/>
            <a:ext cx="2651760" cy="8229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217920" y="3200400"/>
            <a:ext cx="45720" cy="822960"/>
          </a:xfrm>
          <a:prstGeom prst="rect">
            <a:avLst/>
          </a:prstGeom>
          <a:solidFill>
            <a:srgbClr val="60A5FA"/>
          </a:solidFill>
          <a:ln w="12700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355080" y="325526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Ramón Hernández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355080" y="3511296"/>
            <a:ext cx="2468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Arquitectura · Auth · DB · Deploy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4864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9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1188720" y="42519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Módulos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269748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127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465960" y="4229110"/>
            <a:ext cx="12801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aprobados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84632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12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486400" y="42519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Entidades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6995160" y="420624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14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635240" y="42519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Rutas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Defensa de 30 minutos · 10 minutos por integrante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1234440"/>
            <a:ext cx="45720" cy="566928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94360" y="12344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6152E8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097280" y="12527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Contexto y cambios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97280" y="150876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Contexto del sistema · Qué cambió · Estado MVP · Roles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1847088"/>
            <a:ext cx="8229600" cy="18288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57200" y="1947672"/>
            <a:ext cx="45720" cy="566928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594360" y="19476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A78BFA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Ramón — Infraestructura &amp; Seguridad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97280" y="2221992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Arquitectura · Auth · Roles · Multi-tenant · Evidencias · RLS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57200" y="2660904"/>
            <a:ext cx="45720" cy="566928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94360" y="266090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Jaime — Backend / API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097280" y="2935224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Módulos NestJS · OT y Tickets · Ciclo de vida · Inventario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3273552"/>
            <a:ext cx="8229600" cy="18288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57200" y="3374136"/>
            <a:ext cx="45720" cy="566928"/>
          </a:xfrm>
          <a:prstGeom prst="rect">
            <a:avLst/>
          </a:prstGeom>
          <a:solidFill>
            <a:srgbClr val="60A5FA"/>
          </a:solidFill>
          <a:ln w="12700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594360" y="337413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60A5FA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Rosio — Frontend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097280" y="3648456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Arquitectura Next.js · Auth/App · Nav por rol · Design System · Pantallas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3986784"/>
            <a:ext cx="8229600" cy="18288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57200" y="4087368"/>
            <a:ext cx="45720" cy="566928"/>
          </a:xfrm>
          <a:prstGeom prst="rect">
            <a:avLst/>
          </a:prstGeom>
          <a:solidFill>
            <a:srgbClr val="737388"/>
          </a:solidFill>
          <a:ln w="12700" cap="flat" cmpd="sng">
            <a:solidFill>
              <a:srgbClr val="7373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594360" y="40873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737388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D0D10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097280" y="436168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Estado de cumplimiento · Pendientes · Conclusiones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57200" y="4700016"/>
            <a:ext cx="8229600" cy="18288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2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0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¿Qué cambió respecto a la entrega anterior?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Esta presentación cubre los avances incorporados en la versión actualizada.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1143000"/>
            <a:ext cx="2743200" cy="118872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57200" y="1143000"/>
            <a:ext cx="2743200" cy="45720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94360" y="1252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Inventario de repuestos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94360" y="15453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Catálogo, stock, entradas, ajustes y baja lógica con control transaccional.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383280" y="1143000"/>
            <a:ext cx="2743200" cy="118872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383280" y="1143000"/>
            <a:ext cx="2743200" cy="45720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3520440" y="1252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🔗  Reservas de repuestos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520440" y="15453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Flujo completo: SOLICITADA → RESERVADA → CONSUMIDA / LIBERADA por ticket.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309360" y="1143000"/>
            <a:ext cx="2743200" cy="118872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309360" y="1143000"/>
            <a:ext cx="2743200" cy="45720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446520" y="12527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👷  Rol jefe_taller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446520" y="15453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Tercer rol con permisos específicos y 7 políticas RLS propias en base de datos.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2514600"/>
            <a:ext cx="2743200" cy="118872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57200" y="2514600"/>
            <a:ext cx="2743200" cy="45720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9436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Carga de mecánicos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94360" y="29169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Vista de distribución operativa para jefe_taller y admin.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383280" y="2514600"/>
            <a:ext cx="2743200" cy="118872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3383280" y="2514600"/>
            <a:ext cx="2743200" cy="45720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52044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Transiciones completas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520440" y="29169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asignar · reasignar · iniciar · finalizar · validar · cerrar — con guard por rol.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309360" y="2514600"/>
            <a:ext cx="2743200" cy="118872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309360" y="2514600"/>
            <a:ext cx="2743200" cy="45720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6446520" y="26243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  9 migraciones SQL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46520" y="2916936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12 entidades en producción. Inventario con RLS por rol y tenant.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3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800"/>
              <a:buFont typeface="Trebuchet MS"/>
              <a:buNone/>
            </a:pPr>
            <a:r>
              <a:rPr lang="en-US" sz="2800" b="1" i="0" u="none" strike="noStrike" cap="non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Estado actual del MVP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14 módulos completados ·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1097280"/>
            <a:ext cx="5029200" cy="347472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097280"/>
            <a:ext cx="5029200" cy="45720"/>
          </a:xfrm>
          <a:prstGeom prst="rect">
            <a:avLst/>
          </a:prstGeom>
          <a:solidFill>
            <a:srgbClr val="4ADE80"/>
          </a:solidFill>
          <a:ln w="12700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94360" y="11704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Implementado — 14 ítems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94360" y="1508760"/>
            <a:ext cx="475488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Autenticación por rol (admin / jefe_taller / mechanic)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Órdenes de trabajo — CRUD + estados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Tickets — transiciones completas por rol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Evidencias fotográficas (Supabase Storage + URL firmada)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Notificaciones in-app (Supabase Realtime)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Vista mecánico — Mis Tickets + detalle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Gestión de equipos con baja lógica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Gestión de usuarios con invitación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Inventario: catálogo de repuestos + stock ⭐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Reservas de repuestos (solicitar/aprobar/consumir) ⭐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Movimientos de inventario — historial inmutable ⭐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Carga operativa de mecánicos ⭐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Dashboard con métricas y gráfico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200"/>
              </a:spcBef>
              <a:spcAft>
                <a:spcPts val="0"/>
              </a:spcAft>
              <a:buClr>
                <a:srgbClr val="F0F0F4"/>
              </a:buClr>
              <a:buSzPts val="850"/>
              <a:buFont typeface="Calibri"/>
              <a:buChar char="•"/>
            </a:pPr>
            <a:r>
              <a:rPr lang="en-US" sz="85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14 rutas frontend con diseño responsivo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4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0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Tres roles del sistema — permisos por capa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Rol jefe_taller es nuevo en esta versión. Guards en backend + políticas RLS en base de datos.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1097280"/>
            <a:ext cx="2697480" cy="35661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7200" y="1097280"/>
            <a:ext cx="2697480" cy="64008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94360" y="12070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6152E8"/>
                </a:solidFill>
                <a:latin typeface="Consolas"/>
                <a:ea typeface="Consolas"/>
                <a:cs typeface="Consolas"/>
                <a:sym typeface="Consolas"/>
              </a:rPr>
              <a:t>admin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94360" y="1536192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Acceso total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94360" y="182880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Crear / cerrar OT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Validar y cerrar tickets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Gestionar usuarios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Catálogo de repuestos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Entrada y ajuste de stock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Aprobar reservas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movimientos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337560" y="1097280"/>
            <a:ext cx="2697480" cy="35661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337560" y="1097280"/>
            <a:ext cx="2697480" cy="64008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3474720" y="12070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jefe_taller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3474720" y="1536192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Nuevo en v2 ⭐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474720" y="182880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OT y tickets del tenant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Asignar / reasignar tickets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catálogo y stock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Aprobar reservas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movimientos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Vista carga de mecánicos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solicitudes pendientes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217920" y="1097280"/>
            <a:ext cx="2697480" cy="35661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6217920" y="1097280"/>
            <a:ext cx="2697480" cy="64008"/>
          </a:xfrm>
          <a:prstGeom prst="rect">
            <a:avLst/>
          </a:prstGeom>
          <a:solidFill>
            <a:srgbClr val="4ADE80"/>
          </a:solidFill>
          <a:ln w="12700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355080" y="1207008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mechanic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355080" y="1536192"/>
            <a:ext cx="24231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Solo lo suyo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355080" y="1828800"/>
            <a:ext cx="2423160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solo sus tickets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Iniciar ticket asignado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Finalizar ticket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Subir evidencias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Solicitar repuestos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Consumir / liberar reserva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F0F0F4"/>
              </a:buClr>
              <a:buSzPts val="900"/>
              <a:buFont typeface="Calibri"/>
              <a:buChar char="•"/>
            </a:pPr>
            <a:r>
              <a:rPr lang="en-US" sz="900" b="0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Ver catálogo (lectura)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26975" y="4702005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RolesGuard en backend (NestJS)  +  7 políticas RLS específicas para jefe_taller en Supabase PostgreSQL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5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0879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1526" y="1714542"/>
            <a:ext cx="2743268" cy="82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0" b="1" i="0">
                <a:solidFill>
                  <a:srgbClr val="1D1D21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100" y="2571814"/>
            <a:ext cx="7543988" cy="617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5F5F5"/>
                </a:solidFill>
                <a:latin typeface="Arial"/>
              </a:rPr>
              <a:t>Infraestructura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17" y="3257631"/>
            <a:ext cx="891562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17" y="3394794"/>
            <a:ext cx="7201080" cy="41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0A0A8"/>
                </a:solidFill>
                <a:latin typeface="Arial"/>
              </a:rPr>
              <a:t>Tres capas independientes: cada una se despliega, escala y falla por separado.</a:t>
            </a:r>
          </a:p>
        </p:txBody>
      </p:sp>
      <p:sp>
        <p:nvSpPr>
          <p:cNvPr id="8" name="Oval 7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Vista general de la arquitectura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90" y="1440216"/>
            <a:ext cx="2537523" cy="2091742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90" y="1440216"/>
            <a:ext cx="2537523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2369" y="1563663"/>
            <a:ext cx="2263197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Frontend  ·  SSR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69" y="1865422"/>
            <a:ext cx="2263197" cy="1611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Next.js 16 (App Router)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React 19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TanStack Query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shadcn/ui + Tailwind 4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Deploy: Vercel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5638" y="1440216"/>
            <a:ext cx="2537523" cy="2091742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05638" y="1440216"/>
            <a:ext cx="2537523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6517" y="1563663"/>
            <a:ext cx="2263197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Backend  ·  API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517" y="1865422"/>
            <a:ext cx="2263197" cy="1611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NestJS 11 + TypeScript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Prisma 6 (ORM)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Auth JWT (Bearer)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Validación global de DTOs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Deploy: Railway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786" y="1440216"/>
            <a:ext cx="2537523" cy="2091742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786" y="1440216"/>
            <a:ext cx="2537523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0665" y="1563663"/>
            <a:ext cx="2263197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Datos  ·  Servicios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665" y="1865422"/>
            <a:ext cx="2263197" cy="16116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Supabase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· PostgreSQL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· Auth (JWT)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· Storage (evidencias)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Región: East US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31311" y="2376357"/>
            <a:ext cx="233177" cy="219461"/>
          </a:xfrm>
          <a:prstGeom prst="rightArrow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5925460" y="2376357"/>
            <a:ext cx="233177" cy="219461"/>
          </a:xfrm>
          <a:prstGeom prst="rightArrow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5206" y="3806285"/>
            <a:ext cx="8229805" cy="822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El frontend nunca habla directo con la base: todo pasa por la API.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Comunicación HTTPS + token JWT en cada request → un único punto de entrada controlado.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Frontend — Next.js 16 + Vercel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69301" cy="3154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Next.js 16 (App Router) + React 19, rendering en servidor.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Protección de rutas en el servidor:</a:t>
            </a:r>
          </a:p>
          <a:p>
            <a:pPr lvl="1">
              <a:lnSpc>
                <a:spcPct val="105000"/>
              </a:lnSpc>
              <a:spcAft>
                <a:spcPts val="525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middleware valida la sesión (supabase.auth.getUser) en cada request</a:t>
            </a:r>
          </a:p>
          <a:p>
            <a:pPr lvl="1">
              <a:lnSpc>
                <a:spcPct val="105000"/>
              </a:lnSpc>
              <a:spcAft>
                <a:spcPts val="525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redirige a /login si no hay sesión, antes de renderizar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Sesión en cookies vía @supabase/ssr (no localStorage → menos XSS).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TanStack Query para estado de servidor y caché.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shadcn + Tailwind 4 · formularios validados con zod.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authFetch adjunta el token como Bearer (auto-refresh + retry en 401).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El build de producción falla si faltan las env vars de Supabase.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Por qué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Sin lógica de negocio ni llaves secretas en el cliente.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Protección server-side: no depende de 'esconder un botón'.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Cookies &gt; localStorage para la sesión.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Token refrescado de forma transparente.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producto/tract-front  (paquete trackt-front)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Backend / API — NestJS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69301" cy="3154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NestJS 11 + TypeScript: arquitectura modular (un módulo por dominio).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Prisma 6 como ORM → PostgreSQL (queries tipadas, anti-inyección).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Validación global con ValidationPipe: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whitelist → descarta campos no declarados en el DTO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transform → convierte y valida tipos antes de la lógica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Ningún dato entra a la API sin pasar por un filtro.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Deploy en Railway (Node).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Módulos de dominio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auth · tenant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equipos · usuarios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ordenes · tickets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evidencias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inventario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notificaciones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9 módulos aislados → reglas de seguridad por módulo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Base de datos — Supabase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69301" cy="3154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PostgreSQL administrada por Supabase (región East US).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Conexión vía pooler (modo transacción, 6543) en runtime.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Conexión directa (5432) sólo para migraciones.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sslmode=require → tráfico a la DB siempre cifrado.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9B8FFF"/>
                </a:solidFill>
                <a:latin typeface="Arial"/>
              </a:rPr>
              <a:t>tenant_id en TODAS las tablas de negocio → multi-tenant desde el diseño.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Modelo de 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Tenant · Equipo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OrdenTrabajo · Ticket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Evidencia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Repuesto · InventarioStock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ReservaRepuesto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MovimientoInventario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Notificacion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Cubre todo el flujo del taller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0879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1526" y="1714542"/>
            <a:ext cx="2743268" cy="82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0" b="1" i="0">
                <a:solidFill>
                  <a:srgbClr val="1D1D21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100" y="2571814"/>
            <a:ext cx="7543988" cy="617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5F5F5"/>
                </a:solidFill>
                <a:latin typeface="Arial"/>
              </a:rPr>
              <a:t>Seguridad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17" y="3257631"/>
            <a:ext cx="891562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17" y="3394794"/>
            <a:ext cx="7201080" cy="41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0A0A8"/>
                </a:solidFill>
                <a:latin typeface="Arial"/>
              </a:rPr>
              <a:t>Defensa en profundidad: varias capas, no una sola.</a:t>
            </a:r>
          </a:p>
        </p:txBody>
      </p:sp>
      <p:sp>
        <p:nvSpPr>
          <p:cNvPr id="8" name="Oval 7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Autenticación — ¿quién eres?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00720" cy="3154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5F5F5"/>
                </a:solidFill>
                <a:latin typeface="Arial"/>
              </a:rPr>
              <a:t>Auth delegada a Supabase Auth (no manejamos passwords).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5F5F5"/>
                </a:solidFill>
                <a:latin typeface="Arial"/>
              </a:rPr>
              <a:t>Cada request trae Authorization: Bearer &lt;JWT&gt;.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5F5F5"/>
                </a:solidFill>
                <a:latin typeface="Arial"/>
              </a:rPr>
              <a:t>AuthGuard en la API valida antes de cualquier endpoint:</a:t>
            </a:r>
          </a:p>
          <a:p>
            <a:pPr lvl="1">
              <a:lnSpc>
                <a:spcPct val="105000"/>
              </a:lnSpc>
              <a:spcAft>
                <a:spcPts val="450"/>
              </a:spcAft>
            </a:pPr>
            <a:r>
              <a:rPr sz="1012">
                <a:solidFill>
                  <a:srgbClr val="707078"/>
                </a:solidFill>
                <a:latin typeface="Arial"/>
              </a:rPr>
              <a:t>      –   </a:t>
            </a:r>
            <a:r>
              <a:rPr sz="1012">
                <a:solidFill>
                  <a:srgbClr val="A0A0A8"/>
                </a:solidFill>
                <a:latin typeface="Arial"/>
              </a:rPr>
              <a:t>extrae el token del header</a:t>
            </a:r>
          </a:p>
          <a:p>
            <a:pPr lvl="1">
              <a:lnSpc>
                <a:spcPct val="105000"/>
              </a:lnSpc>
              <a:spcAft>
                <a:spcPts val="450"/>
              </a:spcAft>
            </a:pPr>
            <a:r>
              <a:rPr sz="1012">
                <a:solidFill>
                  <a:srgbClr val="707078"/>
                </a:solidFill>
                <a:latin typeface="Arial"/>
              </a:rPr>
              <a:t>      –   </a:t>
            </a:r>
            <a:r>
              <a:rPr sz="1012">
                <a:solidFill>
                  <a:srgbClr val="A0A0A8"/>
                </a:solidFill>
                <a:latin typeface="Arial"/>
              </a:rPr>
              <a:t>lo valida contra Supabase (auth.getUser)</a:t>
            </a:r>
          </a:p>
          <a:p>
            <a:pPr lvl="1">
              <a:lnSpc>
                <a:spcPct val="105000"/>
              </a:lnSpc>
              <a:spcAft>
                <a:spcPts val="450"/>
              </a:spcAft>
            </a:pPr>
            <a:r>
              <a:rPr sz="1012">
                <a:solidFill>
                  <a:srgbClr val="707078"/>
                </a:solidFill>
                <a:latin typeface="Arial"/>
              </a:rPr>
              <a:t>      –   </a:t>
            </a:r>
            <a:r>
              <a:rPr sz="1012">
                <a:solidFill>
                  <a:srgbClr val="A0A0A8"/>
                </a:solidFill>
                <a:latin typeface="Arial"/>
              </a:rPr>
              <a:t>carga el perfil: rol + tenant desde 'profiles'</a:t>
            </a:r>
          </a:p>
          <a:p>
            <a:pPr lvl="1">
              <a:lnSpc>
                <a:spcPct val="105000"/>
              </a:lnSpc>
              <a:spcAft>
                <a:spcPts val="450"/>
              </a:spcAft>
            </a:pPr>
            <a:r>
              <a:rPr sz="1012">
                <a:solidFill>
                  <a:srgbClr val="707078"/>
                </a:solidFill>
                <a:latin typeface="Arial"/>
              </a:rPr>
              <a:t>      –   </a:t>
            </a:r>
            <a:r>
              <a:rPr sz="1012">
                <a:solidFill>
                  <a:srgbClr val="A0A0A8"/>
                </a:solidFill>
                <a:latin typeface="Arial"/>
              </a:rPr>
              <a:t>inyecta el usuario en el request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87171"/>
                </a:solidFill>
                <a:latin typeface="Arial"/>
              </a:rPr>
              <a:t>Sin token válido o sin perfil → 401.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087" b="1">
                <a:solidFill>
                  <a:srgbClr val="6152E8"/>
                </a:solidFill>
                <a:latin typeface="Arial"/>
              </a:rPr>
              <a:t>▸  </a:t>
            </a:r>
            <a:r>
              <a:rPr sz="1087">
                <a:solidFill>
                  <a:srgbClr val="F5F5F5"/>
                </a:solidFill>
                <a:latin typeface="Arial"/>
              </a:rPr>
              <a:t>Caché de perfiles en memoria (TTL 5 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5F5F5"/>
                </a:solidFill>
                <a:latin typeface="Arial"/>
              </a:rPr>
              <a:t>Flujo del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1 · Login en Supabase → JWT firmado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2 · Front guarda sesión en cookie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3 · authFetch envía Bearer a la API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4 · AuthGuard valida y resuelve perfil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5 · Endpoint se ejecuta con el usuario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No inventamos criptografía propia.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Autorización — ¿qué puedes hacer?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37343"/>
            <a:ext cx="8229805" cy="6858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3 roles: admin · jefe_taller · mechanic. RolesGuard + @Roles(...) por endpoint.</a:t>
            </a:r>
          </a:p>
          <a:p>
            <a:pPr>
              <a:lnSpc>
                <a:spcPct val="105000"/>
              </a:lnSpc>
              <a:spcAft>
                <a:spcPts val="450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Modelo de mínimo privilegio — reglas en el código, no en la UI.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206" y="2160324"/>
            <a:ext cx="3703412" cy="425206"/>
          </a:xfrm>
          <a:prstGeom prst="rect">
            <a:avLst/>
          </a:prstGeom>
          <a:solidFill>
            <a:srgbClr val="3D31B0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28618" y="2160324"/>
            <a:ext cx="4594974" cy="425206"/>
          </a:xfrm>
          <a:prstGeom prst="rect">
            <a:avLst/>
          </a:prstGeom>
          <a:solidFill>
            <a:srgbClr val="3D31B0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69" y="2160324"/>
            <a:ext cx="3497667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5F5F5"/>
                </a:solidFill>
                <a:latin typeface="Arial"/>
              </a:rPr>
              <a:t>Acción sobre un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781" y="2160324"/>
            <a:ext cx="4389229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5F5F5"/>
                </a:solidFill>
                <a:latin typeface="Arial"/>
              </a:rPr>
              <a:t>Roles permitidos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206" y="2585530"/>
            <a:ext cx="3703412" cy="425206"/>
          </a:xfrm>
          <a:prstGeom prst="rect">
            <a:avLst/>
          </a:prstGeom>
          <a:solidFill>
            <a:srgbClr val="151518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28618" y="2585530"/>
            <a:ext cx="4594974" cy="425206"/>
          </a:xfrm>
          <a:prstGeom prst="rect">
            <a:avLst/>
          </a:prstGeom>
          <a:solidFill>
            <a:srgbClr val="151518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2369" y="2585530"/>
            <a:ext cx="3497667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F5F5"/>
                </a:solidFill>
                <a:latin typeface="Arial"/>
              </a:rPr>
              <a:t>Listar / 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5781" y="2585530"/>
            <a:ext cx="4389229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8FFF"/>
                </a:solidFill>
                <a:latin typeface="Consolas"/>
              </a:rPr>
              <a:t>admin · jefe_taller · mechanic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206" y="3010736"/>
            <a:ext cx="3703412" cy="425206"/>
          </a:xfrm>
          <a:prstGeom prst="rect">
            <a:avLst/>
          </a:prstGeom>
          <a:solidFill>
            <a:srgbClr val="1D1D21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28618" y="3010736"/>
            <a:ext cx="4594974" cy="425206"/>
          </a:xfrm>
          <a:prstGeom prst="rect">
            <a:avLst/>
          </a:prstGeom>
          <a:solidFill>
            <a:srgbClr val="1D1D21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2369" y="3010736"/>
            <a:ext cx="3497667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F5F5"/>
                </a:solidFill>
                <a:latin typeface="Arial"/>
              </a:rPr>
              <a:t>Asignar / reasignar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5781" y="3010736"/>
            <a:ext cx="4389229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8FFF"/>
                </a:solidFill>
                <a:latin typeface="Consolas"/>
              </a:rPr>
              <a:t>admin · jefe_taller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206" y="3435942"/>
            <a:ext cx="3703412" cy="425206"/>
          </a:xfrm>
          <a:prstGeom prst="rect">
            <a:avLst/>
          </a:prstGeom>
          <a:solidFill>
            <a:srgbClr val="151518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28618" y="3435942"/>
            <a:ext cx="4594974" cy="425206"/>
          </a:xfrm>
          <a:prstGeom prst="rect">
            <a:avLst/>
          </a:prstGeom>
          <a:solidFill>
            <a:srgbClr val="151518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2369" y="3435942"/>
            <a:ext cx="3497667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F5F5"/>
                </a:solidFill>
                <a:latin typeface="Arial"/>
              </a:rPr>
              <a:t>Iniciar / finalizar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5781" y="3435942"/>
            <a:ext cx="4389229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8FFF"/>
                </a:solidFill>
                <a:latin typeface="Consolas"/>
              </a:rPr>
              <a:t>mechanic (el asignado)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206" y="3861148"/>
            <a:ext cx="3703412" cy="425206"/>
          </a:xfrm>
          <a:prstGeom prst="rect">
            <a:avLst/>
          </a:prstGeom>
          <a:solidFill>
            <a:srgbClr val="1D1D21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28618" y="3861148"/>
            <a:ext cx="4594974" cy="425206"/>
          </a:xfrm>
          <a:prstGeom prst="rect">
            <a:avLst/>
          </a:prstGeom>
          <a:solidFill>
            <a:srgbClr val="1D1D21"/>
          </a:solidFill>
          <a:ln w="7143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2369" y="3861148"/>
            <a:ext cx="3497667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F5F5F5"/>
                </a:solidFill>
                <a:latin typeface="Arial"/>
              </a:rPr>
              <a:t>Validar / cerrar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5781" y="3861148"/>
            <a:ext cx="4389229" cy="4252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8FFF"/>
                </a:solidFill>
                <a:latin typeface="Consolas"/>
              </a:rPr>
              <a:t>admin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Aislamiento multi-tenant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00720" cy="30861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Cada usuario pertenece a un tenant (taller).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TenantService resuelve el tenant_id desde el TOKEN…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9B8FFF"/>
                </a:solidFill>
                <a:latin typeface="Arial"/>
              </a:rPr>
              <a:t>…nunca desde lo que mande el cliente.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Toda consulta filtra por tenant_id.</a:t>
            </a:r>
          </a:p>
          <a:p>
            <a:pPr>
              <a:lnSpc>
                <a:spcPct val="105000"/>
              </a:lnSpc>
              <a:spcAft>
                <a:spcPts val="750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4ADE80"/>
                </a:solidFill>
                <a:latin typeface="Arial"/>
              </a:rPr>
              <a:t>Un taller jamás ve datos de otro.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87171"/>
                </a:solidFill>
                <a:latin typeface="Arial"/>
              </a:rPr>
              <a:t>Ataque que cierra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Cambiar un ID en la URL para ver datos de otro taller.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Aunque lo intenten, la API siempre filtra por el tenant de la sesión autenticada.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El tenant no es un parámetro: se deriva del token.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Evidencias / archivos — signed URLs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00720" cy="3154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9B8FFF"/>
                </a:solidFill>
                <a:latin typeface="Arial"/>
              </a:rPr>
              <a:t>El archivo nunca pasa por nuestra API.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1 · Cliente pide URL → API valida rol, tamaño y tipo</a:t>
            </a:r>
          </a:p>
          <a:p>
            <a:pPr lvl="1">
              <a:lnSpc>
                <a:spcPct val="105000"/>
              </a:lnSpc>
              <a:spcAft>
                <a:spcPts val="525"/>
              </a:spcAft>
            </a:pPr>
            <a:r>
              <a:rPr sz="1050">
                <a:solidFill>
                  <a:srgbClr val="707078"/>
                </a:solidFill>
                <a:latin typeface="Arial"/>
              </a:rPr>
              <a:t>      –   </a:t>
            </a:r>
            <a:r>
              <a:rPr sz="1050">
                <a:solidFill>
                  <a:srgbClr val="A0A0A8"/>
                </a:solidFill>
                <a:latin typeface="Arial"/>
              </a:rPr>
              <a:t>genera URL firmada (TTL 60 s)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2 · Cliente sube directo a Supabase Storage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3 · Cliente confirma → API verifica que existe y registra</a:t>
            </a:r>
          </a:p>
          <a:p>
            <a:pPr>
              <a:lnSpc>
                <a:spcPct val="105000"/>
              </a:lnSpc>
              <a:spcAft>
                <a:spcPts val="52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Descarga con URL firmada temporal (TTL 5 min).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FBBF24"/>
                </a:solidFill>
                <a:latin typeface="Arial"/>
              </a:rPr>
              <a:t>Controles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MIME whitelist: jpg · png · webp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Tamaño máximo: 5 MB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Ruta scopeada: tenant_id/ticket_id/uuid.ext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Descarga firmada y temporal (5 min)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Service-role key SÓLO en el servidor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Acceso por rol + asignación al ticket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Secretos, red y RLS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4800720" cy="3154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.env en .gitignore; sólo se versiona .env.example sin valores.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Service-role key y DB password sólo en el entorno del servidor.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RLS habilitado en Supabase → segunda capa a nivel de base.</a:t>
            </a:r>
          </a:p>
          <a:p>
            <a:pPr>
              <a:lnSpc>
                <a:spcPct val="105000"/>
              </a:lnSpc>
              <a:spcAft>
                <a:spcPts val="675"/>
              </a:spcAft>
            </a:pPr>
            <a:r>
              <a:rPr sz="1125" b="1">
                <a:solidFill>
                  <a:srgbClr val="6152E8"/>
                </a:solidFill>
                <a:latin typeface="Arial"/>
              </a:rPr>
              <a:t>▸  </a:t>
            </a:r>
            <a:r>
              <a:rPr sz="1125">
                <a:solidFill>
                  <a:srgbClr val="F5F5F5"/>
                </a:solidFill>
                <a:latin typeface="Arial"/>
              </a:rPr>
              <a:t>HTTPS extremo a extremo · SSL obligatorio hacia la DB.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20828" y="1371634"/>
            <a:ext cx="3223340" cy="3086177"/>
          </a:xfrm>
          <a:prstGeom prst="roundRect">
            <a:avLst>
              <a:gd name="adj" fmla="val 6000"/>
            </a:avLst>
          </a:prstGeom>
          <a:solidFill>
            <a:srgbClr val="151518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20828" y="1371634"/>
            <a:ext cx="3223340" cy="38100"/>
          </a:xfrm>
          <a:prstGeom prst="rect">
            <a:avLst/>
          </a:prstGeom>
          <a:solidFill>
            <a:srgbClr val="9B8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71707" y="1495081"/>
            <a:ext cx="2949014" cy="27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5" b="1" i="0">
                <a:solidFill>
                  <a:srgbClr val="9B8FFF"/>
                </a:solidFill>
                <a:latin typeface="Arial"/>
              </a:rPr>
              <a:t>Defensa en profundidad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1707" y="1796840"/>
            <a:ext cx="2949014" cy="2606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Para que un dato salga indebidamente tendría que fallar TODO: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1 · validación de input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2 · guard de auth (JWT)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3 · guard de roles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4 · filtro de tenant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5 · RLS en la base</a:t>
            </a:r>
          </a:p>
          <a:p>
            <a:pPr>
              <a:lnSpc>
                <a:spcPct val="104000"/>
              </a:lnSpc>
              <a:spcAft>
                <a:spcPts val="375"/>
              </a:spcAft>
            </a:pPr>
            <a:endParaRPr sz="937">
              <a:solidFill>
                <a:srgbClr val="A0A0A8"/>
              </a:solidFill>
              <a:latin typeface="Arial"/>
            </a:endParaRPr>
          </a:p>
          <a:p>
            <a:pPr>
              <a:lnSpc>
                <a:spcPct val="104000"/>
              </a:lnSpc>
              <a:spcAft>
                <a:spcPts val="375"/>
              </a:spcAft>
            </a:pPr>
            <a:r>
              <a:rPr sz="937">
                <a:solidFill>
                  <a:srgbClr val="A0A0A8"/>
                </a:solidFill>
                <a:latin typeface="Arial"/>
              </a:rPr>
              <a:t>Varias rejas, no una sola.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628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30" cy="5143628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90" y="342908"/>
            <a:ext cx="7543988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7" b="1" i="0">
                <a:solidFill>
                  <a:srgbClr val="9B8FFF"/>
                </a:solidFill>
                <a:latin typeface="Arial"/>
              </a:rPr>
              <a:t>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90" y="562370"/>
            <a:ext cx="8229805" cy="5486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 i="0">
                <a:solidFill>
                  <a:srgbClr val="F5F5F5"/>
                </a:solidFill>
                <a:latin typeface="Arial"/>
              </a:rPr>
              <a:t>Proceso — Gitflow &amp; PRs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5206" y="1111023"/>
            <a:ext cx="617235" cy="28575"/>
          </a:xfrm>
          <a:prstGeom prst="rect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11490" y="4841869"/>
            <a:ext cx="89156" cy="89156"/>
          </a:xfrm>
          <a:prstGeom prst="ellipse">
            <a:avLst/>
          </a:prstGeom>
          <a:solidFill>
            <a:srgbClr val="615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70" y="4787003"/>
            <a:ext cx="4800720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Trackt · Infraestructura &amp; Seguridad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1152" y="4787003"/>
            <a:ext cx="1028725" cy="20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707078"/>
                </a:solidFill>
                <a:latin typeface="Arial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206" y="1371634"/>
            <a:ext cx="8229805" cy="27432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main protegida: nada se mergea sin Pull Request revisado.</a:t>
            </a:r>
          </a:p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Una rama = un ticket de Linear = un PR · squash merge.</a:t>
            </a:r>
          </a:p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Conventional Commits + Conventional Branches con ID de Linear.</a:t>
            </a:r>
          </a:p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F5F5F5"/>
                </a:solidFill>
                <a:latin typeface="Arial"/>
              </a:rPr>
              <a:t>Trazabilidad automática: la rama mueve el estado del ticket.</a:t>
            </a:r>
          </a:p>
          <a:p>
            <a:pPr>
              <a:lnSpc>
                <a:spcPct val="105000"/>
              </a:lnSpc>
              <a:spcAft>
                <a:spcPts val="825"/>
              </a:spcAft>
            </a:pPr>
            <a:r>
              <a:rPr sz="1200" b="1">
                <a:solidFill>
                  <a:srgbClr val="6152E8"/>
                </a:solidFill>
                <a:latin typeface="Arial"/>
              </a:rPr>
              <a:t>▸  </a:t>
            </a:r>
            <a:r>
              <a:rPr sz="1200">
                <a:solidFill>
                  <a:srgbClr val="9B8FFF"/>
                </a:solidFill>
                <a:latin typeface="Arial"/>
              </a:rPr>
              <a:t>La seguridad también es proceso: reduce el riesgo de código sin revisar en producción.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6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w="12700" cap="flat" cmpd="sng">
            <a:solidFill>
              <a:srgbClr val="34D399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9 módulos NestJS — endpoints por rol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Cada módulo encapsula controlador, servicio y DTOs. Inventario y Reservas son nuevos en esta versión.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457200" y="1298448"/>
            <a:ext cx="2743200" cy="100584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457200" y="1298448"/>
            <a:ext cx="54864" cy="1005840"/>
          </a:xfrm>
          <a:prstGeom prst="rect">
            <a:avLst/>
          </a:prstGeom>
          <a:solidFill>
            <a:srgbClr val="737388"/>
          </a:solidFill>
          <a:ln w="12700" cap="flat" cmpd="sng">
            <a:solidFill>
              <a:srgbClr val="7373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6"/>
          <p:cNvSpPr/>
          <p:nvPr/>
        </p:nvSpPr>
        <p:spPr>
          <a:xfrm>
            <a:off x="594360" y="13898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594360" y="1682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 /auth/profile · JWT Supabase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3337560" y="1298448"/>
            <a:ext cx="2743200" cy="100584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3337560" y="1298448"/>
            <a:ext cx="54864" cy="1005840"/>
          </a:xfrm>
          <a:prstGeom prst="rect">
            <a:avLst/>
          </a:prstGeom>
          <a:solidFill>
            <a:srgbClr val="737388"/>
          </a:solidFill>
          <a:ln w="12700" cap="flat" cmpd="sng">
            <a:solidFill>
              <a:srgbClr val="7373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3474720" y="13898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Equipos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3474720" y="1682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GET/POST /equipos · PATCH /:id/desactivar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6217920" y="1298448"/>
            <a:ext cx="2743200" cy="100584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6217920" y="1298448"/>
            <a:ext cx="54864" cy="1005840"/>
          </a:xfrm>
          <a:prstGeom prst="rect">
            <a:avLst/>
          </a:prstGeom>
          <a:solidFill>
            <a:srgbClr val="737388"/>
          </a:solidFill>
          <a:ln w="12700" cap="flat" cmpd="sng">
            <a:solidFill>
              <a:srgbClr val="7373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6"/>
          <p:cNvSpPr/>
          <p:nvPr/>
        </p:nvSpPr>
        <p:spPr>
          <a:xfrm>
            <a:off x="6355080" y="1389888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6355080" y="1682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 /usuarios · invitación por correo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457200" y="2432304"/>
            <a:ext cx="2743200" cy="100584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457200" y="2432304"/>
            <a:ext cx="54864" cy="1005840"/>
          </a:xfrm>
          <a:prstGeom prst="rect">
            <a:avLst/>
          </a:prstGeom>
          <a:solidFill>
            <a:srgbClr val="737388"/>
          </a:solidFill>
          <a:ln w="12700" cap="flat" cmpd="sng">
            <a:solidFill>
              <a:srgbClr val="7373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594360" y="2523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Órdenes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94360" y="28163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GET/POST /ordenes-trabajo · PATCH /:id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3337560" y="2432304"/>
            <a:ext cx="2743200" cy="100584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6"/>
          <p:cNvSpPr/>
          <p:nvPr/>
        </p:nvSpPr>
        <p:spPr>
          <a:xfrm>
            <a:off x="3337560" y="2432304"/>
            <a:ext cx="54864" cy="1005840"/>
          </a:xfrm>
          <a:prstGeom prst="rect">
            <a:avLst/>
          </a:prstGeom>
          <a:solidFill>
            <a:srgbClr val="737388"/>
          </a:solidFill>
          <a:ln w="12700" cap="flat" cmpd="sng">
            <a:solidFill>
              <a:srgbClr val="7373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3474720" y="2523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Tickets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3474720" y="28163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asignar · reasignar · iniciar · finalizar · validar · cerrar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6217920" y="2432304"/>
            <a:ext cx="2743200" cy="100584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6"/>
          <p:cNvSpPr/>
          <p:nvPr/>
        </p:nvSpPr>
        <p:spPr>
          <a:xfrm>
            <a:off x="6217920" y="2432304"/>
            <a:ext cx="54864" cy="1005840"/>
          </a:xfrm>
          <a:prstGeom prst="rect">
            <a:avLst/>
          </a:prstGeom>
          <a:solidFill>
            <a:srgbClr val="737388"/>
          </a:solidFill>
          <a:ln w="12700" cap="flat" cmpd="sng">
            <a:solidFill>
              <a:srgbClr val="7373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6355080" y="2523744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Evidencias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6355080" y="281635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POST /request-upload · POST /confirm-upload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457200" y="3566160"/>
            <a:ext cx="2743200" cy="100584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6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737388"/>
          </a:solidFill>
          <a:ln w="12700" cap="flat" cmpd="sng">
            <a:solidFill>
              <a:srgbClr val="7373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59436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F0F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0F0F4"/>
                </a:solidFill>
                <a:latin typeface="Calibri"/>
                <a:ea typeface="Calibri"/>
                <a:cs typeface="Calibri"/>
                <a:sym typeface="Calibri"/>
              </a:rPr>
              <a:t>Notificaciones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594360" y="3950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GET /notificaciones · PATCH /:id/leida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3337560" y="3566160"/>
            <a:ext cx="2743200" cy="1005840"/>
          </a:xfrm>
          <a:prstGeom prst="rect">
            <a:avLst/>
          </a:prstGeom>
          <a:solidFill>
            <a:srgbClr val="16161C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3337560" y="3566160"/>
            <a:ext cx="54864" cy="100584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347472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Inventario  ⭐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3474720" y="3950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repuestos · stock · entradas · ajustes · movimientos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6217920" y="3566160"/>
            <a:ext cx="2743200" cy="1005840"/>
          </a:xfrm>
          <a:prstGeom prst="rect">
            <a:avLst/>
          </a:prstGeom>
          <a:solidFill>
            <a:srgbClr val="16161C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6217920" y="3566160"/>
            <a:ext cx="54864" cy="100584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6355080" y="365760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Reservas  ⭐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6355080" y="395020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solicitar · aprobar · consumir · liberar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12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0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w="12700" cap="flat" cmpd="sng">
            <a:solidFill>
              <a:srgbClr val="34D399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7"/>
          <p:cNvSpPr/>
          <p:nvPr/>
        </p:nvSpPr>
        <p:spPr>
          <a:xfrm>
            <a:off x="457200" y="274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Ciclo de vida del Ticket — transiciones por rol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457200" y="1097280"/>
            <a:ext cx="1417320" cy="457200"/>
          </a:xfrm>
          <a:prstGeom prst="rect">
            <a:avLst/>
          </a:prstGeom>
          <a:solidFill>
            <a:srgbClr val="737388">
              <a:alpha val="30196"/>
            </a:srgbClr>
          </a:solidFill>
          <a:ln w="15225" cap="flat" cmpd="sng">
            <a:solidFill>
              <a:srgbClr val="7373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7"/>
          <p:cNvSpPr/>
          <p:nvPr/>
        </p:nvSpPr>
        <p:spPr>
          <a:xfrm>
            <a:off x="457200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1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NUEVO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1874520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asignar →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2121408" y="1097280"/>
            <a:ext cx="1417320" cy="457200"/>
          </a:xfrm>
          <a:prstGeom prst="rect">
            <a:avLst/>
          </a:prstGeom>
          <a:solidFill>
            <a:srgbClr val="3B82F6">
              <a:alpha val="30196"/>
            </a:srgbClr>
          </a:solidFill>
          <a:ln w="152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7"/>
          <p:cNvSpPr/>
          <p:nvPr/>
        </p:nvSpPr>
        <p:spPr>
          <a:xfrm>
            <a:off x="2121408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onsolas"/>
              <a:buNone/>
            </a:pPr>
            <a:r>
              <a:rPr lang="en-US" sz="850" b="1" i="0" u="none" strike="noStrike" cap="non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ASIGNADO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3538728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iniciar →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3785616" y="1097280"/>
            <a:ext cx="1417320" cy="457200"/>
          </a:xfrm>
          <a:prstGeom prst="rect">
            <a:avLst/>
          </a:prstGeom>
          <a:solidFill>
            <a:srgbClr val="FBBF24">
              <a:alpha val="30196"/>
            </a:srgbClr>
          </a:solidFill>
          <a:ln w="15225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7"/>
          <p:cNvSpPr/>
          <p:nvPr/>
        </p:nvSpPr>
        <p:spPr>
          <a:xfrm>
            <a:off x="3785616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50"/>
              <a:buFont typeface="Consolas"/>
              <a:buNone/>
            </a:pPr>
            <a:r>
              <a:rPr lang="en-US" sz="850" b="1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EN_EJECUCIÓN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5202936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finalizar →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5449824" y="1097280"/>
            <a:ext cx="1417320" cy="457200"/>
          </a:xfrm>
          <a:prstGeom prst="rect">
            <a:avLst/>
          </a:prstGeom>
          <a:solidFill>
            <a:srgbClr val="4ADE80">
              <a:alpha val="30196"/>
            </a:srgbClr>
          </a:solidFill>
          <a:ln w="15225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7"/>
          <p:cNvSpPr/>
          <p:nvPr/>
        </p:nvSpPr>
        <p:spPr>
          <a:xfrm>
            <a:off x="5449824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850"/>
              <a:buFont typeface="Consolas"/>
              <a:buNone/>
            </a:pPr>
            <a:r>
              <a:rPr lang="en-US" sz="850" b="1" i="0" u="none" strike="noStrike" cap="non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EJECUTADO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6867144" y="1207008"/>
            <a:ext cx="24688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validar/cerrar →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7114032" y="1097280"/>
            <a:ext cx="1417320" cy="457200"/>
          </a:xfrm>
          <a:prstGeom prst="rect">
            <a:avLst/>
          </a:prstGeom>
          <a:solidFill>
            <a:srgbClr val="16A34A">
              <a:alpha val="30196"/>
            </a:srgbClr>
          </a:solidFill>
          <a:ln w="15225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7"/>
          <p:cNvSpPr/>
          <p:nvPr/>
        </p:nvSpPr>
        <p:spPr>
          <a:xfrm>
            <a:off x="7114032" y="1097280"/>
            <a:ext cx="1417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onsolas"/>
              <a:buNone/>
            </a:pPr>
            <a:r>
              <a:rPr lang="en-US" sz="850" b="1" i="0" u="none" strike="noStrike" cap="none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rPr>
              <a:t>CERRADO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6" name="Google Shape;506;p17"/>
          <p:cNvGraphicFramePr/>
          <p:nvPr/>
        </p:nvGraphicFramePr>
        <p:xfrm>
          <a:off x="45720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{7C22BBE9-236B-47B2-9936-DCF749294B30}</a:tableStyleId>
              </a:tblPr>
              <a:tblGrid>
                <a:gridCol w="146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Acción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31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Endpoint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31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Rol permitido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D31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/:id/asignar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reasignar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/:id/reasignar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E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iniciar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/:id/iniciar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mechanic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finalizar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/:id/finalizar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mechanic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E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/:id/validar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cerrar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/:id/cerrar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E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 · jefe_taller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E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cancelar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0F4"/>
                        </a:buClr>
                        <a:buSzPts val="900"/>
                        <a:buFont typeface="Consolas"/>
                        <a:buNone/>
                      </a:pPr>
                      <a:r>
                        <a:rPr lang="en-US" sz="900" u="none" strike="noStrike" cap="none">
                          <a:solidFill>
                            <a:srgbClr val="F0F0F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PATCH /:id/cancelar</a:t>
                      </a:r>
                      <a:endParaRPr sz="9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DE8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strike="noStrike" cap="none">
                          <a:solidFill>
                            <a:srgbClr val="4ADE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9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3A3A4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6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7" name="Google Shape;507;p17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Guard de rol por endpoint — RolesGuard verifica el claim de rol del JWT en cada transición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13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34D399">
              <a:alpha val="80000"/>
            </a:srgbClr>
          </a:solidFill>
          <a:ln w="12700" cap="flat" cmpd="sng">
            <a:solidFill>
              <a:srgbClr val="34D399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8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Módulo de Inventario y Reservas — nuevo en v2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8"/>
          <p:cNvSpPr/>
          <p:nvPr/>
        </p:nvSpPr>
        <p:spPr>
          <a:xfrm>
            <a:off x="457200" y="1097280"/>
            <a:ext cx="54864" cy="59436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640080" y="11521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repuestos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640080" y="14173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Catálogo con código único por tenant, categoría, unidad y stock mínimo.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457200" y="1783080"/>
            <a:ext cx="54864" cy="59436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8"/>
          <p:cNvSpPr/>
          <p:nvPr/>
        </p:nvSpPr>
        <p:spPr>
          <a:xfrm>
            <a:off x="640080" y="18379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inventario_stock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640080" y="21031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Stock 1:1 con repuesto: stockActual, stockReservado, stockDisponible.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8"/>
          <p:cNvSpPr/>
          <p:nvPr/>
        </p:nvSpPr>
        <p:spPr>
          <a:xfrm>
            <a:off x="457200" y="2468880"/>
            <a:ext cx="54864" cy="59436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8"/>
          <p:cNvSpPr/>
          <p:nvPr/>
        </p:nvSpPr>
        <p:spPr>
          <a:xfrm>
            <a:off x="640080" y="25237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reservas_repuesto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640080" y="27889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Reserva por ticket: SOLICITADA → RESERVADA → CONSUMIDA / LIBERADA.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8"/>
          <p:cNvSpPr/>
          <p:nvPr/>
        </p:nvSpPr>
        <p:spPr>
          <a:xfrm>
            <a:off x="457200" y="3154680"/>
            <a:ext cx="54864" cy="59436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640080" y="32095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reserva_repuesto_items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640080" y="34747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Ítems de una reserva (N repuestos por reserva).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8"/>
          <p:cNvSpPr/>
          <p:nvPr/>
        </p:nvSpPr>
        <p:spPr>
          <a:xfrm>
            <a:off x="457200" y="3840480"/>
            <a:ext cx="54864" cy="594360"/>
          </a:xfrm>
          <a:prstGeom prst="rect">
            <a:avLst/>
          </a:prstGeom>
          <a:solidFill>
            <a:srgbClr val="34D399"/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8"/>
          <p:cNvSpPr/>
          <p:nvPr/>
        </p:nvSpPr>
        <p:spPr>
          <a:xfrm>
            <a:off x="640080" y="389534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movimientos_inventario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640080" y="4160520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Registro inmutable: ENTRADA · SALIDA · AJUSTE · RESERVA · LIBERACION · CONSUMO.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8"/>
          <p:cNvSpPr/>
          <p:nvPr/>
        </p:nvSpPr>
        <p:spPr>
          <a:xfrm>
            <a:off x="594360" y="4636008"/>
            <a:ext cx="78638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🔒  Control transaccional con Prisma $transaction — garantiza consistencia al consumir o liberar stock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14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A78BFA">
              <a:alpha val="80000"/>
            </a:srgbClr>
          </a:solidFill>
          <a:ln w="12700" cap="flat" cmpd="sng">
            <a:solidFill>
              <a:srgbClr val="A78BF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Arquitectura frontend — Next.js App Router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Estructura de rutas separada por grupos de autenticación y app protegida.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1298448"/>
            <a:ext cx="4114800" cy="333756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457200" y="1298448"/>
            <a:ext cx="4114800" cy="45720"/>
          </a:xfrm>
          <a:prstGeom prst="rect">
            <a:avLst/>
          </a:prstGeom>
          <a:solidFill>
            <a:srgbClr val="A78BFA"/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94360" y="13898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Estructura de rutas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0080" y="171907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onsolas"/>
                <a:ea typeface="Consolas"/>
                <a:cs typeface="Consolas"/>
                <a:sym typeface="Consolas"/>
              </a:rPr>
              <a:t>src/app/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0080" y="192938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  (auth)/            ← rutas públicas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40080" y="213969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login</a:t>
            </a:r>
            <a:r>
              <a:rPr lang="en-US" sz="850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40080" y="235000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forgot-password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85805" y="2560320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reset-password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0080" y="277063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EE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22D3EE"/>
                </a:solidFill>
                <a:latin typeface="Consolas"/>
                <a:ea typeface="Consolas"/>
                <a:cs typeface="Consolas"/>
                <a:sym typeface="Consolas"/>
              </a:rPr>
              <a:t>  (app)/             ← rutas protegidas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0080" y="298094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dashboard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640080" y="319125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ordenes  ·  ordenes/:id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" y="340156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tickets  ·  tickets/:id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40080" y="361188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mis-tickets  ·  mis-tickets/:id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40080" y="382219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equipos  ·  usuarios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40080" y="403250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inventario  (repuestos + reservas)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40080" y="424281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onsolas"/>
                <a:ea typeface="Consolas"/>
                <a:cs typeface="Consolas"/>
                <a:sym typeface="Consolas"/>
              </a:rPr>
              <a:t>    taller/carga  ·  configuracion/perfil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7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548640" y="201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Flujo de Acceso al Sistema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Login · Recuperación · Reset · Validaciones · Feedback visual </a:t>
            </a:r>
            <a:r>
              <a:rPr lang="en-US" sz="850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  (auth)/            ← rutas públicas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endParaRPr sz="1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65785" y="1051560"/>
            <a:ext cx="2697600" cy="34746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365760" y="1051560"/>
            <a:ext cx="2697600" cy="411600"/>
          </a:xfrm>
          <a:prstGeom prst="rect">
            <a:avLst/>
          </a:prstGeom>
          <a:solidFill>
            <a:srgbClr val="6C63FF"/>
          </a:solidFill>
          <a:ln w="12700" cap="flat" cmpd="sng">
            <a:solidFill>
              <a:srgbClr val="6C6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365760" y="1051560"/>
            <a:ext cx="269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/login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38912" y="1600200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66928" y="15727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Validación de campos en tiempo real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38912" y="2167128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66928" y="21396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Mensajes de error explícitos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38912" y="2734056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566928" y="270662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Feedback visual por estado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38912" y="3300984"/>
            <a:ext cx="54900" cy="237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566928" y="3281105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Redirección a /dashboard si hay sesión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3291840" y="1051560"/>
            <a:ext cx="2697600" cy="34746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3291840" y="1051560"/>
            <a:ext cx="2697600" cy="4116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3291840" y="1051560"/>
            <a:ext cx="269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/forgot-password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364992" y="1600200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3493008" y="15727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Ingreso de email registrado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3364992" y="2167128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3493008" y="21396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Envío de correo de recuperación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3364992" y="2734056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3493008" y="270662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Confirmación visual de envío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364992" y="3300984"/>
            <a:ext cx="54900" cy="237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3493008" y="3273552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Manejo de errores por correo no encontrado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6217920" y="1051560"/>
            <a:ext cx="2697600" cy="34746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217920" y="1051560"/>
            <a:ext cx="2697600" cy="411600"/>
          </a:xfrm>
          <a:prstGeom prst="rect">
            <a:avLst/>
          </a:prstGeom>
          <a:solidFill>
            <a:srgbClr val="22D3A5"/>
          </a:solidFill>
          <a:ln w="12700" cap="flat" cmpd="sng">
            <a:solidFill>
              <a:srgbClr val="22D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6217920" y="1051560"/>
            <a:ext cx="269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0F1117"/>
                </a:solidFill>
                <a:latin typeface="Consolas"/>
                <a:ea typeface="Consolas"/>
                <a:cs typeface="Consolas"/>
                <a:sym typeface="Consolas"/>
              </a:rPr>
              <a:t>/reset-password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291072" y="1600200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419088" y="1572768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Token desde URL (auth/callback)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291072" y="2167128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6419088" y="2139696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Ingreso de nueva contraseña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291072" y="2734056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419088" y="2706624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Confirmación de coincidencia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291072" y="3300984"/>
            <a:ext cx="54900" cy="237600"/>
          </a:xfrm>
          <a:prstGeom prst="rect">
            <a:avLst/>
          </a:prstGeom>
          <a:solidFill>
            <a:srgbClr val="22D3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419088" y="3273552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Redirección post-reset a /login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65760" y="4754880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El flujo completo: acceso inicial → recuperación de contraseña → restablecimiento → ingreso al sistema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66375" y="3855575"/>
            <a:ext cx="2436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548640" y="201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Protección de Rutas y Autenticación Visual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Middleware · requireSession() · Redirección por estado de sesión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65760" y="1554480"/>
            <a:ext cx="1371600" cy="914400"/>
          </a:xfrm>
          <a:prstGeom prst="rect">
            <a:avLst/>
          </a:prstGeom>
          <a:solidFill>
            <a:srgbClr val="1E2235"/>
          </a:solidFill>
          <a:ln w="19050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365760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Usuario entra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 ruta privada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1"/>
          <p:cNvCxnSpPr/>
          <p:nvPr/>
        </p:nvCxnSpPr>
        <p:spPr>
          <a:xfrm>
            <a:off x="1737360" y="2011680"/>
            <a:ext cx="25590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6" name="Google Shape;256;p11"/>
          <p:cNvSpPr/>
          <p:nvPr/>
        </p:nvSpPr>
        <p:spPr>
          <a:xfrm>
            <a:off x="1810512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993392" y="1554480"/>
            <a:ext cx="1371600" cy="914400"/>
          </a:xfrm>
          <a:prstGeom prst="rect">
            <a:avLst/>
          </a:prstGeom>
          <a:solidFill>
            <a:srgbClr val="1E2235"/>
          </a:solidFill>
          <a:ln w="1905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993392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revisa sesión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(Supabase)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11"/>
          <p:cNvCxnSpPr/>
          <p:nvPr/>
        </p:nvCxnSpPr>
        <p:spPr>
          <a:xfrm>
            <a:off x="3364992" y="2011680"/>
            <a:ext cx="25590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11"/>
          <p:cNvSpPr/>
          <p:nvPr/>
        </p:nvSpPr>
        <p:spPr>
          <a:xfrm>
            <a:off x="3438144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3621024" y="1554480"/>
            <a:ext cx="1371600" cy="914400"/>
          </a:xfrm>
          <a:prstGeom prst="rect">
            <a:avLst/>
          </a:prstGeom>
          <a:solidFill>
            <a:srgbClr val="2D1B1B"/>
          </a:solidFill>
          <a:ln w="1905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3621024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Sin sesión →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redirige 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/login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11"/>
          <p:cNvCxnSpPr/>
          <p:nvPr/>
        </p:nvCxnSpPr>
        <p:spPr>
          <a:xfrm>
            <a:off x="4992624" y="2011680"/>
            <a:ext cx="25590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4" name="Google Shape;264;p11"/>
          <p:cNvSpPr/>
          <p:nvPr/>
        </p:nvSpPr>
        <p:spPr>
          <a:xfrm>
            <a:off x="5065776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248656" y="1554480"/>
            <a:ext cx="1371600" cy="914400"/>
          </a:xfrm>
          <a:prstGeom prst="rect">
            <a:avLst/>
          </a:prstGeom>
          <a:solidFill>
            <a:srgbClr val="1B2D1E"/>
          </a:solidFill>
          <a:ln w="19050" cap="flat" cmpd="sng">
            <a:solidFill>
              <a:srgbClr val="22D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5248656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Con sesión →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Layout carga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perfil + rol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11"/>
          <p:cNvCxnSpPr/>
          <p:nvPr/>
        </p:nvCxnSpPr>
        <p:spPr>
          <a:xfrm>
            <a:off x="6620256" y="2011680"/>
            <a:ext cx="255900" cy="0"/>
          </a:xfrm>
          <a:prstGeom prst="straightConnector1">
            <a:avLst/>
          </a:prstGeom>
          <a:noFill/>
          <a:ln w="19050" cap="flat" cmpd="sng">
            <a:solidFill>
              <a:srgbClr val="94A3B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8" name="Google Shape;268;p11"/>
          <p:cNvSpPr/>
          <p:nvPr/>
        </p:nvSpPr>
        <p:spPr>
          <a:xfrm>
            <a:off x="6693408" y="1901952"/>
            <a:ext cx="183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876288" y="1554480"/>
            <a:ext cx="1371600" cy="914400"/>
          </a:xfrm>
          <a:prstGeom prst="rect">
            <a:avLst/>
          </a:prstGeom>
          <a:solidFill>
            <a:srgbClr val="1E1B2D"/>
          </a:solidFill>
          <a:ln w="19050" cap="flat" cmpd="sng">
            <a:solidFill>
              <a:srgbClr val="6C6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876288" y="155448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filterByRole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adapta menú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navegación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65760" y="2834640"/>
            <a:ext cx="4114800" cy="17373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548640" y="2926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Rutas Públicas (auth)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731520" y="329184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/login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31520" y="356616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/forgot-password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731520" y="3840480"/>
            <a:ext cx="3474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/reset-password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754880" y="2834640"/>
            <a:ext cx="4114800" cy="17373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937760" y="2926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A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2D3A5"/>
                </a:solidFill>
                <a:latin typeface="Calibri"/>
                <a:ea typeface="Calibri"/>
                <a:cs typeface="Calibri"/>
                <a:sym typeface="Calibri"/>
              </a:rPr>
              <a:t>Rutas Privadas (app)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937760" y="3291840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Requieren sesión activa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937760" y="3566160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Layout privado ejecuta requireSession()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4937760" y="3840450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Sin sesión → redirige a /login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548640" y="201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Layout 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sidebar-data.ts · app-sidebar.tsx · filterByRole()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365760" y="1005840"/>
            <a:ext cx="5303400" cy="3474600"/>
          </a:xfrm>
          <a:prstGeom prst="rect">
            <a:avLst/>
          </a:prstGeom>
          <a:solidFill>
            <a:srgbClr val="1E2235"/>
          </a:solidFill>
          <a:ln w="12700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365760" y="1005840"/>
            <a:ext cx="1097400" cy="3474600"/>
          </a:xfrm>
          <a:prstGeom prst="rect">
            <a:avLst/>
          </a:prstGeom>
          <a:solidFill>
            <a:srgbClr val="161824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365760" y="2103120"/>
            <a:ext cx="1097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SIDEBAR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7200" y="1417320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57200" y="1819656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Equipos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7200" y="2221992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Órdenes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457200" y="2624328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Tickets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57200" y="3026664"/>
            <a:ext cx="914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463040" y="1005840"/>
            <a:ext cx="4206300" cy="411600"/>
          </a:xfrm>
          <a:prstGeom prst="rect">
            <a:avLst/>
          </a:prstGeom>
          <a:solidFill>
            <a:srgbClr val="1B1E2E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1463040" y="1005840"/>
            <a:ext cx="420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463040" y="1417320"/>
            <a:ext cx="4206300" cy="26517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1463040" y="2560320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Área de Contenido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1463040" y="4069080"/>
            <a:ext cx="4206300" cy="411600"/>
          </a:xfrm>
          <a:prstGeom prst="rect">
            <a:avLst/>
          </a:prstGeom>
          <a:solidFill>
            <a:srgbClr val="1B1E2E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1463040" y="4069080"/>
            <a:ext cx="4206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5943600" y="1005840"/>
            <a:ext cx="2834700" cy="34746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6126480" y="1097280"/>
            <a:ext cx="256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Roles y Visibilidad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6126480" y="1508760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6C63FF"/>
                </a:solidFill>
                <a:latin typeface="Consolas"/>
                <a:ea typeface="Consolas"/>
                <a:cs typeface="Consolas"/>
                <a:sym typeface="Consolas"/>
              </a:rPr>
              <a:t>admin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6126480" y="1764792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· Equipos · Órdenes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126480" y="1984248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Tickets · Inventario · Usuarios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126480" y="2203704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Carga mecánicos · Validaciones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126480" y="253288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jefe_taller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126480" y="2788920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· Equipos · Órdenes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126480" y="3008376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Tickets · Inventario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126480" y="3227832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Carga de mecánicos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126480" y="3557016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D3A5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22D3A5"/>
                </a:solidFill>
                <a:latin typeface="Consolas"/>
                <a:ea typeface="Consolas"/>
                <a:cs typeface="Consolas"/>
                <a:sym typeface="Consolas"/>
              </a:rPr>
              <a:t>mechanic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126480" y="3813048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Mis Tickets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6126480" y="4032504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 Perfil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A78BFA">
              <a:alpha val="80000"/>
            </a:srgbClr>
          </a:solidFill>
          <a:ln w="12700" cap="flat" cmpd="sng">
            <a:solidFill>
              <a:srgbClr val="A78BF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400"/>
              <a:buFont typeface="Trebuchet MS"/>
              <a:buNone/>
            </a:pPr>
            <a:r>
              <a:rPr lang="en-US" sz="2400" b="1" i="0" u="none" strike="noStrike" cap="non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Navegación dinámica por rol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sidebar-data.ts + app-sidebar.tsx + filterByRole() — el menú se adapta al rol del usuario autenticado.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57200" y="1325880"/>
            <a:ext cx="2697480" cy="329184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457200" y="1325880"/>
            <a:ext cx="2697480" cy="64008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594360" y="1426464"/>
            <a:ext cx="2423160" cy="274320"/>
          </a:xfrm>
          <a:prstGeom prst="rect">
            <a:avLst/>
          </a:prstGeom>
          <a:solidFill>
            <a:srgbClr val="6152E8">
              <a:alpha val="85098"/>
            </a:srgbClr>
          </a:solidFill>
          <a:ln w="12700" cap="flat" cmpd="sng">
            <a:solidFill>
              <a:srgbClr val="6152E8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640080" y="143560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152E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6152E8"/>
                </a:solidFill>
                <a:latin typeface="Consolas"/>
                <a:ea typeface="Consolas"/>
                <a:cs typeface="Consolas"/>
                <a:sym typeface="Consolas"/>
              </a:rPr>
              <a:t>admin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94360" y="1783080"/>
            <a:ext cx="2423160" cy="246888"/>
          </a:xfrm>
          <a:prstGeom prst="rect">
            <a:avLst/>
          </a:prstGeom>
          <a:solidFill>
            <a:srgbClr val="6152E8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640080" y="180136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Dashboard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94360" y="206654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640080" y="208483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Equipos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594360" y="2350008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640080" y="2368296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Órdenes de trabajo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94360" y="2633472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640080" y="265176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Tickets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94360" y="2916936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640080" y="2935224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Inventario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594360" y="3200400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640080" y="321868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Usuarios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94360" y="348386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3"/>
          <p:cNvSpPr/>
          <p:nvPr/>
        </p:nvSpPr>
        <p:spPr>
          <a:xfrm>
            <a:off x="640080" y="350215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Pendientes validar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594360" y="3767328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640080" y="3785616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Carga de mecánicos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94360" y="4050792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640080" y="406908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Perfil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337560" y="1325880"/>
            <a:ext cx="2697480" cy="329184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3337560" y="1325880"/>
            <a:ext cx="2697480" cy="64008"/>
          </a:xfrm>
          <a:prstGeom prst="rect">
            <a:avLst/>
          </a:prstGeom>
          <a:solidFill>
            <a:srgbClr val="FBBF24"/>
          </a:solidFill>
          <a:ln w="12700" cap="flat" cmpd="sng">
            <a:solidFill>
              <a:srgbClr val="FBBF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3474720" y="1426464"/>
            <a:ext cx="2423160" cy="274320"/>
          </a:xfrm>
          <a:prstGeom prst="rect">
            <a:avLst/>
          </a:prstGeom>
          <a:solidFill>
            <a:srgbClr val="FBBF24">
              <a:alpha val="85098"/>
            </a:srgbClr>
          </a:solidFill>
          <a:ln w="12700" cap="flat" cmpd="sng">
            <a:solidFill>
              <a:srgbClr val="FBBF24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3520440" y="143560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jefe_taller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474720" y="1783080"/>
            <a:ext cx="2423160" cy="246888"/>
          </a:xfrm>
          <a:prstGeom prst="rect">
            <a:avLst/>
          </a:prstGeom>
          <a:solidFill>
            <a:srgbClr val="6152E8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3520440" y="180136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Dashboard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3474720" y="206654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3520440" y="208483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Equipos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3474720" y="2350008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3520440" y="2368296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Órdenes de trabajo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3474720" y="2633472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3520440" y="2651760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Tickets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3474720" y="2916936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3520440" y="2935224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Inventario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3474720" y="3200400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3520440" y="321868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Carga de mecánicos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474720" y="348386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3520440" y="350215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Perfil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6217920" y="1307580"/>
            <a:ext cx="2697600" cy="329190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6217920" y="1325880"/>
            <a:ext cx="2697480" cy="64008"/>
          </a:xfrm>
          <a:prstGeom prst="rect">
            <a:avLst/>
          </a:prstGeom>
          <a:solidFill>
            <a:srgbClr val="4ADE80"/>
          </a:solidFill>
          <a:ln w="12700" cap="flat" cmpd="sng">
            <a:solidFill>
              <a:srgbClr val="4ADE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6355080" y="1426464"/>
            <a:ext cx="2423160" cy="274320"/>
          </a:xfrm>
          <a:prstGeom prst="rect">
            <a:avLst/>
          </a:prstGeom>
          <a:solidFill>
            <a:srgbClr val="4ADE80">
              <a:alpha val="85098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3"/>
          <p:cNvSpPr/>
          <p:nvPr/>
        </p:nvSpPr>
        <p:spPr>
          <a:xfrm>
            <a:off x="6400800" y="1435608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mechanic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6355080" y="1783080"/>
            <a:ext cx="2423160" cy="246888"/>
          </a:xfrm>
          <a:prstGeom prst="rect">
            <a:avLst/>
          </a:prstGeom>
          <a:solidFill>
            <a:srgbClr val="6152E8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3"/>
          <p:cNvSpPr/>
          <p:nvPr/>
        </p:nvSpPr>
        <p:spPr>
          <a:xfrm>
            <a:off x="6400800" y="1801368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  Mis Tickets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6355080" y="2066544"/>
            <a:ext cx="2423160" cy="246888"/>
          </a:xfrm>
          <a:prstGeom prst="rect">
            <a:avLst/>
          </a:prstGeom>
          <a:solidFill>
            <a:srgbClr val="1E1E28">
              <a:alpha val="60000"/>
            </a:srgbClr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6400800" y="2084832"/>
            <a:ext cx="233172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    Perfil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457200" y="469086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filterByRole() filtra los grupos e ítems de sidebar-data.ts según el rol del perfil cargado por requireSession()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8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4"/>
          <p:cNvSpPr/>
          <p:nvPr/>
        </p:nvSpPr>
        <p:spPr>
          <a:xfrm>
            <a:off x="411480" y="201168"/>
            <a:ext cx="54900" cy="402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4"/>
          <p:cNvSpPr/>
          <p:nvPr/>
        </p:nvSpPr>
        <p:spPr>
          <a:xfrm>
            <a:off x="548640" y="3291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Design System y Componentes </a:t>
            </a:r>
            <a:r>
              <a:rPr lang="en-US" sz="2400" b="1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— base visual de TRACKT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200"/>
              <a:buFont typeface="Calibri"/>
              <a:buNone/>
            </a:pPr>
            <a:endParaRPr sz="2200" b="1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54864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Tailwind CSS · globals.css · components/ui · components/core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365760" y="1005840"/>
            <a:ext cx="4023300" cy="17373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548640" y="10972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components/ui  (shadcn/ui)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548640" y="148132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Button · Input · Card · Badge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548640" y="18288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Table · Dialog · Sheet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548640" y="217627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Skeleton · Avatar · Sidebar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4663440" y="1005840"/>
            <a:ext cx="4114800" cy="17373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4846320" y="10972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63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6C63FF"/>
                </a:solidFill>
                <a:latin typeface="Calibri"/>
                <a:ea typeface="Calibri"/>
                <a:cs typeface="Calibri"/>
                <a:sym typeface="Calibri"/>
              </a:rPr>
              <a:t>components/core  (Trackt)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4846320" y="1481328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StatusBadge · TicketCard · OtCard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4846320" y="1828800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TimelineItem · EmptyState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846320" y="2176272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ListSkeleton · UserAvatar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365760" y="2926080"/>
            <a:ext cx="8412600" cy="1645800"/>
          </a:xfrm>
          <a:prstGeom prst="rect">
            <a:avLst/>
          </a:prstGeom>
          <a:solidFill>
            <a:srgbClr val="1E2235"/>
          </a:solidFill>
          <a:ln w="9525" cap="flat" cmpd="sng">
            <a:solidFill>
              <a:srgbClr val="2E33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4"/>
          <p:cNvSpPr/>
          <p:nvPr/>
        </p:nvSpPr>
        <p:spPr>
          <a:xfrm>
            <a:off x="548640" y="3017520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StatusBadge — estados del sistema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457200" y="3429000"/>
            <a:ext cx="1280100" cy="320100"/>
          </a:xfrm>
          <a:prstGeom prst="rect">
            <a:avLst/>
          </a:prstGeom>
          <a:solidFill>
            <a:srgbClr val="FACC15"/>
          </a:solidFill>
          <a:ln w="12700" cap="flat" cmpd="sng">
            <a:solidFill>
              <a:srgbClr val="FACC1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4"/>
          <p:cNvSpPr/>
          <p:nvPr/>
        </p:nvSpPr>
        <p:spPr>
          <a:xfrm>
            <a:off x="45720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1874520" y="3429000"/>
            <a:ext cx="1280100" cy="320100"/>
          </a:xfrm>
          <a:prstGeom prst="rect">
            <a:avLst/>
          </a:prstGeom>
          <a:solidFill>
            <a:srgbClr val="38BDF8"/>
          </a:solidFill>
          <a:ln w="127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187452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ASIGNADO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291840" y="3429000"/>
            <a:ext cx="1280100" cy="320100"/>
          </a:xfrm>
          <a:prstGeom prst="rect">
            <a:avLst/>
          </a:prstGeom>
          <a:solidFill>
            <a:srgbClr val="FB923C"/>
          </a:solidFill>
          <a:ln w="12700" cap="flat" cmpd="sng">
            <a:solidFill>
              <a:srgbClr val="FB9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329184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EN_EJECUCION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4709160" y="3429000"/>
            <a:ext cx="1280100" cy="320100"/>
          </a:xfrm>
          <a:prstGeom prst="rect">
            <a:avLst/>
          </a:prstGeom>
          <a:solidFill>
            <a:srgbClr val="22D3A5"/>
          </a:solidFill>
          <a:ln w="12700" cap="flat" cmpd="sng">
            <a:solidFill>
              <a:srgbClr val="22D3A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470916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EJECUTADO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6126480" y="3429000"/>
            <a:ext cx="1280100" cy="320100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4"/>
          <p:cNvSpPr/>
          <p:nvPr/>
        </p:nvSpPr>
        <p:spPr>
          <a:xfrm>
            <a:off x="612648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7543800" y="3429000"/>
            <a:ext cx="1280100" cy="320100"/>
          </a:xfrm>
          <a:prstGeom prst="rect">
            <a:avLst/>
          </a:prstGeom>
          <a:solidFill>
            <a:srgbClr val="F87171"/>
          </a:solidFill>
          <a:ln w="12700" cap="flat" cmpd="sng">
            <a:solidFill>
              <a:srgbClr val="F8717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7543800" y="342900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117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0F1117"/>
                </a:solidFill>
                <a:latin typeface="Calibri"/>
                <a:ea typeface="Calibri"/>
                <a:cs typeface="Calibri"/>
                <a:sym typeface="Calibri"/>
              </a:rPr>
              <a:t>CANCELADO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0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"/>
          <p:cNvSpPr/>
          <p:nvPr/>
        </p:nvSpPr>
        <p:spPr>
          <a:xfrm>
            <a:off x="0" y="0"/>
            <a:ext cx="9144000" cy="347400"/>
          </a:xfrm>
          <a:prstGeom prst="rect">
            <a:avLst/>
          </a:prstGeom>
          <a:solidFill>
            <a:srgbClr val="A78BFA">
              <a:alpha val="80000"/>
            </a:srgbClr>
          </a:solidFill>
          <a:ln w="12700" cap="flat" cmpd="sng">
            <a:solidFill>
              <a:srgbClr val="A78BFA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457200" y="274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 —  Rosio Ametller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228600" y="29394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Pantallas principales — evidencias visuales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1645920" y="11887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67650" y="228469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 — desktop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137013" y="249625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Dark mode · validación · recuperación contraseña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526280" y="118872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3102135" y="2299243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3136835" y="245806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Métricas · gráfico · acceso rápido por rol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6136620" y="228038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Listado Tickets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6136620" y="243548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Filtros estado/mecánico/OT · StatusBadge · TicketCard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67650" y="4343395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Detalle Ticket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67650" y="4523540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Timeline · evidencias · transiciones por rol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3073435" y="436625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3102135" y="4506965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Catálogo repuestos · stock · reservas pendientes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6136620" y="472485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mobile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6031470" y="487182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Diseño responsivo — mismo stack Tailwind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457210" y="4871815"/>
            <a:ext cx="7772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11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1" name="Google Shape;43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425" y="804700"/>
            <a:ext cx="2958050" cy="1497551"/>
          </a:xfrm>
          <a:prstGeom prst="rect">
            <a:avLst/>
          </a:prstGeom>
          <a:solidFill>
            <a:srgbClr val="1E1E28"/>
          </a:solidFill>
          <a:ln w="1015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32" name="Google Shape;43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6000" y="804700"/>
            <a:ext cx="2967052" cy="1497551"/>
          </a:xfrm>
          <a:prstGeom prst="rect">
            <a:avLst/>
          </a:prstGeom>
          <a:solidFill>
            <a:srgbClr val="1E1E28"/>
          </a:solidFill>
          <a:ln w="1015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33" name="Google Shape;433;p15"/>
          <p:cNvSpPr/>
          <p:nvPr/>
        </p:nvSpPr>
        <p:spPr>
          <a:xfrm>
            <a:off x="58300" y="804701"/>
            <a:ext cx="2940600" cy="1497600"/>
          </a:xfrm>
          <a:prstGeom prst="rect">
            <a:avLst/>
          </a:prstGeom>
          <a:solidFill>
            <a:srgbClr val="1E1E28"/>
          </a:solidFill>
          <a:ln w="1015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4" name="Google Shape;43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50" y="827500"/>
            <a:ext cx="2900625" cy="14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00" y="2805250"/>
            <a:ext cx="2900625" cy="1518300"/>
          </a:xfrm>
          <a:prstGeom prst="rect">
            <a:avLst/>
          </a:prstGeom>
          <a:solidFill>
            <a:srgbClr val="1E1E28"/>
          </a:solidFill>
          <a:ln w="1015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36" name="Google Shape;43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73425" y="2815175"/>
            <a:ext cx="2958048" cy="1528224"/>
          </a:xfrm>
          <a:prstGeom prst="rect">
            <a:avLst/>
          </a:prstGeom>
          <a:solidFill>
            <a:srgbClr val="1E1E28"/>
          </a:solidFill>
          <a:ln w="1015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37" name="Google Shape;437;p15"/>
          <p:cNvPicPr preferRelativeResize="0"/>
          <p:nvPr/>
        </p:nvPicPr>
        <p:blipFill rotWithShape="1">
          <a:blip r:embed="rId8">
            <a:alphaModFix/>
          </a:blip>
          <a:srcRect l="10989" t="5917" r="11892" b="5634"/>
          <a:stretch/>
        </p:blipFill>
        <p:spPr>
          <a:xfrm>
            <a:off x="6730275" y="2697550"/>
            <a:ext cx="1555901" cy="2013000"/>
          </a:xfrm>
          <a:prstGeom prst="rect">
            <a:avLst/>
          </a:prstGeom>
          <a:solidFill>
            <a:srgbClr val="1E1E28"/>
          </a:solidFill>
          <a:ln w="1015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0D10"/>
              </a:buClr>
              <a:buSzPts val="2600"/>
              <a:buFont typeface="Trebuchet MS"/>
              <a:buNone/>
            </a:pPr>
            <a:r>
              <a:rPr lang="en-US" sz="2600" b="1" i="0" u="none" strike="noStrike" cap="none">
                <a:solidFill>
                  <a:srgbClr val="0D0D10"/>
                </a:solidFill>
                <a:latin typeface="Trebuchet MS"/>
                <a:ea typeface="Trebuchet MS"/>
                <a:cs typeface="Trebuchet MS"/>
                <a:sym typeface="Trebuchet MS"/>
              </a:rPr>
              <a:t>Estado de cumplimiento — Entrega Final 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2"/>
          <p:cNvSpPr/>
          <p:nvPr/>
        </p:nvSpPr>
        <p:spPr>
          <a:xfrm>
            <a:off x="914400" y="740658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14 ítems completados 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2"/>
          <p:cNvSpPr/>
          <p:nvPr/>
        </p:nvSpPr>
        <p:spPr>
          <a:xfrm>
            <a:off x="457200" y="10972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Frontend — 14 rutas responsivas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457200" y="1444752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22"/>
          <p:cNvSpPr/>
          <p:nvPr/>
        </p:nvSpPr>
        <p:spPr>
          <a:xfrm>
            <a:off x="457200" y="149961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Backend — 9 módulos NestJS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457200" y="1847088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22"/>
          <p:cNvSpPr/>
          <p:nvPr/>
        </p:nvSpPr>
        <p:spPr>
          <a:xfrm>
            <a:off x="457200" y="190195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Base de datos — 12 entidades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2"/>
          <p:cNvSpPr/>
          <p:nvPr/>
        </p:nvSpPr>
        <p:spPr>
          <a:xfrm>
            <a:off x="457200" y="2249424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2"/>
          <p:cNvSpPr/>
          <p:nvPr/>
        </p:nvSpPr>
        <p:spPr>
          <a:xfrm>
            <a:off x="457200" y="23042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Auth 3 roles + RLS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457200" y="2651760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22"/>
          <p:cNvSpPr/>
          <p:nvPr/>
        </p:nvSpPr>
        <p:spPr>
          <a:xfrm>
            <a:off x="457200" y="27066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Órdenes de trabajo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2"/>
          <p:cNvSpPr/>
          <p:nvPr/>
        </p:nvSpPr>
        <p:spPr>
          <a:xfrm>
            <a:off x="457200" y="3054096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22"/>
          <p:cNvSpPr/>
          <p:nvPr/>
        </p:nvSpPr>
        <p:spPr>
          <a:xfrm>
            <a:off x="457200" y="310896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Tickets con transiciones por rol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2"/>
          <p:cNvSpPr/>
          <p:nvPr/>
        </p:nvSpPr>
        <p:spPr>
          <a:xfrm>
            <a:off x="457200" y="3456432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22"/>
          <p:cNvSpPr/>
          <p:nvPr/>
        </p:nvSpPr>
        <p:spPr>
          <a:xfrm>
            <a:off x="457200" y="351129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Evidencias fotográficas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457200" y="3858768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22"/>
          <p:cNvSpPr/>
          <p:nvPr/>
        </p:nvSpPr>
        <p:spPr>
          <a:xfrm>
            <a:off x="457200" y="391363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Notificaciones in-app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2"/>
          <p:cNvSpPr/>
          <p:nvPr/>
        </p:nvSpPr>
        <p:spPr>
          <a:xfrm>
            <a:off x="457200" y="4261104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2"/>
          <p:cNvSpPr/>
          <p:nvPr/>
        </p:nvSpPr>
        <p:spPr>
          <a:xfrm>
            <a:off x="457200" y="431596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Inventario de repuestos ⭐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4800600" y="109728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Reservas de repuestos ⭐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4800600" y="1444752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2"/>
          <p:cNvSpPr/>
          <p:nvPr/>
        </p:nvSpPr>
        <p:spPr>
          <a:xfrm>
            <a:off x="4800600" y="1499616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Carga de mecánicos ⭐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4800600" y="1847088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22"/>
          <p:cNvSpPr/>
          <p:nvPr/>
        </p:nvSpPr>
        <p:spPr>
          <a:xfrm>
            <a:off x="4800600" y="190195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Rol jefe_taller + RLS ⭐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4800600" y="2249424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2"/>
          <p:cNvSpPr/>
          <p:nvPr/>
        </p:nvSpPr>
        <p:spPr>
          <a:xfrm>
            <a:off x="4800600" y="2304288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Control de versiones GitHub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4800600" y="2651760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4800600" y="2706624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✅  9 migraciones SQL versionadas ⭐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4800600" y="3054096"/>
            <a:ext cx="4114800" cy="9144"/>
          </a:xfrm>
          <a:prstGeom prst="rect">
            <a:avLst/>
          </a:prstGeom>
          <a:solidFill>
            <a:srgbClr val="C8C8D4"/>
          </a:solidFill>
          <a:ln w="12700" cap="flat" cmpd="sng">
            <a:solidFill>
              <a:srgbClr val="C8C8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22"/>
          <p:cNvSpPr/>
          <p:nvPr/>
        </p:nvSpPr>
        <p:spPr>
          <a:xfrm>
            <a:off x="365760" y="489204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Trackt — TPY1101 Taller Aplicado de Programación  |  DUOC UC  | 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18 / 20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0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3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6152E8">
              <a:alpha val="7843"/>
            </a:srgbClr>
          </a:solidFill>
          <a:ln w="12700" cap="flat" cmpd="sng">
            <a:solidFill>
              <a:srgbClr val="6152E8">
                <a:alpha val="784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23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2D3EE">
              <a:alpha val="5882"/>
            </a:srgbClr>
          </a:solidFill>
          <a:ln w="12700" cap="flat" cmpd="sng">
            <a:solidFill>
              <a:srgbClr val="22D3EE">
                <a:alpha val="588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23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lang="en-US" sz="38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MVP completo y funcional.</a:t>
            </a:r>
            <a:endParaRPr sz="3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548640" y="1627632"/>
            <a:ext cx="3657600" cy="27432"/>
          </a:xfrm>
          <a:prstGeom prst="rect">
            <a:avLst/>
          </a:prstGeom>
          <a:solidFill>
            <a:srgbClr val="6152E8"/>
          </a:solidFill>
          <a:ln w="12700" cap="flat" cmpd="sng">
            <a:solidFill>
              <a:srgbClr val="6152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14 módulos y 14 rutas frontend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3"/>
          <p:cNvSpPr/>
          <p:nvPr/>
        </p:nvSpPr>
        <p:spPr>
          <a:xfrm>
            <a:off x="548640" y="20939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9 módulos backend con endpoints por rol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548640" y="24048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12 entidades en Supabase producción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548640" y="27157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3 roles con RLS + guards por endpoint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3"/>
          <p:cNvSpPr/>
          <p:nvPr/>
        </p:nvSpPr>
        <p:spPr>
          <a:xfrm>
            <a:off x="548640" y="30266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Inventario + reservas de repuestos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3"/>
          <p:cNvSpPr/>
          <p:nvPr/>
        </p:nvSpPr>
        <p:spPr>
          <a:xfrm>
            <a:off x="548640" y="3337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C8D4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8C8D4"/>
                </a:solidFill>
                <a:latin typeface="Calibri"/>
                <a:ea typeface="Calibri"/>
                <a:cs typeface="Calibri"/>
                <a:sym typeface="Calibri"/>
              </a:rPr>
              <a:t>→  127 / 128 tests aprobados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5486388" y="1508745"/>
            <a:ext cx="3246000" cy="2560200"/>
          </a:xfrm>
          <a:prstGeom prst="rect">
            <a:avLst/>
          </a:prstGeom>
          <a:solidFill>
            <a:srgbClr val="16161C"/>
          </a:solidFill>
          <a:ln w="9525" cap="flat" cmpd="sng">
            <a:solidFill>
              <a:srgbClr val="3A3A4A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3"/>
          <p:cNvSpPr/>
          <p:nvPr/>
        </p:nvSpPr>
        <p:spPr>
          <a:xfrm>
            <a:off x="5623560" y="1517904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Futuras mejoras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5623560" y="2148840"/>
            <a:ext cx="297180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Clr>
                <a:srgbClr val="C8C8D4"/>
              </a:buClr>
              <a:buSzPts val="950"/>
            </a:pPr>
            <a:r>
              <a:rPr sz="950" b="0">
                <a:solidFill>
                  <a:srgbClr val="C8C8D4"/>
                </a:solidFill>
                <a:latin typeface="Calibri"/>
              </a:rPr>
              <a:t>①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Agente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 de IA —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gestión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 de tickets y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operación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vía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 chat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0" dirty="0">
                <a:solidFill>
                  <a:srgbClr val="C8C8D4"/>
                </a:solidFill>
                <a:latin typeface="Calibri"/>
              </a:rPr>
              <a:t>②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Notificaciones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 email + WhatsApp (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Kapso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950" b="0" dirty="0">
                <a:solidFill>
                  <a:srgbClr val="C8C8D4"/>
                </a:solidFill>
                <a:latin typeface="Calibri"/>
              </a:rPr>
              <a:t>③ QR para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identificar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equipos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 /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máquinas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en</a:t>
            </a:r>
            <a:r>
              <a:rPr sz="950" b="0" dirty="0">
                <a:solidFill>
                  <a:srgbClr val="C8C8D4"/>
                </a:solidFill>
                <a:latin typeface="Calibri"/>
              </a:rPr>
              <a:t> </a:t>
            </a:r>
            <a:r>
              <a:rPr sz="950" b="0" dirty="0" err="1">
                <a:solidFill>
                  <a:srgbClr val="C8C8D4"/>
                </a:solidFill>
                <a:latin typeface="Calibri"/>
              </a:rPr>
              <a:t>terreno</a:t>
            </a:r>
            <a:endParaRPr sz="950" b="0" dirty="0">
              <a:solidFill>
                <a:srgbClr val="C8C8D4"/>
              </a:solidFill>
              <a:latin typeface="Calibri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548640" y="4297680"/>
            <a:ext cx="1554480" cy="27432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 cap="flat" cmpd="sng">
            <a:solidFill>
              <a:srgbClr val="A78B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54864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Rosio Ametller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3"/>
          <p:cNvSpPr/>
          <p:nvPr/>
        </p:nvSpPr>
        <p:spPr>
          <a:xfrm>
            <a:off x="2286000" y="4297680"/>
            <a:ext cx="1554480" cy="274320"/>
          </a:xfrm>
          <a:prstGeom prst="rect">
            <a:avLst/>
          </a:prstGeom>
          <a:solidFill>
            <a:srgbClr val="34D399">
              <a:alpha val="20000"/>
            </a:srgbClr>
          </a:solidFill>
          <a:ln w="12700" cap="flat" cmpd="sng">
            <a:solidFill>
              <a:srgbClr val="34D3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228600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Jaime Osorio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4023360" y="4297680"/>
            <a:ext cx="1554480" cy="27432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 cap="flat" cmpd="sng">
            <a:solidFill>
              <a:srgbClr val="60A5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23"/>
          <p:cNvSpPr/>
          <p:nvPr/>
        </p:nvSpPr>
        <p:spPr>
          <a:xfrm>
            <a:off x="402336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Ramón Hernández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3"/>
          <p:cNvSpPr/>
          <p:nvPr/>
        </p:nvSpPr>
        <p:spPr>
          <a:xfrm>
            <a:off x="548640" y="4754880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37388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737388"/>
                </a:solidFill>
                <a:latin typeface="Calibri"/>
                <a:ea typeface="Calibri"/>
                <a:cs typeface="Calibri"/>
                <a:sym typeface="Calibri"/>
              </a:rPr>
              <a:t>TPY1101 — Taller Aplicado de Programación  |  DUOC UC  |  Grupo 10  |  2026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2993</Words>
  <Application>Microsoft Office PowerPoint</Application>
  <PresentationFormat>Presentación en pantalla (16:9)</PresentationFormat>
  <Paragraphs>571</Paragraphs>
  <Slides>29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RAMON ANDRES HERNANDEZ CORRALES</cp:lastModifiedBy>
  <cp:revision>1</cp:revision>
  <dcterms:modified xsi:type="dcterms:W3CDTF">2026-06-02T23:37:00Z</dcterms:modified>
</cp:coreProperties>
</file>