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22BBE9-236B-47B2-9936-DCF749294B30}">
  <a:tblStyle styleId="{7C22BBE9-236B-47B2-9936-DCF749294B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70656821c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e70656821c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70656821c_0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70656821c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e70656821c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e70656821c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70656821c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e70656821c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70656821c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70656821c_0_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e70656821c_0_2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e70656821c_0_2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6152E8">
              <a:alpha val="7843"/>
            </a:srgbClr>
          </a:solidFill>
          <a:ln cap="flat" cmpd="sng" w="12700">
            <a:solidFill>
              <a:srgbClr val="6152E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22D3EE">
              <a:alpha val="5882"/>
            </a:srgbClr>
          </a:solidFill>
          <a:ln cap="flat" cmpd="sng" w="12700">
            <a:solidFill>
              <a:srgbClr val="22D3EE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DUOC UC  ·  Escuela de Informática y Telecomunicaciones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96012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TRACKT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18745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8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B8FFF"/>
                </a:solidFill>
                <a:latin typeface="Calibri"/>
                <a:ea typeface="Calibri"/>
                <a:cs typeface="Calibri"/>
                <a:sym typeface="Calibri"/>
              </a:rPr>
              <a:t>SaaS industrial de mantenimiento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304288"/>
            <a:ext cx="3657600" cy="27432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48640" y="24231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Entrega Final 2  ·  Estado de Avance 2  ·  TPY1101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269748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Grupo 10  ·  Sección 002V  · 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3200400"/>
            <a:ext cx="2651760" cy="8229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48640" y="3200400"/>
            <a:ext cx="45720" cy="82296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85800" y="32552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Rosio Ametller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85800" y="35112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Frontend · Design System · 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383280" y="3200400"/>
            <a:ext cx="2651760" cy="8229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383280" y="3200400"/>
            <a:ext cx="45720" cy="8229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3520440" y="32552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Jaime Osorio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520440" y="35112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Backend · OT · Tickets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217920" y="3200400"/>
            <a:ext cx="2651760" cy="8229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217920" y="3200400"/>
            <a:ext cx="45720" cy="822960"/>
          </a:xfrm>
          <a:prstGeom prst="rect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355080" y="32552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Ramón Hernández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355080" y="35112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Arquitectura · Auth · DB · Deploy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4864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1188720" y="42519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69748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127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465960" y="422911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aprobados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84632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86400" y="42519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Entidades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99516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635240" y="42519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Rutas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Defensa de 30 minutos · 10 minutos por integrante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1234440"/>
            <a:ext cx="45720" cy="566928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94360" y="12344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97280" y="1252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Contexto y cambios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97280" y="150876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Contexto del sistema · Qué cambió · Estado MVP · Roles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1847088"/>
            <a:ext cx="8229600" cy="18288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57200" y="1947672"/>
            <a:ext cx="45720" cy="566928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94360" y="19476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Rosio — 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97280" y="2221992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Arquitectura Next.js · Auth/App · Nav por rol · Design System · Pantallas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2560320"/>
            <a:ext cx="8229600" cy="18288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57200" y="2660904"/>
            <a:ext cx="45720" cy="566928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94360" y="266090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097280" y="26791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Jaime — 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097280" y="2935224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Módulos NestJS · OT y Tickets · Ciclo de vida · Inventario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3273552"/>
            <a:ext cx="8229600" cy="18288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57200" y="3374136"/>
            <a:ext cx="45720" cy="566928"/>
          </a:xfrm>
          <a:prstGeom prst="rect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94360" y="337413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097280" y="339242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Ramón — Arq. y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97280" y="3648456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Arquitectura 3 capas · DB · RLS · Pruebas · GitHub · Deploy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3986784"/>
            <a:ext cx="8229600" cy="18288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57200" y="4087368"/>
            <a:ext cx="45720" cy="56692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594360" y="408736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737388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97280" y="436168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Estado de cumplimiento · Pendientes · Conclusiones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4700016"/>
            <a:ext cx="8229600" cy="18288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2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¿Qué cambió respecto a la entrega anterior?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Esta presentación cubre los avances incorporados en la versión actualizada.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11430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57200" y="11430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94360" y="1252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Inventario de repuestos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94360" y="15453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Catálogo, stock, entradas, ajustes y baja lógica con control transaccional.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383280" y="11430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383280" y="11430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3520440" y="1252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 Reservas de repuestos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520440" y="15453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Flujo completo: SOLICITADA → RESERVADA → CONSUMIDA / LIBERADA por ticket.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309360" y="11430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309360" y="11430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446520" y="1252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👷  Rol jefe_taller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446520" y="15453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Tercer rol con permisos específicos y 7 políticas RLS propias en base de datos.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0" y="25146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57200" y="25146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94360" y="2624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Carga de mecánicos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94360" y="29169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Vista de distribución operativa para jefe_taller y admin.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383280" y="25146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3383280" y="25146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520440" y="2624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Transiciones completas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520440" y="29169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asignar · reasignar · iniciar · finalizar · validar · cerrar — con guard por rol.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309360" y="2514600"/>
            <a:ext cx="2743200" cy="1188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309360" y="2514600"/>
            <a:ext cx="2743200" cy="45720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446520" y="2624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 9 migraciones 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46520" y="29169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12 entidades en producción. Inventario con RLS por rol y tenant.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3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Estado actual del MVP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14 módulos completados ·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1097280"/>
            <a:ext cx="5029200" cy="45720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94360" y="11704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Implementado — 14 ítems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94360" y="1508760"/>
            <a:ext cx="47548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Autenticación por rol (admin / jefe_taller / mechanic)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Órdenes de trabajo — CRUD + estados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Tickets — transiciones completas por rol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Evidencias fotográficas (Supabase Storage + URL firmada)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Notificaciones in-app (Supabase Realtime)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Vista mecánico — Mis Tickets + detalle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Gestión de equipos con baja lógica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Gestión de usuarios con invitación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Inventario: catálogo de repuestos + stock 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Reservas de repuestos (solicitar/aprobar/consumir) 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Movimientos de inventario — historial inmutable 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Carga operativa de mecánicos 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Dashboard con métricas y gráfico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14 rutas frontend con diseño responsivo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4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Tres roles del sistema — permisos por capa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Rol jefe_taller es nuevo en esta versión. Guards en backend + políticas RLS en base de datos.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1097280"/>
            <a:ext cx="2697480" cy="35661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57200" y="1097280"/>
            <a:ext cx="2697480" cy="64008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94360" y="12070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6152E8"/>
                </a:solidFill>
                <a:latin typeface="Consolas"/>
                <a:ea typeface="Consolas"/>
                <a:cs typeface="Consolas"/>
                <a:sym typeface="Consolas"/>
              </a:rPr>
              <a:t>admin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94360" y="1536192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Acceso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94360" y="182880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Crear / cerrar 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Validar y cerrar tickets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Gestionar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Catálogo de repuestos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Entrada y ajuste de stock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Aprobar reservas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movimientos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337560" y="1097280"/>
            <a:ext cx="2697480" cy="35661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337560" y="1097280"/>
            <a:ext cx="2697480" cy="6400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474720" y="12070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jefe_taller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474720" y="1536192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Nuevo en v2 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474720" y="182880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OT y tickets del tenant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Asignar / reasignar tickets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catálogo y stock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Aprobar reservas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movimientos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Vista carga de mecánicos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solicitudes pendientes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217920" y="1097280"/>
            <a:ext cx="2697480" cy="35661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6217920" y="1097280"/>
            <a:ext cx="2697480" cy="64008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355080" y="12070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mechanic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355080" y="1536192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Solo lo suyo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355080" y="182880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solo sus tickets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Iniciar ticket asignado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Finalizar ticket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Subir evidencias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Solicitar repuestos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Consumir / liberar reserva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catálogo (lectura)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26975" y="4702005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RolesGuard en backend (NestJS)  +  7 políticas RLS específicas para jefe_taller en Supabase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5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de la solución — 3 capas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Separación clara entre presentación, lógica de negocio y persistencia.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1143000"/>
            <a:ext cx="73152" cy="107899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PRESENTACIÓN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40080" y="15270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Next.js + React + Tailwind + shadcn/ui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108960" y="1216152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14 rutas App Router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TanStack Query (estado servidor)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Middleware Supabase protegido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Diseño responsivo desktop + mobile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206240" y="2221992"/>
            <a:ext cx="731520" cy="914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2313432"/>
            <a:ext cx="8229600" cy="1078992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57200" y="2313432"/>
            <a:ext cx="73152" cy="1078992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40080" y="24048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LÓGICA NEGOCIO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40080" y="269748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NestJS + Prisma 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108960" y="2386584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9 módulos (Auth, Equipos, Usuarios, Órdenes,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Tickets, Evidencias, Notif., Inventario, Reservas)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AuthGuard + RolesGuard por endpoint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Validaciones con DTOs + class-validator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206240" y="3392424"/>
            <a:ext cx="731520" cy="914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57200" y="3483864"/>
            <a:ext cx="8229600" cy="1078992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57200" y="3483864"/>
            <a:ext cx="73152" cy="1078992"/>
          </a:xfrm>
          <a:prstGeom prst="rect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640080" y="357530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PERSISTENCIA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40080" y="38679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Supabase /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108960" y="3557016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12 entidades · 9 migraciones 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RLS por rol y tenant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Storage (evidencias) + Realtime (notif.)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$transaction para operaciones de stock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65750" y="465431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Transversales: Supabase Auth  ·  Supabase Storage  ·  Supabase Realtime  ·  GitHub  ·  Vercel + Railway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6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2700">
            <a:solidFill>
              <a:srgbClr val="A78B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frontend — Next.js App Router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Estructura de rutas separada por grupos de autenticación y app protegida.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7200" y="1298448"/>
            <a:ext cx="4114800" cy="33375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457200" y="1298448"/>
            <a:ext cx="4114800" cy="457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94360" y="13898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Estructura de rutas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0080" y="171907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src/app/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0080" y="192938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  (auth)/            ← rutas públicas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40080" y="213969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login</a:t>
            </a:r>
            <a:r>
              <a:rPr lang="en-US" sz="850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40080" y="23500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forgot-password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85805" y="2560320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reset-password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0080" y="277063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  (app)/             ← rutas protegidas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0080" y="298094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" y="319125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ordenes  ·  ordenes/:id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0080" y="340156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tickets  ·  tickets/:id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40080" y="361188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mis-tickets  ·  mis-tickets/:id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40080" y="382219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equipos  ·  usuarios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40080" y="403250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inventario  (repuestos + reservas)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40080" y="424281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taller/carga  ·  configuracion/perfil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7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548640" y="201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Flujo de Acceso al Sistema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Login · Recuperación · Reset · Validaciones · Feedback visual </a:t>
            </a:r>
            <a:r>
              <a:rPr lang="en-US" sz="850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  (auth)/            ← rutas públicas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65785" y="1051560"/>
            <a:ext cx="2697600" cy="34746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65760" y="1051560"/>
            <a:ext cx="2697600" cy="411600"/>
          </a:xfrm>
          <a:prstGeom prst="rect">
            <a:avLst/>
          </a:prstGeom>
          <a:solidFill>
            <a:srgbClr val="6C63FF"/>
          </a:solidFill>
          <a:ln cap="flat" cmpd="sng" w="1270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365760" y="1051560"/>
            <a:ext cx="269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/login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38912" y="1600200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566928" y="157276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Validación de campos en tiempo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38912" y="2167128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566928" y="213969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Mensajes de error explícitos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38912" y="2734056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566928" y="2706624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Feedback visual por estado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38912" y="3300984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566928" y="3281105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Redirección a /dashboard si hay sesión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291840" y="1051560"/>
            <a:ext cx="2697600" cy="34746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3291840" y="1051560"/>
            <a:ext cx="2697600" cy="4116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3291840" y="1051560"/>
            <a:ext cx="269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i="0" lang="en-US" sz="1300" u="none" cap="none" strike="noStrik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forgot-password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364992" y="1600200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3493008" y="157276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Ingreso de email registrado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364992" y="2167128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3493008" y="213969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Envío de correo de recuperación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364992" y="2734056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3493008" y="2706624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Confirmación visual de envío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364992" y="3300984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3493008" y="3273552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Manejo de errores por correo no encontrado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217920" y="1051560"/>
            <a:ext cx="2697600" cy="34746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217920" y="1051560"/>
            <a:ext cx="2697600" cy="411600"/>
          </a:xfrm>
          <a:prstGeom prst="rect">
            <a:avLst/>
          </a:prstGeom>
          <a:solidFill>
            <a:srgbClr val="22D3A5"/>
          </a:solidFill>
          <a:ln cap="flat" cmpd="sng" w="12700">
            <a:solidFill>
              <a:srgbClr val="22D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217920" y="1051560"/>
            <a:ext cx="269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/reset-password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291072" y="1600200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6419088" y="157276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Token desde URL (auth/callback)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291072" y="2167128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6419088" y="213969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Ingreso de nueva contraseña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291072" y="2734056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6419088" y="2706624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Confirmación de coincidencia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291072" y="3300984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6419088" y="3273552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Redirección post-reset a /login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65760" y="4754880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El flujo completo: acceso inicial → recuperación de contraseña → restablecimiento → ingreso al sistema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66375" y="3855575"/>
            <a:ext cx="243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548640" y="201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Protección de Rutas y Autenticación Visual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Middleware · requireSession() · Redirección por estado de sesión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65760" y="1554480"/>
            <a:ext cx="1371600" cy="914400"/>
          </a:xfrm>
          <a:prstGeom prst="rect">
            <a:avLst/>
          </a:prstGeom>
          <a:solidFill>
            <a:srgbClr val="1E2235"/>
          </a:solidFill>
          <a:ln cap="flat" cmpd="sng" w="19050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365760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Usuario entra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 ruta privada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1"/>
          <p:cNvCxnSpPr/>
          <p:nvPr/>
        </p:nvCxnSpPr>
        <p:spPr>
          <a:xfrm>
            <a:off x="1737360" y="201168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1"/>
          <p:cNvSpPr/>
          <p:nvPr/>
        </p:nvSpPr>
        <p:spPr>
          <a:xfrm>
            <a:off x="1810512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993392" y="1554480"/>
            <a:ext cx="1371600" cy="914400"/>
          </a:xfrm>
          <a:prstGeom prst="rect">
            <a:avLst/>
          </a:prstGeom>
          <a:solidFill>
            <a:srgbClr val="1E2235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1993392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revisa sesión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(Supabase)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11"/>
          <p:cNvCxnSpPr/>
          <p:nvPr/>
        </p:nvCxnSpPr>
        <p:spPr>
          <a:xfrm>
            <a:off x="3364992" y="201168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1"/>
          <p:cNvSpPr/>
          <p:nvPr/>
        </p:nvSpPr>
        <p:spPr>
          <a:xfrm>
            <a:off x="3438144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3621024" y="1554480"/>
            <a:ext cx="1371600" cy="914400"/>
          </a:xfrm>
          <a:prstGeom prst="rect">
            <a:avLst/>
          </a:prstGeom>
          <a:solidFill>
            <a:srgbClr val="2D1B1B"/>
          </a:solidFill>
          <a:ln cap="flat" cmpd="sng" w="1905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3621024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Sin sesión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redirige 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/login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11"/>
          <p:cNvCxnSpPr/>
          <p:nvPr/>
        </p:nvCxnSpPr>
        <p:spPr>
          <a:xfrm>
            <a:off x="4992624" y="201168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1"/>
          <p:cNvSpPr/>
          <p:nvPr/>
        </p:nvSpPr>
        <p:spPr>
          <a:xfrm>
            <a:off x="5065776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248656" y="1554480"/>
            <a:ext cx="1371600" cy="914400"/>
          </a:xfrm>
          <a:prstGeom prst="rect">
            <a:avLst/>
          </a:prstGeom>
          <a:solidFill>
            <a:srgbClr val="1B2D1E"/>
          </a:solidFill>
          <a:ln cap="flat" cmpd="sng" w="19050">
            <a:solidFill>
              <a:srgbClr val="22D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5248656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 sesión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Layout carga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perfil + 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1"/>
          <p:cNvCxnSpPr/>
          <p:nvPr/>
        </p:nvCxnSpPr>
        <p:spPr>
          <a:xfrm>
            <a:off x="6620256" y="201168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1"/>
          <p:cNvSpPr/>
          <p:nvPr/>
        </p:nvSpPr>
        <p:spPr>
          <a:xfrm>
            <a:off x="6693408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876288" y="1554480"/>
            <a:ext cx="1371600" cy="914400"/>
          </a:xfrm>
          <a:prstGeom prst="rect">
            <a:avLst/>
          </a:prstGeom>
          <a:solidFill>
            <a:srgbClr val="1E1B2D"/>
          </a:solidFill>
          <a:ln cap="flat" cmpd="sng" w="19050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6876288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filterByRole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adapta menú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navegación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365760" y="2834640"/>
            <a:ext cx="4114800" cy="17373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548640" y="2926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Rutas Públicas (auth)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731520" y="329184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31520" y="356616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/forgot-password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731520" y="384048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/reset-password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754880" y="2834640"/>
            <a:ext cx="4114800" cy="17373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937760" y="2926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A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D3A5"/>
                </a:solidFill>
                <a:latin typeface="Calibri"/>
                <a:ea typeface="Calibri"/>
                <a:cs typeface="Calibri"/>
                <a:sym typeface="Calibri"/>
              </a:rPr>
              <a:t>Rutas Privadas (app)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937760" y="3291840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Requieren sesión activa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937760" y="3566160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Layout privado ejecuta requireSession()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937760" y="3840450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Sin sesión → redirige a /login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548640" y="201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Layout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sidebar-data.ts · app-sidebar.tsx · filterByRole()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65760" y="1005840"/>
            <a:ext cx="5303400" cy="3474600"/>
          </a:xfrm>
          <a:prstGeom prst="rect">
            <a:avLst/>
          </a:prstGeom>
          <a:solidFill>
            <a:srgbClr val="1E2235"/>
          </a:solidFill>
          <a:ln cap="flat" cmpd="sng" w="12700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365760" y="1005840"/>
            <a:ext cx="1097400" cy="3474600"/>
          </a:xfrm>
          <a:prstGeom prst="rect">
            <a:avLst/>
          </a:prstGeom>
          <a:solidFill>
            <a:srgbClr val="161824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365760" y="210312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SIDEBAR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57200" y="141732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57200" y="1819656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Equipos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57200" y="2221992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Órdenes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57200" y="2624328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Tickets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57200" y="3026664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1463040" y="1005840"/>
            <a:ext cx="4206300" cy="411600"/>
          </a:xfrm>
          <a:prstGeom prst="rect">
            <a:avLst/>
          </a:prstGeom>
          <a:solidFill>
            <a:srgbClr val="1B1E2E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1463040" y="1005840"/>
            <a:ext cx="4206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463040" y="1417320"/>
            <a:ext cx="4206300" cy="26517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1463040" y="2560320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Área de Contenido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463040" y="4069080"/>
            <a:ext cx="4206300" cy="411600"/>
          </a:xfrm>
          <a:prstGeom prst="rect">
            <a:avLst/>
          </a:prstGeom>
          <a:solidFill>
            <a:srgbClr val="1B1E2E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1463040" y="4069080"/>
            <a:ext cx="4206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943600" y="1005840"/>
            <a:ext cx="2834700" cy="34746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6126480" y="109728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Roles y Visibil</a:t>
            </a: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6126480" y="1508760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C63FF"/>
                </a:solidFill>
                <a:latin typeface="Consolas"/>
                <a:ea typeface="Consolas"/>
                <a:cs typeface="Consolas"/>
                <a:sym typeface="Consolas"/>
              </a:rPr>
              <a:t>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6126480" y="1764792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 · Equipos · Órdenes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126480" y="1984248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Tickets · Inventario · Usu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rio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126480" y="2203704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Carga mecánicos · V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lidaciones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126480" y="2532888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jefe_taller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126480" y="2788920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 · Equipos · Ó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126480" y="3008376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Tickets · Inventario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126480" y="3227832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Carga de mecáni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126480" y="3557016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A5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2D3A5"/>
                </a:solidFill>
                <a:latin typeface="Consolas"/>
                <a:ea typeface="Consolas"/>
                <a:cs typeface="Consolas"/>
                <a:sym typeface="Consolas"/>
              </a:rPr>
              <a:t>mechanic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126480" y="3813048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Mis Tickets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6126480" y="4032504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 Perfil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2700">
            <a:solidFill>
              <a:srgbClr val="A78B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Navegación dinámica por rol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sidebar-data.ts + app-sidebar.tsx + filterByRole() — el menú se adapta al rol del usuario autenticado.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57200" y="1325880"/>
            <a:ext cx="2697480" cy="3291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457200" y="1325880"/>
            <a:ext cx="2697480" cy="64008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594360" y="1426464"/>
            <a:ext cx="2423160" cy="274320"/>
          </a:xfrm>
          <a:prstGeom prst="rect">
            <a:avLst/>
          </a:prstGeom>
          <a:solidFill>
            <a:srgbClr val="6152E8">
              <a:alpha val="85098"/>
            </a:srgbClr>
          </a:solidFill>
          <a:ln cap="flat" cmpd="sng" w="12700">
            <a:solidFill>
              <a:srgbClr val="6152E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640080" y="143560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6152E8"/>
                </a:solidFill>
                <a:latin typeface="Consolas"/>
                <a:ea typeface="Consolas"/>
                <a:cs typeface="Consolas"/>
                <a:sym typeface="Consolas"/>
              </a:rPr>
              <a:t>admin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94360" y="1783080"/>
            <a:ext cx="2423160" cy="246888"/>
          </a:xfrm>
          <a:prstGeom prst="rect">
            <a:avLst/>
          </a:prstGeom>
          <a:solidFill>
            <a:srgbClr val="6152E8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40080" y="180136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94360" y="206654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640080" y="208483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Equipos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594360" y="2350008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640080" y="2368296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Órdenes de trabajo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94360" y="2633472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640080" y="265176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Tickets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94360" y="2916936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640080" y="2935224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Inventario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94360" y="3200400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640080" y="321868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Usuarios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94360" y="348386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640080" y="350215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Pendientes validar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94360" y="3767328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640080" y="3785616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Carga de mecánicos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94360" y="4050792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640080" y="406908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Perfil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337560" y="1325880"/>
            <a:ext cx="2697480" cy="3291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3337560" y="1325880"/>
            <a:ext cx="2697480" cy="6400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3474720" y="1426464"/>
            <a:ext cx="2423160" cy="274320"/>
          </a:xfrm>
          <a:prstGeom prst="rect">
            <a:avLst/>
          </a:prstGeom>
          <a:solidFill>
            <a:srgbClr val="FBBF24">
              <a:alpha val="85098"/>
            </a:srgbClr>
          </a:solidFill>
          <a:ln cap="flat" cmpd="sng" w="12700">
            <a:solidFill>
              <a:srgbClr val="FBBF2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3520440" y="143560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jefe_taller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474720" y="1783080"/>
            <a:ext cx="2423160" cy="246888"/>
          </a:xfrm>
          <a:prstGeom prst="rect">
            <a:avLst/>
          </a:prstGeom>
          <a:solidFill>
            <a:srgbClr val="6152E8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3520440" y="180136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3474720" y="206654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3520440" y="208483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Equipos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3474720" y="2350008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3520440" y="2368296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Órdenes de trabajo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3474720" y="2633472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3520440" y="265176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Tickets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3474720" y="2916936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3520440" y="2935224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Inventario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3474720" y="3200400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3520440" y="321868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Carga de mecánicos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3474720" y="348386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3520440" y="350215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Perfil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6217920" y="1307580"/>
            <a:ext cx="2697600" cy="32919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6217920" y="1325880"/>
            <a:ext cx="2697480" cy="64008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6355080" y="1426464"/>
            <a:ext cx="2423160" cy="274320"/>
          </a:xfrm>
          <a:prstGeom prst="rect">
            <a:avLst/>
          </a:prstGeom>
          <a:solidFill>
            <a:srgbClr val="4ADE80">
              <a:alpha val="85098"/>
            </a:srgbClr>
          </a:solidFill>
          <a:ln cap="flat" cmpd="sng" w="12700">
            <a:solidFill>
              <a:srgbClr val="4ADE8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6400800" y="143560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mechanic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6355080" y="1783080"/>
            <a:ext cx="2423160" cy="246888"/>
          </a:xfrm>
          <a:prstGeom prst="rect">
            <a:avLst/>
          </a:prstGeom>
          <a:solidFill>
            <a:srgbClr val="6152E8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6400800" y="180136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Mis Tickets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6355080" y="206654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6400800" y="208483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Perfil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57200" y="469086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filterByRole() filtra los grupos e ítems de sidebar-data.ts según el rol del perfil cargado por requireSession()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8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548640" y="329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Design System y Componentes </a:t>
            </a:r>
            <a:r>
              <a:rPr b="1"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— base visual de TRACKT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Tailwind CSS · globals.css · components/ui · components/core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365760" y="1005840"/>
            <a:ext cx="4023300" cy="17373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548640" y="10972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components/ui  (shadcn/ui)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548640" y="148132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Button · Input · Card · Badge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548640" y="18288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Table · Dialog · Sheet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548640" y="217627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Skeleton · Avatar · Sidebar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4663440" y="1005840"/>
            <a:ext cx="4114800" cy="17373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4846320" y="10972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components/core  (Trackt)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4846320" y="148132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StatusBadge · TicketCard · OtCard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846320" y="18288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TimelineItem · EmptyState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846320" y="217627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ListSkeleton · UserAvatar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365760" y="2926080"/>
            <a:ext cx="8412600" cy="1645800"/>
          </a:xfrm>
          <a:prstGeom prst="rect">
            <a:avLst/>
          </a:prstGeom>
          <a:solidFill>
            <a:srgbClr val="1E2235"/>
          </a:solidFill>
          <a:ln cap="flat" cmpd="sng" w="9525">
            <a:solidFill>
              <a:srgbClr val="2E3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548640" y="3017520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StatusBadge — estados del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457200" y="3429000"/>
            <a:ext cx="1280100" cy="320100"/>
          </a:xfrm>
          <a:prstGeom prst="rect">
            <a:avLst/>
          </a:prstGeom>
          <a:solidFill>
            <a:srgbClr val="FACC15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45720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1874520" y="3429000"/>
            <a:ext cx="1280100" cy="3201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187452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ASIGNADO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3291840" y="3429000"/>
            <a:ext cx="1280100" cy="320100"/>
          </a:xfrm>
          <a:prstGeom prst="rect">
            <a:avLst/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329184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EN_EJECUCION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4709160" y="3429000"/>
            <a:ext cx="1280100" cy="320100"/>
          </a:xfrm>
          <a:prstGeom prst="rect">
            <a:avLst/>
          </a:prstGeom>
          <a:solidFill>
            <a:srgbClr val="22D3A5"/>
          </a:solidFill>
          <a:ln cap="flat" cmpd="sng" w="12700">
            <a:solidFill>
              <a:srgbClr val="22D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470916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EJECUTADO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6126480" y="3429000"/>
            <a:ext cx="1280100" cy="3201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612648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7543800" y="3429000"/>
            <a:ext cx="1280100" cy="32010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754380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CANCELADO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5"/>
          <p:cNvSpPr/>
          <p:nvPr/>
        </p:nvSpPr>
        <p:spPr>
          <a:xfrm>
            <a:off x="0" y="0"/>
            <a:ext cx="9144000" cy="347400"/>
          </a:xfrm>
          <a:prstGeom prst="rect">
            <a:avLst/>
          </a:prstGeom>
          <a:solidFill>
            <a:srgbClr val="A78BFA">
              <a:alpha val="80000"/>
            </a:srgbClr>
          </a:solidFill>
          <a:ln cap="flat" cmpd="sng" w="12700">
            <a:solidFill>
              <a:srgbClr val="A78B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457200" y="274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 —  Rosio Ametller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228600" y="29394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Pantallas principales — evidencias visuales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1645920" y="11887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67650" y="228469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 — desktop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137013" y="249625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Dark mode · validación · recuperación contraseña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526280" y="11887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3102135" y="229924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3136835" y="245806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Métricas · gráfico · acceso rápido por rol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6136620" y="228038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Listado Tickets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6136620" y="2435487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Filtros estado/mecánico/OT · StatusBadge · TicketCard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67650" y="4343395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Detalle Ticket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67650" y="452354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Timeline · evidencias · transiciones por rol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073435" y="436625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3102135" y="4506965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Catálogo repuestos · stock · reservas pendientes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6136620" y="472485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mobile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6031470" y="4871827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Diseño responsivo — mismo stack Tailwind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457210" y="4871815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11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425" y="804700"/>
            <a:ext cx="2958050" cy="1497551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2" name="Google Shape;43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6000" y="804700"/>
            <a:ext cx="2967052" cy="1497551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3" name="Google Shape;433;p15"/>
          <p:cNvSpPr/>
          <p:nvPr/>
        </p:nvSpPr>
        <p:spPr>
          <a:xfrm>
            <a:off x="58300" y="804701"/>
            <a:ext cx="2940600" cy="1497600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43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50" y="827500"/>
            <a:ext cx="2900625" cy="14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00" y="2805250"/>
            <a:ext cx="2900625" cy="1518300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6" name="Google Shape;43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73425" y="2815175"/>
            <a:ext cx="2958048" cy="1528224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7" name="Google Shape;437;p15"/>
          <p:cNvPicPr preferRelativeResize="0"/>
          <p:nvPr/>
        </p:nvPicPr>
        <p:blipFill rotWithShape="1">
          <a:blip r:embed="rId8">
            <a:alphaModFix/>
          </a:blip>
          <a:srcRect b="5634" l="10989" r="11892" t="5917"/>
          <a:stretch/>
        </p:blipFill>
        <p:spPr>
          <a:xfrm>
            <a:off x="6730275" y="2697550"/>
            <a:ext cx="1555901" cy="2013000"/>
          </a:xfrm>
          <a:prstGeom prst="rect">
            <a:avLst/>
          </a:prstGeom>
          <a:solidFill>
            <a:srgbClr val="1E1E28"/>
          </a:solidFill>
          <a:ln cap="flat" cmpd="sng" w="1015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6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cap="flat" cmpd="sng" w="12700">
            <a:solidFill>
              <a:srgbClr val="34D399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9 módulos NestJS — endpoints por 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Cada módulo encapsula controlador, servicio y DTOs. Inventario y Reservas son nuevos en esta versión.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457200" y="1298448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457200" y="1298448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594360" y="138988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594360" y="1682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 /auth/profile · JWT Supabase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3337560" y="1298448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3337560" y="1298448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3474720" y="138988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Equipos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3474720" y="1682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GET/POST /equipos · PATCH /:id/desactivar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6217920" y="1298448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6217920" y="1298448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6355080" y="138988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6355080" y="1682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 /usuarios · invitación por correo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457200" y="2432304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457200" y="2432304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594360" y="25237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Órdenes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94360" y="28163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GET/POST /ordenes-trabajo · PATCH /:id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3337560" y="2432304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3337560" y="2432304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3474720" y="25237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Tickets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3474720" y="28163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asignar · reasignar · iniciar · finalizar · validar · cerrar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6217920" y="2432304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6217920" y="2432304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6355080" y="25237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6355080" y="28163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POST /request-upload · POST /confirm-upload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457200" y="3566160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594360" y="3657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Notificaciones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594360" y="3950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 /notificaciones · PATCH /:id/leida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3337560" y="3566160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3337560" y="3566160"/>
            <a:ext cx="54864" cy="100584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3474720" y="3657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Inventario  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3474720" y="3950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repuestos · stock · entradas · ajustes · movimientos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6217920" y="3566160"/>
            <a:ext cx="2743200" cy="1005840"/>
          </a:xfrm>
          <a:prstGeom prst="rect">
            <a:avLst/>
          </a:prstGeom>
          <a:solidFill>
            <a:srgbClr val="16161C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6217920" y="3566160"/>
            <a:ext cx="54864" cy="100584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6355080" y="3657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Reservas  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6355080" y="3950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solicitar · aprobar · consumir · liberar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12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cap="flat" cmpd="sng" w="12700">
            <a:solidFill>
              <a:srgbClr val="34D399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7"/>
          <p:cNvSpPr/>
          <p:nvPr/>
        </p:nvSpPr>
        <p:spPr>
          <a:xfrm>
            <a:off x="457200" y="274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Ciclo de vida del Ticket — transiciones por 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457200" y="1097280"/>
            <a:ext cx="1417320" cy="457200"/>
          </a:xfrm>
          <a:prstGeom prst="rect">
            <a:avLst/>
          </a:prstGeom>
          <a:solidFill>
            <a:srgbClr val="737388">
              <a:alpha val="30196"/>
            </a:srgbClr>
          </a:solidFill>
          <a:ln cap="flat" cmpd="sng" w="15225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7"/>
          <p:cNvSpPr/>
          <p:nvPr/>
        </p:nvSpPr>
        <p:spPr>
          <a:xfrm>
            <a:off x="457200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NUEVO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1874520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asignar 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2121408" y="1097280"/>
            <a:ext cx="1417320" cy="457200"/>
          </a:xfrm>
          <a:prstGeom prst="rect">
            <a:avLst/>
          </a:prstGeom>
          <a:solidFill>
            <a:srgbClr val="3B82F6">
              <a:alpha val="30196"/>
            </a:srgbClr>
          </a:solidFill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2121408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ASIGNADO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3538728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iniciar 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3785616" y="1097280"/>
            <a:ext cx="1417320" cy="457200"/>
          </a:xfrm>
          <a:prstGeom prst="rect">
            <a:avLst/>
          </a:prstGeom>
          <a:solidFill>
            <a:srgbClr val="FBBF24">
              <a:alpha val="30196"/>
            </a:srgbClr>
          </a:solidFill>
          <a:ln cap="flat" cmpd="sng" w="152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7"/>
          <p:cNvSpPr/>
          <p:nvPr/>
        </p:nvSpPr>
        <p:spPr>
          <a:xfrm>
            <a:off x="3785616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EN_EJECUCIÓN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5202936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finalizar 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5449824" y="1097280"/>
            <a:ext cx="1417320" cy="457200"/>
          </a:xfrm>
          <a:prstGeom prst="rect">
            <a:avLst/>
          </a:prstGeom>
          <a:solidFill>
            <a:srgbClr val="4ADE80">
              <a:alpha val="30196"/>
            </a:srgbClr>
          </a:solidFill>
          <a:ln cap="flat" cmpd="sng" w="152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5449824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EJECUTADO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6867144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validar/cerrar 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7114032" y="1097280"/>
            <a:ext cx="1417320" cy="457200"/>
          </a:xfrm>
          <a:prstGeom prst="rect">
            <a:avLst/>
          </a:prstGeom>
          <a:solidFill>
            <a:srgbClr val="16A34A">
              <a:alpha val="30196"/>
            </a:srgbClr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7114032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CERRADO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6" name="Google Shape;506;p17"/>
          <p:cNvGraphicFramePr/>
          <p:nvPr/>
        </p:nvGraphicFramePr>
        <p:xfrm>
          <a:off x="45720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{7C22BBE9-236B-47B2-9936-DCF749294B30}</a:tableStyleId>
              </a:tblPr>
              <a:tblGrid>
                <a:gridCol w="1463050"/>
                <a:gridCol w="3200400"/>
                <a:gridCol w="35661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31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onsola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Endpoint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31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 permitido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31B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/:id/asignar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reasignar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/:id/reasignar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/:id/iniciar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finalizar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/:id/finalizar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/:id/validar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cerrar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/:id/cerrar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cancelar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/:id/cancelar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  <p:sp>
        <p:nvSpPr>
          <p:cNvPr id="507" name="Google Shape;507;p17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Guard de rol por endpoint — RolesGuard verifica el claim de rol del JWT en cada transición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13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cap="flat" cmpd="sng" w="12700">
            <a:solidFill>
              <a:srgbClr val="34D399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8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Módulo de Inventario y Reservas — nuevo en v2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8"/>
          <p:cNvSpPr/>
          <p:nvPr/>
        </p:nvSpPr>
        <p:spPr>
          <a:xfrm>
            <a:off x="457200" y="1097280"/>
            <a:ext cx="54864" cy="5943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640080" y="11521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repuestos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640080" y="14173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Catálogo con código único por tenant, categoría, unidad y stock mínimo.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457200" y="1783080"/>
            <a:ext cx="54864" cy="5943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8"/>
          <p:cNvSpPr/>
          <p:nvPr/>
        </p:nvSpPr>
        <p:spPr>
          <a:xfrm>
            <a:off x="640080" y="18379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inventario_stock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640080" y="21031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Stock 1:1 con repuesto: stockActual, stockReservado, stockDisponible.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8"/>
          <p:cNvSpPr/>
          <p:nvPr/>
        </p:nvSpPr>
        <p:spPr>
          <a:xfrm>
            <a:off x="457200" y="2468880"/>
            <a:ext cx="54864" cy="5943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8"/>
          <p:cNvSpPr/>
          <p:nvPr/>
        </p:nvSpPr>
        <p:spPr>
          <a:xfrm>
            <a:off x="640080" y="25237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reservas_repuesto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640080" y="27889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Reserva por ticket: SOLICITADA → RESERVADA → CONSUMIDA / LIBERADA.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8"/>
          <p:cNvSpPr/>
          <p:nvPr/>
        </p:nvSpPr>
        <p:spPr>
          <a:xfrm>
            <a:off x="457200" y="3154680"/>
            <a:ext cx="54864" cy="5943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8"/>
          <p:cNvSpPr/>
          <p:nvPr/>
        </p:nvSpPr>
        <p:spPr>
          <a:xfrm>
            <a:off x="640080" y="32095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reserva_repuesto_items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640080" y="34747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Ítems de una reserva (N repuestos por reserva).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8"/>
          <p:cNvSpPr/>
          <p:nvPr/>
        </p:nvSpPr>
        <p:spPr>
          <a:xfrm>
            <a:off x="457200" y="3840480"/>
            <a:ext cx="54864" cy="59436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640080" y="38953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movimientos_inventario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640080" y="41605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Registro inmutable: ENTRADA · SALIDA · AJUSTE · RESERVA · LIBERACION · CONSUMO.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594360" y="4636008"/>
            <a:ext cx="7863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🔒  Control transaccional con Prisma $transaction — garantiza consistencia al consumir o liberar stock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14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9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60A5FA">
              <a:alpha val="80000"/>
            </a:srgbClr>
          </a:solidFill>
          <a:ln cap="flat" cmpd="sng" w="12700">
            <a:solidFill>
              <a:srgbClr val="60A5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Base de datos — 12 entidades y RLS por 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8" name="Google Shape;548;p19"/>
          <p:cNvGraphicFramePr/>
          <p:nvPr/>
        </p:nvGraphicFramePr>
        <p:xfrm>
          <a:off x="457200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{7C22BBE9-236B-47B2-9936-DCF749294B30}</a:tableStyleId>
              </a:tblPr>
              <a:tblGrid>
                <a:gridCol w="4114800"/>
                <a:gridCol w="4114800"/>
              </a:tblGrid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Entidad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Propósito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0A5FA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tenants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Organización / taller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profiles + auth.users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 con rol y tenantId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equipos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Maquinaria del taller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ordenes_trabajo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Orden de mantenimiento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tickets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 de trabajo con transiciones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eventos_estado_ticket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Historial inmutable de estados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evidencias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Fotos por ticket (Supabase Storage)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notificaciones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Alertas in-app (Supabase Realtime)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repuestos ⭐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Catálogo de repuestos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inventario_stock ⭐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Stock en tiempo real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reservas + items ⭐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Reservas por ticket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61C"/>
                    </a:solidFill>
                  </a:tcPr>
                </a:tc>
              </a:tr>
              <a:tr h="2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D3EE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850" u="none" cap="none" strike="noStrike">
                          <a:solidFill>
                            <a:srgbClr val="22D3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movimientos_inventario ⭐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C8D4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C8C8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Historial inmutable de stock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E28"/>
                    </a:solidFill>
                  </a:tcPr>
                </a:tc>
              </a:tr>
            </a:tbl>
          </a:graphicData>
        </a:graphic>
      </p:graphicFrame>
      <p:sp>
        <p:nvSpPr>
          <p:cNvPr id="549" name="Google Shape;549;p19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RLS habilitado  ·  9 migraciones SQL versionadas en supabase/migrations/  ·  ⭐ = nuevas en esta versión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15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60A5FA">
              <a:alpha val="80000"/>
            </a:srgbClr>
          </a:solidFill>
          <a:ln cap="flat" cmpd="sng" w="12700">
            <a:solidFill>
              <a:srgbClr val="60A5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0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 de pruebas — backend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Suite Jest sobre trackt-api: 5 de 6 suites aprobadas · 127 de 128 tests correctos.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457200" y="1325880"/>
            <a:ext cx="1965960" cy="9144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0"/>
          <p:cNvSpPr/>
          <p:nvPr/>
        </p:nvSpPr>
        <p:spPr>
          <a:xfrm>
            <a:off x="548640" y="1389888"/>
            <a:ext cx="1371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1783080" y="15087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Suites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totales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2606040" y="1325880"/>
            <a:ext cx="1965960" cy="9144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0"/>
          <p:cNvSpPr/>
          <p:nvPr/>
        </p:nvSpPr>
        <p:spPr>
          <a:xfrm>
            <a:off x="2697480" y="1389888"/>
            <a:ext cx="1371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4ADE80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3931920" y="15087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Suites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aprobadas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4846345" y="1348730"/>
            <a:ext cx="1965900" cy="9144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4846310" y="1389888"/>
            <a:ext cx="137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4ADE80"/>
                </a:solidFill>
                <a:latin typeface="Trebuchet MS"/>
                <a:ea typeface="Trebuchet MS"/>
                <a:cs typeface="Trebuchet MS"/>
                <a:sym typeface="Trebuchet MS"/>
              </a:rPr>
              <a:t>127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5925325" y="1517910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aprobados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2331725" y="2402578"/>
            <a:ext cx="3931800" cy="13716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0"/>
          <p:cNvSpPr/>
          <p:nvPr/>
        </p:nvSpPr>
        <p:spPr>
          <a:xfrm>
            <a:off x="2423160" y="2482593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Pipeline de 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2423160" y="2738495"/>
            <a:ext cx="3657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npm install — 735 paquetes · 3 vulnerabilidades menores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npm run build — sin errores de compilación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npm run start:dev — servidor arranca sin errores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npm run test — 127 / 128 tests aprobados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457200" y="3913632"/>
            <a:ext cx="8229600" cy="50292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0"/>
          <p:cNvSpPr/>
          <p:nvPr/>
        </p:nvSpPr>
        <p:spPr>
          <a:xfrm>
            <a:off x="594360" y="40050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🔗  github.com/1XYZ1/trackt-app  ·  rama main  ·  directorio producto/trackt-api  ·  commits semánticos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373990" y="4892040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16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60A5FA">
              <a:alpha val="80000"/>
            </a:srgbClr>
          </a:solidFill>
          <a:ln cap="flat" cmpd="sng" w="12700">
            <a:solidFill>
              <a:srgbClr val="60A5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 de versiones — 9 migraciones SQL versionadas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457200" y="109728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1"/>
          <p:cNvSpPr/>
          <p:nvPr/>
        </p:nvSpPr>
        <p:spPr>
          <a:xfrm>
            <a:off x="457200" y="109728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1"/>
          <p:cNvSpPr/>
          <p:nvPr/>
        </p:nvSpPr>
        <p:spPr>
          <a:xfrm>
            <a:off x="594360" y="11704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1005840" y="11887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init_business_schema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3337560" y="109728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1"/>
          <p:cNvSpPr/>
          <p:nvPr/>
        </p:nvSpPr>
        <p:spPr>
          <a:xfrm>
            <a:off x="3337560" y="109728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1"/>
          <p:cNvSpPr/>
          <p:nvPr/>
        </p:nvSpPr>
        <p:spPr>
          <a:xfrm>
            <a:off x="3474720" y="11704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3886200" y="11887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profiles_tenant_id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6217920" y="109728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1"/>
          <p:cNvSpPr/>
          <p:nvPr/>
        </p:nvSpPr>
        <p:spPr>
          <a:xfrm>
            <a:off x="6217920" y="109728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1"/>
          <p:cNvSpPr/>
          <p:nvPr/>
        </p:nvSpPr>
        <p:spPr>
          <a:xfrm>
            <a:off x="6355080" y="11704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6766560" y="11887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add_avatars_bucket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457200" y="187452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1"/>
          <p:cNvSpPr/>
          <p:nvPr/>
        </p:nvSpPr>
        <p:spPr>
          <a:xfrm>
            <a:off x="457200" y="187452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1"/>
          <p:cNvSpPr/>
          <p:nvPr/>
        </p:nvSpPr>
        <p:spPr>
          <a:xfrm>
            <a:off x="594360" y="194767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1005840" y="19659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rls_policies_triggers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3337560" y="187452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1"/>
          <p:cNvSpPr/>
          <p:nvPr/>
        </p:nvSpPr>
        <p:spPr>
          <a:xfrm>
            <a:off x="3337560" y="187452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1"/>
          <p:cNvSpPr/>
          <p:nvPr/>
        </p:nvSpPr>
        <p:spPr>
          <a:xfrm>
            <a:off x="3474720" y="194767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3886200" y="19659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evidencias_bucket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6217920" y="187452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1"/>
          <p:cNvSpPr/>
          <p:nvPr/>
        </p:nvSpPr>
        <p:spPr>
          <a:xfrm>
            <a:off x="6217920" y="187452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1"/>
          <p:cNvSpPr/>
          <p:nvPr/>
        </p:nvSpPr>
        <p:spPr>
          <a:xfrm>
            <a:off x="6355080" y="194767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6766560" y="19659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notificaciones_realtime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1"/>
          <p:cNvSpPr/>
          <p:nvPr/>
        </p:nvSpPr>
        <p:spPr>
          <a:xfrm>
            <a:off x="457200" y="265176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1"/>
          <p:cNvSpPr/>
          <p:nvPr/>
        </p:nvSpPr>
        <p:spPr>
          <a:xfrm>
            <a:off x="457200" y="2651760"/>
            <a:ext cx="54864" cy="658368"/>
          </a:xfrm>
          <a:prstGeom prst="rect">
            <a:avLst/>
          </a:prstGeom>
          <a:solidFill>
            <a:srgbClr val="737388"/>
          </a:solidFill>
          <a:ln cap="flat" cmpd="sng" w="12700">
            <a:solidFill>
              <a:srgbClr val="7373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1"/>
          <p:cNvSpPr/>
          <p:nvPr/>
        </p:nvSpPr>
        <p:spPr>
          <a:xfrm>
            <a:off x="594360" y="272491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1005840" y="27432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equipos_activo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3337560" y="265176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1"/>
          <p:cNvSpPr/>
          <p:nvPr/>
        </p:nvSpPr>
        <p:spPr>
          <a:xfrm>
            <a:off x="3337560" y="2651760"/>
            <a:ext cx="54864" cy="658368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3474720" y="272491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3886200" y="27432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role_jefe_taller  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3886200" y="30358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NUEVO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1"/>
          <p:cNvSpPr/>
          <p:nvPr/>
        </p:nvSpPr>
        <p:spPr>
          <a:xfrm>
            <a:off x="6217920" y="2651760"/>
            <a:ext cx="2743200" cy="658368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1"/>
          <p:cNvSpPr/>
          <p:nvPr/>
        </p:nvSpPr>
        <p:spPr>
          <a:xfrm>
            <a:off x="6217920" y="2651760"/>
            <a:ext cx="54864" cy="658368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1"/>
          <p:cNvSpPr/>
          <p:nvPr/>
        </p:nvSpPr>
        <p:spPr>
          <a:xfrm>
            <a:off x="6355080" y="272491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1"/>
          <p:cNvSpPr/>
          <p:nvPr/>
        </p:nvSpPr>
        <p:spPr>
          <a:xfrm>
            <a:off x="6766560" y="27432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inventario  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1"/>
          <p:cNvSpPr/>
          <p:nvPr/>
        </p:nvSpPr>
        <p:spPr>
          <a:xfrm>
            <a:off x="6766560" y="30358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NUEVO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supabase/migrations/ — historial auditables y reproducibles · ⭐ = nuevas en esta versión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17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A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Estado de cumplimiento — Entrega Final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914400" y="74065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14 ítems completados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/>
          <p:nvPr/>
        </p:nvSpPr>
        <p:spPr>
          <a:xfrm>
            <a:off x="457200" y="10972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Frontend — 14 rutas responsivas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457200" y="1444752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2"/>
          <p:cNvSpPr/>
          <p:nvPr/>
        </p:nvSpPr>
        <p:spPr>
          <a:xfrm>
            <a:off x="457200" y="149961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Backend — 9 módulos NestJS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457200" y="1847088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2"/>
          <p:cNvSpPr/>
          <p:nvPr/>
        </p:nvSpPr>
        <p:spPr>
          <a:xfrm>
            <a:off x="457200" y="190195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Base de datos — 12 entidades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/>
          <p:nvPr/>
        </p:nvSpPr>
        <p:spPr>
          <a:xfrm>
            <a:off x="457200" y="2249424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2"/>
          <p:cNvSpPr/>
          <p:nvPr/>
        </p:nvSpPr>
        <p:spPr>
          <a:xfrm>
            <a:off x="457200" y="23042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Auth 3 roles + RLS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457200" y="2651760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2"/>
          <p:cNvSpPr/>
          <p:nvPr/>
        </p:nvSpPr>
        <p:spPr>
          <a:xfrm>
            <a:off x="457200" y="270662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Órdenes de trabajo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457200" y="3054096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2"/>
          <p:cNvSpPr/>
          <p:nvPr/>
        </p:nvSpPr>
        <p:spPr>
          <a:xfrm>
            <a:off x="457200" y="31089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Tickets con transiciones por rol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2"/>
          <p:cNvSpPr/>
          <p:nvPr/>
        </p:nvSpPr>
        <p:spPr>
          <a:xfrm>
            <a:off x="457200" y="3456432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2"/>
          <p:cNvSpPr/>
          <p:nvPr/>
        </p:nvSpPr>
        <p:spPr>
          <a:xfrm>
            <a:off x="457200" y="351129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Evidencias fotográficas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457200" y="3858768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2"/>
          <p:cNvSpPr/>
          <p:nvPr/>
        </p:nvSpPr>
        <p:spPr>
          <a:xfrm>
            <a:off x="457200" y="391363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Notificaciones in-app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2"/>
          <p:cNvSpPr/>
          <p:nvPr/>
        </p:nvSpPr>
        <p:spPr>
          <a:xfrm>
            <a:off x="457200" y="4261104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2"/>
          <p:cNvSpPr/>
          <p:nvPr/>
        </p:nvSpPr>
        <p:spPr>
          <a:xfrm>
            <a:off x="457200" y="431596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Inventario de repuestos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4800600" y="10972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Reservas de repuestos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4800600" y="1444752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2"/>
          <p:cNvSpPr/>
          <p:nvPr/>
        </p:nvSpPr>
        <p:spPr>
          <a:xfrm>
            <a:off x="4800600" y="149961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Carga de mecánicos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4800600" y="1847088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2"/>
          <p:cNvSpPr/>
          <p:nvPr/>
        </p:nvSpPr>
        <p:spPr>
          <a:xfrm>
            <a:off x="4800600" y="190195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Rol jefe_taller + RLS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4800600" y="2249424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2"/>
          <p:cNvSpPr/>
          <p:nvPr/>
        </p:nvSpPr>
        <p:spPr>
          <a:xfrm>
            <a:off x="4800600" y="23042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Control de versiones GitHub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4800600" y="2651760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2"/>
          <p:cNvSpPr/>
          <p:nvPr/>
        </p:nvSpPr>
        <p:spPr>
          <a:xfrm>
            <a:off x="4800600" y="270662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9 migraciones SQL versionadas 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4800600" y="3054096"/>
            <a:ext cx="4114800" cy="9144"/>
          </a:xfrm>
          <a:prstGeom prst="rect">
            <a:avLst/>
          </a:prstGeom>
          <a:solidFill>
            <a:srgbClr val="C8C8D4"/>
          </a:solidFill>
          <a:ln cap="flat" cmpd="sng" w="12700">
            <a:solidFill>
              <a:srgbClr val="C8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2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18 / 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0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3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6152E8">
              <a:alpha val="7843"/>
            </a:srgbClr>
          </a:solidFill>
          <a:ln cap="flat" cmpd="sng" w="12700">
            <a:solidFill>
              <a:srgbClr val="6152E8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3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22D3EE">
              <a:alpha val="5882"/>
            </a:srgbClr>
          </a:solidFill>
          <a:ln cap="flat" cmpd="sng" w="12700">
            <a:solidFill>
              <a:srgbClr val="22D3EE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3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MVP completo y funcional.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548640" y="1627632"/>
            <a:ext cx="3657600" cy="27432"/>
          </a:xfrm>
          <a:prstGeom prst="rect">
            <a:avLst/>
          </a:prstGeom>
          <a:solidFill>
            <a:srgbClr val="6152E8"/>
          </a:solidFill>
          <a:ln cap="flat" cmpd="sng" w="12700">
            <a:solidFill>
              <a:srgbClr val="615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14 módulos y 14 rutas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3"/>
          <p:cNvSpPr/>
          <p:nvPr/>
        </p:nvSpPr>
        <p:spPr>
          <a:xfrm>
            <a:off x="548640" y="20939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9 módulos backend con endpoints por 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3"/>
          <p:cNvSpPr/>
          <p:nvPr/>
        </p:nvSpPr>
        <p:spPr>
          <a:xfrm>
            <a:off x="548640" y="24048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12 entidades en Supabase producción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548640" y="27157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3 roles con RLS + guards por endpoint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3"/>
          <p:cNvSpPr/>
          <p:nvPr/>
        </p:nvSpPr>
        <p:spPr>
          <a:xfrm>
            <a:off x="548640" y="3026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Inventario + reservas de repuestos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3"/>
          <p:cNvSpPr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127 / 128 tests aprobados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3"/>
          <p:cNvSpPr/>
          <p:nvPr/>
        </p:nvSpPr>
        <p:spPr>
          <a:xfrm>
            <a:off x="5486388" y="1508745"/>
            <a:ext cx="3246000" cy="2560200"/>
          </a:xfrm>
          <a:prstGeom prst="rect">
            <a:avLst/>
          </a:prstGeom>
          <a:solidFill>
            <a:srgbClr val="16161C"/>
          </a:solidFill>
          <a:ln cap="flat" cmpd="sng" w="9525">
            <a:solidFill>
              <a:srgbClr val="3A3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3"/>
          <p:cNvSpPr/>
          <p:nvPr/>
        </p:nvSpPr>
        <p:spPr>
          <a:xfrm>
            <a:off x="5623560" y="1517904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mayor riesgo es documental,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conceptual.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5623560" y="2148840"/>
            <a:ext cx="29718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① Backup SQL + restauración evidenciada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8C8D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② Corregir test app.controller.spec.ts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8C8D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③ npm audit fix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8C8D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④ Video demo del flujo completo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548640" y="4297680"/>
            <a:ext cx="1554480" cy="274320"/>
          </a:xfrm>
          <a:prstGeom prst="rect">
            <a:avLst/>
          </a:prstGeom>
          <a:solidFill>
            <a:srgbClr val="A78BFA">
              <a:alpha val="20000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3"/>
          <p:cNvSpPr/>
          <p:nvPr/>
        </p:nvSpPr>
        <p:spPr>
          <a:xfrm>
            <a:off x="54864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Rosio Ametller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3"/>
          <p:cNvSpPr/>
          <p:nvPr/>
        </p:nvSpPr>
        <p:spPr>
          <a:xfrm>
            <a:off x="2286000" y="4297680"/>
            <a:ext cx="1554480" cy="274320"/>
          </a:xfrm>
          <a:prstGeom prst="rect">
            <a:avLst/>
          </a:prstGeom>
          <a:solidFill>
            <a:srgbClr val="34D399">
              <a:alpha val="20000"/>
            </a:srgbClr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3"/>
          <p:cNvSpPr/>
          <p:nvPr/>
        </p:nvSpPr>
        <p:spPr>
          <a:xfrm>
            <a:off x="228600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Jaime Osorio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4023360" y="4297680"/>
            <a:ext cx="1554480" cy="274320"/>
          </a:xfrm>
          <a:prstGeom prst="rect">
            <a:avLst/>
          </a:prstGeom>
          <a:solidFill>
            <a:srgbClr val="60A5FA">
              <a:alpha val="20000"/>
            </a:srgbClr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3"/>
          <p:cNvSpPr/>
          <p:nvPr/>
        </p:nvSpPr>
        <p:spPr>
          <a:xfrm>
            <a:off x="402336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Ramón Hernández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3"/>
          <p:cNvSpPr/>
          <p:nvPr/>
        </p:nvSpPr>
        <p:spPr>
          <a:xfrm>
            <a:off x="548640" y="4754880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TPY1101 — Taller Aplicado de Programación  |  DUOC UC  |  Grupo 10  | 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